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Liter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C4401B-2E1D-4094-A6F9-0003E7E70CC2}">
  <a:tblStyle styleId="{ECC4401B-2E1D-4094-A6F9-0003E7E70CC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i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01ac08b0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e01ac08b0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e01ac08b0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01ac08b0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01ac08b0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e01ac08b0c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01bc3625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e01bc3625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e01bc3625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401383" y="342900"/>
            <a:ext cx="3390900" cy="495300"/>
          </a:xfrm>
          <a:custGeom>
            <a:rect b="b" l="l" r="r" t="t"/>
            <a:pathLst>
              <a:path extrusionOk="0" h="495300" w="33909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19098"/>
                </a:lnTo>
                <a:cubicBezTo>
                  <a:pt x="3390900" y="461183"/>
                  <a:pt x="3356783" y="495300"/>
                  <a:pt x="33146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4582358" y="457200"/>
            <a:ext cx="3028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Data Science Project</a:t>
            </a:r>
            <a:endParaRPr b="0" i="0" sz="1600" u="none" cap="none" strike="noStrike"/>
          </a:p>
        </p:txBody>
      </p:sp>
      <p:sp>
        <p:nvSpPr>
          <p:cNvPr id="19" name="Google Shape;19;p4"/>
          <p:cNvSpPr/>
          <p:nvPr/>
        </p:nvSpPr>
        <p:spPr>
          <a:xfrm>
            <a:off x="1657350" y="1066800"/>
            <a:ext cx="88773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Retail Sales Forecasting</a:t>
            </a:r>
            <a:endParaRPr b="0" i="0" sz="1600" u="none" cap="none" strike="noStrike"/>
          </a:p>
        </p:txBody>
      </p:sp>
      <p:sp>
        <p:nvSpPr>
          <p:cNvPr id="20" name="Google Shape;20;p4"/>
          <p:cNvSpPr/>
          <p:nvPr/>
        </p:nvSpPr>
        <p:spPr>
          <a:xfrm>
            <a:off x="5486400" y="2152650"/>
            <a:ext cx="1219200" cy="38100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>
            <a:off x="1771650" y="2495550"/>
            <a:ext cx="86487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Time Series Forecasting | Regression Modelling | Clustering or Segmentation | Market Basket Analysis</a:t>
            </a:r>
            <a:endParaRPr b="0" i="0" sz="1600" u="none" cap="none" strike="noStrike"/>
          </a:p>
        </p:txBody>
      </p:sp>
      <p:sp>
        <p:nvSpPr>
          <p:cNvPr id="22" name="Google Shape;22;p4"/>
          <p:cNvSpPr/>
          <p:nvPr/>
        </p:nvSpPr>
        <p:spPr>
          <a:xfrm>
            <a:off x="3177064" y="3479800"/>
            <a:ext cx="457200" cy="457200"/>
          </a:xfrm>
          <a:custGeom>
            <a:rect b="b" l="l" r="r" t="t"/>
            <a:pathLst>
              <a:path extrusionOk="0" h="457200" w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2770822" y="4051300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Forecasting</a:t>
            </a:r>
            <a:endParaRPr b="0" i="0" sz="1600" u="none" cap="none" strike="noStrike"/>
          </a:p>
        </p:txBody>
      </p:sp>
      <p:sp>
        <p:nvSpPr>
          <p:cNvPr id="24" name="Google Shape;24;p4"/>
          <p:cNvSpPr/>
          <p:nvPr/>
        </p:nvSpPr>
        <p:spPr>
          <a:xfrm>
            <a:off x="4970622" y="34798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14300" y="85725"/>
                </a:moveTo>
                <a:cubicBezTo>
                  <a:pt x="114300" y="69919"/>
                  <a:pt x="127069" y="57150"/>
                  <a:pt x="142875" y="57150"/>
                </a:cubicBezTo>
                <a:lnTo>
                  <a:pt x="314325" y="57150"/>
                </a:lnTo>
                <a:cubicBezTo>
                  <a:pt x="330131" y="57150"/>
                  <a:pt x="342900" y="69919"/>
                  <a:pt x="342900" y="85725"/>
                </a:cubicBezTo>
                <a:cubicBezTo>
                  <a:pt x="342900" y="101531"/>
                  <a:pt x="330131" y="114300"/>
                  <a:pt x="314325" y="114300"/>
                </a:cubicBezTo>
                <a:lnTo>
                  <a:pt x="142875" y="114300"/>
                </a:lnTo>
                <a:cubicBezTo>
                  <a:pt x="127069" y="114300"/>
                  <a:pt x="114300" y="101531"/>
                  <a:pt x="114300" y="85725"/>
                </a:cubicBezTo>
                <a:close/>
                <a:moveTo>
                  <a:pt x="142875" y="157163"/>
                </a:moveTo>
                <a:lnTo>
                  <a:pt x="257175" y="157163"/>
                </a:lnTo>
                <a:cubicBezTo>
                  <a:pt x="272981" y="157163"/>
                  <a:pt x="285750" y="169932"/>
                  <a:pt x="285750" y="185738"/>
                </a:cubicBezTo>
                <a:cubicBezTo>
                  <a:pt x="285750" y="201543"/>
                  <a:pt x="272981" y="214313"/>
                  <a:pt x="257175" y="214313"/>
                </a:cubicBezTo>
                <a:lnTo>
                  <a:pt x="142875" y="214313"/>
                </a:lnTo>
                <a:cubicBezTo>
                  <a:pt x="127069" y="214313"/>
                  <a:pt x="114300" y="201543"/>
                  <a:pt x="114300" y="185738"/>
                </a:cubicBezTo>
                <a:cubicBezTo>
                  <a:pt x="114300" y="169932"/>
                  <a:pt x="127069" y="157163"/>
                  <a:pt x="142875" y="157163"/>
                </a:cubicBezTo>
                <a:close/>
                <a:moveTo>
                  <a:pt x="142875" y="257175"/>
                </a:moveTo>
                <a:lnTo>
                  <a:pt x="371475" y="257175"/>
                </a:lnTo>
                <a:cubicBezTo>
                  <a:pt x="387281" y="257175"/>
                  <a:pt x="400050" y="269944"/>
                  <a:pt x="400050" y="285750"/>
                </a:cubicBezTo>
                <a:cubicBezTo>
                  <a:pt x="400050" y="301556"/>
                  <a:pt x="387281" y="314325"/>
                  <a:pt x="371475" y="314325"/>
                </a:cubicBezTo>
                <a:lnTo>
                  <a:pt x="142875" y="314325"/>
                </a:lnTo>
                <a:cubicBezTo>
                  <a:pt x="127069" y="314325"/>
                  <a:pt x="114300" y="301556"/>
                  <a:pt x="114300" y="285750"/>
                </a:cubicBezTo>
                <a:cubicBezTo>
                  <a:pt x="114300" y="269944"/>
                  <a:pt x="127069" y="257175"/>
                  <a:pt x="142875" y="257175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4564380" y="4051300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Regression</a:t>
            </a:r>
            <a:endParaRPr b="0" i="0" sz="1600" u="none" cap="none" strike="noStrike"/>
          </a:p>
        </p:txBody>
      </p:sp>
      <p:sp>
        <p:nvSpPr>
          <p:cNvPr id="26" name="Google Shape;26;p4"/>
          <p:cNvSpPr/>
          <p:nvPr/>
        </p:nvSpPr>
        <p:spPr>
          <a:xfrm>
            <a:off x="6707029" y="3479800"/>
            <a:ext cx="571500" cy="457200"/>
          </a:xfrm>
          <a:custGeom>
            <a:rect b="b" l="l" r="r" t="t"/>
            <a:pathLst>
              <a:path extrusionOk="0" h="457200" w="5715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6357938" y="4051300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Segmentation</a:t>
            </a:r>
            <a:endParaRPr b="0" i="0" sz="1600" u="none" cap="none" strike="noStrike"/>
          </a:p>
        </p:txBody>
      </p:sp>
      <p:sp>
        <p:nvSpPr>
          <p:cNvPr id="28" name="Google Shape;28;p4"/>
          <p:cNvSpPr/>
          <p:nvPr/>
        </p:nvSpPr>
        <p:spPr>
          <a:xfrm>
            <a:off x="8500586" y="3479800"/>
            <a:ext cx="571500" cy="457200"/>
          </a:xfrm>
          <a:custGeom>
            <a:rect b="b" l="l" r="r" t="t"/>
            <a:pathLst>
              <a:path extrusionOk="0" h="457200" w="571500">
                <a:moveTo>
                  <a:pt x="21431" y="-14287"/>
                </a:moveTo>
                <a:cubicBezTo>
                  <a:pt x="9555" y="-14287"/>
                  <a:pt x="0" y="-4733"/>
                  <a:pt x="0" y="7144"/>
                </a:cubicBezTo>
                <a:cubicBezTo>
                  <a:pt x="0" y="19020"/>
                  <a:pt x="9555" y="28575"/>
                  <a:pt x="21431" y="28575"/>
                </a:cubicBezTo>
                <a:lnTo>
                  <a:pt x="61883" y="28575"/>
                </a:lnTo>
                <a:cubicBezTo>
                  <a:pt x="65365" y="28575"/>
                  <a:pt x="68312" y="31075"/>
                  <a:pt x="68937" y="34469"/>
                </a:cubicBezTo>
                <a:lnTo>
                  <a:pt x="115461" y="290126"/>
                </a:lnTo>
                <a:cubicBezTo>
                  <a:pt x="120997" y="320665"/>
                  <a:pt x="147608" y="342900"/>
                  <a:pt x="178683" y="342900"/>
                </a:cubicBezTo>
                <a:lnTo>
                  <a:pt x="407194" y="342900"/>
                </a:lnTo>
                <a:cubicBezTo>
                  <a:pt x="419070" y="342900"/>
                  <a:pt x="428625" y="333345"/>
                  <a:pt x="428625" y="321469"/>
                </a:cubicBezTo>
                <a:cubicBezTo>
                  <a:pt x="428625" y="309592"/>
                  <a:pt x="419070" y="300038"/>
                  <a:pt x="407194" y="300038"/>
                </a:cubicBezTo>
                <a:lnTo>
                  <a:pt x="178683" y="300038"/>
                </a:lnTo>
                <a:cubicBezTo>
                  <a:pt x="168325" y="300038"/>
                  <a:pt x="159484" y="292626"/>
                  <a:pt x="157609" y="282446"/>
                </a:cubicBezTo>
                <a:lnTo>
                  <a:pt x="153055" y="257175"/>
                </a:lnTo>
                <a:lnTo>
                  <a:pt x="424160" y="257175"/>
                </a:lnTo>
                <a:cubicBezTo>
                  <a:pt x="451664" y="257175"/>
                  <a:pt x="475238" y="237619"/>
                  <a:pt x="480328" y="210562"/>
                </a:cubicBezTo>
                <a:lnTo>
                  <a:pt x="508010" y="62419"/>
                </a:lnTo>
                <a:cubicBezTo>
                  <a:pt x="511314" y="44827"/>
                  <a:pt x="497830" y="28575"/>
                  <a:pt x="479881" y="28575"/>
                </a:cubicBezTo>
                <a:lnTo>
                  <a:pt x="111353" y="28575"/>
                </a:lnTo>
                <a:lnTo>
                  <a:pt x="110996" y="26789"/>
                </a:lnTo>
                <a:cubicBezTo>
                  <a:pt x="106710" y="3036"/>
                  <a:pt x="85993" y="-14287"/>
                  <a:pt x="61793" y="-14287"/>
                </a:cubicBezTo>
                <a:lnTo>
                  <a:pt x="21431" y="-14287"/>
                </a:lnTo>
                <a:close/>
                <a:moveTo>
                  <a:pt x="185738" y="457200"/>
                </a:moveTo>
                <a:cubicBezTo>
                  <a:pt x="209394" y="457200"/>
                  <a:pt x="228600" y="437994"/>
                  <a:pt x="228600" y="414338"/>
                </a:cubicBezTo>
                <a:cubicBezTo>
                  <a:pt x="228600" y="390681"/>
                  <a:pt x="209394" y="371475"/>
                  <a:pt x="185738" y="371475"/>
                </a:cubicBezTo>
                <a:cubicBezTo>
                  <a:pt x="162081" y="371475"/>
                  <a:pt x="142875" y="390681"/>
                  <a:pt x="142875" y="414338"/>
                </a:cubicBezTo>
                <a:cubicBezTo>
                  <a:pt x="142875" y="437994"/>
                  <a:pt x="162081" y="457200"/>
                  <a:pt x="185738" y="457200"/>
                </a:cubicBezTo>
                <a:close/>
                <a:moveTo>
                  <a:pt x="385763" y="457200"/>
                </a:moveTo>
                <a:cubicBezTo>
                  <a:pt x="409419" y="457200"/>
                  <a:pt x="428625" y="437994"/>
                  <a:pt x="428625" y="414338"/>
                </a:cubicBezTo>
                <a:cubicBezTo>
                  <a:pt x="428625" y="390681"/>
                  <a:pt x="409419" y="371475"/>
                  <a:pt x="385763" y="371475"/>
                </a:cubicBezTo>
                <a:cubicBezTo>
                  <a:pt x="362106" y="371475"/>
                  <a:pt x="342900" y="390681"/>
                  <a:pt x="342900" y="414338"/>
                </a:cubicBezTo>
                <a:cubicBezTo>
                  <a:pt x="342900" y="437994"/>
                  <a:pt x="362106" y="457200"/>
                  <a:pt x="385763" y="45720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151495" y="4051300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Basket Analysis</a:t>
            </a:r>
            <a:endParaRPr b="0" i="0" sz="1600" u="none" cap="none" strike="noStrike"/>
          </a:p>
        </p:txBody>
      </p:sp>
      <p:sp>
        <p:nvSpPr>
          <p:cNvPr id="30" name="Google Shape;30;p4"/>
          <p:cNvSpPr/>
          <p:nvPr/>
        </p:nvSpPr>
        <p:spPr>
          <a:xfrm>
            <a:off x="381000" y="5288399"/>
            <a:ext cx="39912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Pratham Maheshwari (U23CS070)</a:t>
            </a:r>
            <a:endParaRPr b="0" i="0" sz="1600" u="none" cap="none" strike="noStrike"/>
          </a:p>
        </p:txBody>
      </p:sp>
      <p:sp>
        <p:nvSpPr>
          <p:cNvPr id="31" name="Google Shape;31;p4"/>
          <p:cNvSpPr/>
          <p:nvPr/>
        </p:nvSpPr>
        <p:spPr>
          <a:xfrm>
            <a:off x="381000" y="5593199"/>
            <a:ext cx="39912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Divyansh Martolia (U23CS044)</a:t>
            </a:r>
            <a:endParaRPr b="0" i="0" sz="1600" u="none" cap="none" strike="noStrike"/>
          </a:p>
        </p:txBody>
      </p:sp>
      <p:sp>
        <p:nvSpPr>
          <p:cNvPr id="32" name="Google Shape;32;p4"/>
          <p:cNvSpPr/>
          <p:nvPr/>
        </p:nvSpPr>
        <p:spPr>
          <a:xfrm>
            <a:off x="381000" y="5943719"/>
            <a:ext cx="39912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Aastha Soni (U23CS121)</a:t>
            </a:r>
            <a:endParaRPr b="0" i="0" sz="1600" u="none" cap="none" strike="noStrike"/>
          </a:p>
        </p:txBody>
      </p:sp>
      <p:sp>
        <p:nvSpPr>
          <p:cNvPr id="33" name="Google Shape;33;p4"/>
          <p:cNvSpPr/>
          <p:nvPr/>
        </p:nvSpPr>
        <p:spPr>
          <a:xfrm>
            <a:off x="381000" y="6248519"/>
            <a:ext cx="39912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Dhruv Patel (U23CS084)</a:t>
            </a:r>
            <a:endParaRPr b="0" i="0" sz="1600" u="none" cap="none" strike="noStrike"/>
          </a:p>
        </p:txBody>
      </p:sp>
      <p:sp>
        <p:nvSpPr>
          <p:cNvPr id="34" name="Google Shape;34;p4"/>
          <p:cNvSpPr/>
          <p:nvPr/>
        </p:nvSpPr>
        <p:spPr>
          <a:xfrm>
            <a:off x="346645" y="4983599"/>
            <a:ext cx="39912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Team Members :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PROBLEM STATEMENT</a:t>
            </a:r>
            <a:endParaRPr b="0" i="0" sz="1600" u="none" cap="none" strike="noStrike"/>
          </a:p>
        </p:txBody>
      </p:sp>
      <p:sp>
        <p:nvSpPr>
          <p:cNvPr id="41" name="Google Shape;41;p5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What Problems Are We Solving?</a:t>
            </a:r>
            <a:endParaRPr b="0" i="0" sz="1600" u="none" cap="none" strike="noStrike"/>
          </a:p>
        </p:txBody>
      </p:sp>
      <p:sp>
        <p:nvSpPr>
          <p:cNvPr id="42" name="Google Shape;42;p5"/>
          <p:cNvSpPr/>
          <p:nvPr/>
        </p:nvSpPr>
        <p:spPr>
          <a:xfrm>
            <a:off x="400050" y="1371600"/>
            <a:ext cx="5581650" cy="2438400"/>
          </a:xfrm>
          <a:custGeom>
            <a:rect b="b" l="l" r="r" t="t"/>
            <a:pathLst>
              <a:path extrusionOk="0" h="2438400" w="55816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2362200"/>
                </a:lnTo>
                <a:cubicBezTo>
                  <a:pt x="5581650" y="2404256"/>
                  <a:pt x="5547506" y="2438400"/>
                  <a:pt x="55054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400050" y="1371600"/>
            <a:ext cx="38100" cy="2438400"/>
          </a:xfrm>
          <a:custGeom>
            <a:rect b="b" l="l" r="r" t="t"/>
            <a:pathLst>
              <a:path extrusionOk="0" h="2438400" w="381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85800" y="1609606"/>
            <a:ext cx="285750" cy="285750"/>
          </a:xfrm>
          <a:custGeom>
            <a:rect b="b" l="l" r="r" t="t"/>
            <a:pathLst>
              <a:path extrusionOk="0" h="285750" w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1119188" y="1600200"/>
            <a:ext cx="2543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Time Series Forecasting</a:t>
            </a:r>
            <a:endParaRPr b="0" i="0" sz="1600" u="none" cap="none" strike="noStrike"/>
          </a:p>
        </p:txBody>
      </p:sp>
      <p:sp>
        <p:nvSpPr>
          <p:cNvPr id="46" name="Google Shape;46;p5"/>
          <p:cNvSpPr/>
          <p:nvPr/>
        </p:nvSpPr>
        <p:spPr>
          <a:xfrm>
            <a:off x="647700" y="2057281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Problem:</a:t>
            </a:r>
            <a:r>
              <a:rPr b="0" i="0" lang="en-US" sz="1350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Predicting future trends and patterns from historical temporal data with seasonality and noise.</a:t>
            </a:r>
            <a:endParaRPr b="0" i="0" sz="1600" u="none" cap="none" strike="noStrike"/>
          </a:p>
        </p:txBody>
      </p:sp>
      <p:sp>
        <p:nvSpPr>
          <p:cNvPr id="47" name="Google Shape;47;p5"/>
          <p:cNvSpPr/>
          <p:nvPr/>
        </p:nvSpPr>
        <p:spPr>
          <a:xfrm>
            <a:off x="647700" y="2728794"/>
            <a:ext cx="51911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Importance:</a:t>
            </a:r>
            <a:r>
              <a:rPr b="0" i="0" lang="en-US" sz="1350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Critical for healthcare demand planning, financial market prediction, and inventory management. Accurate forecasts reduce costs and improve resource allocation.</a:t>
            </a:r>
            <a:endParaRPr b="0" i="0" sz="1600" u="none" cap="none" strike="noStrike"/>
          </a:p>
        </p:txBody>
      </p:sp>
      <p:sp>
        <p:nvSpPr>
          <p:cNvPr id="48" name="Google Shape;48;p5"/>
          <p:cNvSpPr/>
          <p:nvPr/>
        </p:nvSpPr>
        <p:spPr>
          <a:xfrm>
            <a:off x="6229350" y="1371600"/>
            <a:ext cx="5581650" cy="2438400"/>
          </a:xfrm>
          <a:custGeom>
            <a:rect b="b" l="l" r="r" t="t"/>
            <a:pathLst>
              <a:path extrusionOk="0" h="2438400" w="55816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2362200"/>
                </a:lnTo>
                <a:cubicBezTo>
                  <a:pt x="5581650" y="2404256"/>
                  <a:pt x="5547506" y="2438400"/>
                  <a:pt x="55054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6229350" y="1371600"/>
            <a:ext cx="38100" cy="2438400"/>
          </a:xfrm>
          <a:custGeom>
            <a:rect b="b" l="l" r="r" t="t"/>
            <a:pathLst>
              <a:path extrusionOk="0" h="2438400" w="381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515100" y="1609606"/>
            <a:ext cx="285750" cy="285750"/>
          </a:xfrm>
          <a:custGeom>
            <a:rect b="b" l="l" r="r" t="t"/>
            <a:pathLst>
              <a:path extrusionOk="0" h="285750" w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948488" y="1600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Regression Analysis</a:t>
            </a:r>
            <a:endParaRPr b="0" i="0" sz="1600" u="none" cap="none" strike="noStrike"/>
          </a:p>
        </p:txBody>
      </p:sp>
      <p:sp>
        <p:nvSpPr>
          <p:cNvPr id="52" name="Google Shape;52;p5"/>
          <p:cNvSpPr/>
          <p:nvPr/>
        </p:nvSpPr>
        <p:spPr>
          <a:xfrm>
            <a:off x="6477000" y="2057281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Problem:</a:t>
            </a:r>
            <a:r>
              <a:rPr b="0" i="0" lang="en-US" sz="1350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Predicting continuous outcomes based on multiple input features with complex relationships.</a:t>
            </a:r>
            <a:endParaRPr b="0" i="0" sz="1600" u="none" cap="none" strike="noStrike"/>
          </a:p>
        </p:txBody>
      </p:sp>
      <p:sp>
        <p:nvSpPr>
          <p:cNvPr id="53" name="Google Shape;53;p5"/>
          <p:cNvSpPr/>
          <p:nvPr/>
        </p:nvSpPr>
        <p:spPr>
          <a:xfrm>
            <a:off x="6477000" y="2728794"/>
            <a:ext cx="51911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Importance:</a:t>
            </a:r>
            <a:r>
              <a:rPr b="0" i="0" lang="en-US" sz="1350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Essential for price prediction, performance estimation, and risk assessment. Enables data-driven decision making across industries.</a:t>
            </a:r>
            <a:endParaRPr b="0" i="0" sz="1600" u="none" cap="none" strike="noStrike"/>
          </a:p>
        </p:txBody>
      </p:sp>
      <p:sp>
        <p:nvSpPr>
          <p:cNvPr id="54" name="Google Shape;54;p5"/>
          <p:cNvSpPr/>
          <p:nvPr/>
        </p:nvSpPr>
        <p:spPr>
          <a:xfrm>
            <a:off x="400050" y="4038600"/>
            <a:ext cx="5581650" cy="2438400"/>
          </a:xfrm>
          <a:custGeom>
            <a:rect b="b" l="l" r="r" t="t"/>
            <a:pathLst>
              <a:path extrusionOk="0" h="2438400" w="55816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2362200"/>
                </a:lnTo>
                <a:cubicBezTo>
                  <a:pt x="5581650" y="2404256"/>
                  <a:pt x="5547506" y="2438400"/>
                  <a:pt x="55054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00050" y="4038600"/>
            <a:ext cx="38100" cy="2438400"/>
          </a:xfrm>
          <a:custGeom>
            <a:rect b="b" l="l" r="r" t="t"/>
            <a:pathLst>
              <a:path extrusionOk="0" h="2438400" w="381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50081" y="4276606"/>
            <a:ext cx="357188" cy="285750"/>
          </a:xfrm>
          <a:custGeom>
            <a:rect b="b" l="l" r="r" t="t"/>
            <a:pathLst>
              <a:path extrusionOk="0" h="285750" w="357188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119188" y="4267200"/>
            <a:ext cx="257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Customer Segmentation</a:t>
            </a:r>
            <a:endParaRPr b="0" i="0" sz="1600" u="none" cap="none" strike="noStrike"/>
          </a:p>
        </p:txBody>
      </p:sp>
      <p:sp>
        <p:nvSpPr>
          <p:cNvPr id="58" name="Google Shape;58;p5"/>
          <p:cNvSpPr/>
          <p:nvPr/>
        </p:nvSpPr>
        <p:spPr>
          <a:xfrm>
            <a:off x="647700" y="4724281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Problem:</a:t>
            </a:r>
            <a:r>
              <a:rPr b="0" i="0" lang="en-US" sz="1350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Identifying distinct customer groups based on purchasing behavior and demographics for targeted strategies.</a:t>
            </a:r>
            <a:endParaRPr b="0" i="0" sz="1600" u="none" cap="none" strike="noStrike"/>
          </a:p>
        </p:txBody>
      </p:sp>
      <p:sp>
        <p:nvSpPr>
          <p:cNvPr id="59" name="Google Shape;59;p5"/>
          <p:cNvSpPr/>
          <p:nvPr/>
        </p:nvSpPr>
        <p:spPr>
          <a:xfrm>
            <a:off x="647700" y="5395794"/>
            <a:ext cx="51911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Importance:</a:t>
            </a:r>
            <a:r>
              <a:rPr b="0" i="0" lang="en-US" sz="1350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Enables personalized marketing, improves customer retention, and optimizes resource allocation. RFM analysis reveals high-value customers.</a:t>
            </a:r>
            <a:endParaRPr b="0" i="0" sz="1600" u="none" cap="none" strike="noStrike"/>
          </a:p>
        </p:txBody>
      </p:sp>
      <p:sp>
        <p:nvSpPr>
          <p:cNvPr id="60" name="Google Shape;60;p5"/>
          <p:cNvSpPr/>
          <p:nvPr/>
        </p:nvSpPr>
        <p:spPr>
          <a:xfrm>
            <a:off x="6229350" y="4038600"/>
            <a:ext cx="5581650" cy="2438400"/>
          </a:xfrm>
          <a:custGeom>
            <a:rect b="b" l="l" r="r" t="t"/>
            <a:pathLst>
              <a:path extrusionOk="0" h="2438400" w="55816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2362200"/>
                </a:lnTo>
                <a:cubicBezTo>
                  <a:pt x="5581650" y="2404256"/>
                  <a:pt x="5547506" y="2438400"/>
                  <a:pt x="55054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229350" y="4038600"/>
            <a:ext cx="38100" cy="2438400"/>
          </a:xfrm>
          <a:custGeom>
            <a:rect b="b" l="l" r="r" t="t"/>
            <a:pathLst>
              <a:path extrusionOk="0" h="2438400" w="381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479381" y="4276606"/>
            <a:ext cx="357188" cy="285750"/>
          </a:xfrm>
          <a:custGeom>
            <a:rect b="b" l="l" r="r" t="t"/>
            <a:pathLst>
              <a:path extrusionOk="0" h="285750" w="357188">
                <a:moveTo>
                  <a:pt x="13395" y="-8930"/>
                </a:moveTo>
                <a:cubicBezTo>
                  <a:pt x="5972" y="-8930"/>
                  <a:pt x="0" y="-2958"/>
                  <a:pt x="0" y="4465"/>
                </a:cubicBezTo>
                <a:cubicBezTo>
                  <a:pt x="0" y="11888"/>
                  <a:pt x="5972" y="17859"/>
                  <a:pt x="13395" y="17859"/>
                </a:cubicBezTo>
                <a:lnTo>
                  <a:pt x="38677" y="17859"/>
                </a:lnTo>
                <a:cubicBezTo>
                  <a:pt x="40853" y="17859"/>
                  <a:pt x="42695" y="19422"/>
                  <a:pt x="43086" y="21543"/>
                </a:cubicBezTo>
                <a:lnTo>
                  <a:pt x="72163" y="181328"/>
                </a:lnTo>
                <a:cubicBezTo>
                  <a:pt x="75623" y="200416"/>
                  <a:pt x="92255" y="214313"/>
                  <a:pt x="111677" y="214313"/>
                </a:cubicBezTo>
                <a:lnTo>
                  <a:pt x="254496" y="214313"/>
                </a:lnTo>
                <a:cubicBezTo>
                  <a:pt x="261919" y="214313"/>
                  <a:pt x="267891" y="208341"/>
                  <a:pt x="267891" y="200918"/>
                </a:cubicBezTo>
                <a:cubicBezTo>
                  <a:pt x="267891" y="193495"/>
                  <a:pt x="261919" y="187523"/>
                  <a:pt x="254496" y="187523"/>
                </a:cubicBezTo>
                <a:lnTo>
                  <a:pt x="111677" y="187523"/>
                </a:lnTo>
                <a:cubicBezTo>
                  <a:pt x="105203" y="187523"/>
                  <a:pt x="99678" y="182891"/>
                  <a:pt x="98506" y="176529"/>
                </a:cubicBezTo>
                <a:lnTo>
                  <a:pt x="95659" y="160734"/>
                </a:lnTo>
                <a:lnTo>
                  <a:pt x="265100" y="160734"/>
                </a:lnTo>
                <a:cubicBezTo>
                  <a:pt x="282290" y="160734"/>
                  <a:pt x="297024" y="148512"/>
                  <a:pt x="300205" y="131601"/>
                </a:cubicBezTo>
                <a:lnTo>
                  <a:pt x="317506" y="39012"/>
                </a:lnTo>
                <a:cubicBezTo>
                  <a:pt x="319571" y="28017"/>
                  <a:pt x="311144" y="17859"/>
                  <a:pt x="299926" y="17859"/>
                </a:cubicBezTo>
                <a:lnTo>
                  <a:pt x="69596" y="17859"/>
                </a:lnTo>
                <a:lnTo>
                  <a:pt x="69373" y="16743"/>
                </a:lnTo>
                <a:cubicBezTo>
                  <a:pt x="66694" y="1898"/>
                  <a:pt x="53746" y="-8930"/>
                  <a:pt x="38621" y="-8930"/>
                </a:cubicBezTo>
                <a:lnTo>
                  <a:pt x="13395" y="-8930"/>
                </a:lnTo>
                <a:close/>
                <a:moveTo>
                  <a:pt x="116086" y="285750"/>
                </a:moveTo>
                <a:cubicBezTo>
                  <a:pt x="130871" y="285750"/>
                  <a:pt x="142875" y="273746"/>
                  <a:pt x="142875" y="258961"/>
                </a:cubicBezTo>
                <a:cubicBezTo>
                  <a:pt x="142875" y="244176"/>
                  <a:pt x="130871" y="232172"/>
                  <a:pt x="116086" y="232172"/>
                </a:cubicBezTo>
                <a:cubicBezTo>
                  <a:pt x="101301" y="232172"/>
                  <a:pt x="89297" y="244176"/>
                  <a:pt x="89297" y="258961"/>
                </a:cubicBezTo>
                <a:cubicBezTo>
                  <a:pt x="89297" y="273746"/>
                  <a:pt x="101301" y="285750"/>
                  <a:pt x="116086" y="285750"/>
                </a:cubicBezTo>
                <a:close/>
                <a:moveTo>
                  <a:pt x="241102" y="285750"/>
                </a:moveTo>
                <a:cubicBezTo>
                  <a:pt x="255887" y="285750"/>
                  <a:pt x="267891" y="273746"/>
                  <a:pt x="267891" y="258961"/>
                </a:cubicBezTo>
                <a:cubicBezTo>
                  <a:pt x="267891" y="244176"/>
                  <a:pt x="255887" y="232172"/>
                  <a:pt x="241102" y="232172"/>
                </a:cubicBezTo>
                <a:cubicBezTo>
                  <a:pt x="226316" y="232172"/>
                  <a:pt x="214313" y="244176"/>
                  <a:pt x="214313" y="258961"/>
                </a:cubicBezTo>
                <a:cubicBezTo>
                  <a:pt x="214313" y="273746"/>
                  <a:pt x="226316" y="285750"/>
                  <a:pt x="241102" y="28575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948488" y="4267200"/>
            <a:ext cx="2457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Market Basket Analysis</a:t>
            </a:r>
            <a:endParaRPr b="0" i="0" sz="1600" u="none" cap="none" strike="noStrike"/>
          </a:p>
        </p:txBody>
      </p:sp>
      <p:sp>
        <p:nvSpPr>
          <p:cNvPr id="64" name="Google Shape;64;p5"/>
          <p:cNvSpPr/>
          <p:nvPr/>
        </p:nvSpPr>
        <p:spPr>
          <a:xfrm>
            <a:off x="6477000" y="4724281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Problem:</a:t>
            </a:r>
            <a:r>
              <a:rPr b="0" i="0" lang="en-US" sz="1350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Discovering product associations and co-purchase patterns from transaction data.</a:t>
            </a:r>
            <a:endParaRPr b="0" i="0" sz="1600" u="none" cap="none" strike="noStrike"/>
          </a:p>
        </p:txBody>
      </p:sp>
      <p:sp>
        <p:nvSpPr>
          <p:cNvPr id="65" name="Google Shape;65;p5"/>
          <p:cNvSpPr/>
          <p:nvPr/>
        </p:nvSpPr>
        <p:spPr>
          <a:xfrm>
            <a:off x="6477000" y="5395794"/>
            <a:ext cx="51911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Importance:</a:t>
            </a:r>
            <a:r>
              <a:rPr b="0" i="0" lang="en-US" sz="1350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Drives product placement strategies, cross-selling opportunities, and promotional campaigns. Association rules reveal hidden customer preferences.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0071E3"/>
                </a:solidFill>
                <a:latin typeface="Liter"/>
                <a:ea typeface="Liter"/>
                <a:cs typeface="Liter"/>
                <a:sym typeface="Liter"/>
              </a:rPr>
              <a:t>DATA OVERVIEW</a:t>
            </a:r>
            <a:endParaRPr b="0" i="0" sz="1600" u="none" cap="none" strike="noStrike"/>
          </a:p>
        </p:txBody>
      </p:sp>
      <p:sp>
        <p:nvSpPr>
          <p:cNvPr id="72" name="Google Shape;72;p6"/>
          <p:cNvSpPr/>
          <p:nvPr/>
        </p:nvSpPr>
        <p:spPr>
          <a:xfrm>
            <a:off x="342954" y="617316"/>
            <a:ext cx="11711865" cy="411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1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Dataset</a:t>
            </a:r>
            <a:endParaRPr b="0" i="0" sz="1600" u="none" cap="none" strike="noStrike"/>
          </a:p>
        </p:txBody>
      </p:sp>
      <p:sp>
        <p:nvSpPr>
          <p:cNvPr id="73" name="Google Shape;73;p6"/>
          <p:cNvSpPr/>
          <p:nvPr/>
        </p:nvSpPr>
        <p:spPr>
          <a:xfrm>
            <a:off x="342954" y="1234633"/>
            <a:ext cx="5890228" cy="3669603"/>
          </a:xfrm>
          <a:custGeom>
            <a:rect b="b" l="l" r="r" t="t"/>
            <a:pathLst>
              <a:path extrusionOk="0" h="3669603" w="5890228">
                <a:moveTo>
                  <a:pt x="137170" y="0"/>
                </a:moveTo>
                <a:lnTo>
                  <a:pt x="5753058" y="0"/>
                </a:lnTo>
                <a:cubicBezTo>
                  <a:pt x="5828764" y="0"/>
                  <a:pt x="5890228" y="61464"/>
                  <a:pt x="5890228" y="137170"/>
                </a:cubicBezTo>
                <a:lnTo>
                  <a:pt x="5890228" y="3532434"/>
                </a:lnTo>
                <a:cubicBezTo>
                  <a:pt x="5890228" y="3608140"/>
                  <a:pt x="5828764" y="3669603"/>
                  <a:pt x="5753058" y="3669603"/>
                </a:cubicBezTo>
                <a:lnTo>
                  <a:pt x="137170" y="3669603"/>
                </a:lnTo>
                <a:cubicBezTo>
                  <a:pt x="61464" y="3669603"/>
                  <a:pt x="0" y="3608140"/>
                  <a:pt x="0" y="3532434"/>
                </a:cubicBezTo>
                <a:lnTo>
                  <a:pt x="0" y="137170"/>
                </a:lnTo>
                <a:cubicBezTo>
                  <a:pt x="0" y="61413"/>
                  <a:pt x="61413" y="0"/>
                  <a:pt x="137170" y="0"/>
                </a:cubicBezTo>
                <a:close/>
              </a:path>
            </a:pathLst>
          </a:custGeom>
          <a:gradFill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94481" y="1594734"/>
            <a:ext cx="360101" cy="411544"/>
          </a:xfrm>
          <a:custGeom>
            <a:rect b="b" l="l" r="r" t="t"/>
            <a:pathLst>
              <a:path extrusionOk="0" h="411544" w="360101">
                <a:moveTo>
                  <a:pt x="360101" y="165422"/>
                </a:moveTo>
                <a:cubicBezTo>
                  <a:pt x="348205" y="173299"/>
                  <a:pt x="334541" y="179649"/>
                  <a:pt x="320313" y="184713"/>
                </a:cubicBezTo>
                <a:cubicBezTo>
                  <a:pt x="282535" y="198216"/>
                  <a:pt x="232941" y="205772"/>
                  <a:pt x="180051" y="205772"/>
                </a:cubicBezTo>
                <a:cubicBezTo>
                  <a:pt x="127161" y="205772"/>
                  <a:pt x="77486" y="198136"/>
                  <a:pt x="39788" y="184713"/>
                </a:cubicBezTo>
                <a:cubicBezTo>
                  <a:pt x="25641" y="179649"/>
                  <a:pt x="11896" y="173299"/>
                  <a:pt x="0" y="165422"/>
                </a:cubicBezTo>
                <a:lnTo>
                  <a:pt x="0" y="231494"/>
                </a:lnTo>
                <a:cubicBezTo>
                  <a:pt x="0" y="267022"/>
                  <a:pt x="80621" y="295797"/>
                  <a:pt x="180051" y="295797"/>
                </a:cubicBezTo>
                <a:cubicBezTo>
                  <a:pt x="279480" y="295797"/>
                  <a:pt x="360101" y="267022"/>
                  <a:pt x="360101" y="231494"/>
                </a:cubicBezTo>
                <a:lnTo>
                  <a:pt x="360101" y="165422"/>
                </a:lnTo>
                <a:close/>
                <a:moveTo>
                  <a:pt x="360101" y="102886"/>
                </a:moveTo>
                <a:lnTo>
                  <a:pt x="360101" y="64304"/>
                </a:lnTo>
                <a:cubicBezTo>
                  <a:pt x="360101" y="28776"/>
                  <a:pt x="279480" y="0"/>
                  <a:pt x="180051" y="0"/>
                </a:cubicBezTo>
                <a:cubicBezTo>
                  <a:pt x="80621" y="0"/>
                  <a:pt x="0" y="28776"/>
                  <a:pt x="0" y="64304"/>
                </a:cubicBezTo>
                <a:lnTo>
                  <a:pt x="0" y="102886"/>
                </a:lnTo>
                <a:cubicBezTo>
                  <a:pt x="0" y="138414"/>
                  <a:pt x="80621" y="167190"/>
                  <a:pt x="180051" y="167190"/>
                </a:cubicBezTo>
                <a:cubicBezTo>
                  <a:pt x="279480" y="167190"/>
                  <a:pt x="360101" y="138414"/>
                  <a:pt x="360101" y="102886"/>
                </a:cubicBezTo>
                <a:close/>
                <a:moveTo>
                  <a:pt x="320313" y="313320"/>
                </a:moveTo>
                <a:cubicBezTo>
                  <a:pt x="282615" y="326744"/>
                  <a:pt x="233021" y="334380"/>
                  <a:pt x="180051" y="334380"/>
                </a:cubicBezTo>
                <a:cubicBezTo>
                  <a:pt x="127080" y="334380"/>
                  <a:pt x="77486" y="326744"/>
                  <a:pt x="39788" y="313320"/>
                </a:cubicBezTo>
                <a:cubicBezTo>
                  <a:pt x="25641" y="308256"/>
                  <a:pt x="11896" y="301906"/>
                  <a:pt x="0" y="294029"/>
                </a:cubicBezTo>
                <a:lnTo>
                  <a:pt x="0" y="347241"/>
                </a:lnTo>
                <a:cubicBezTo>
                  <a:pt x="0" y="382768"/>
                  <a:pt x="80621" y="411544"/>
                  <a:pt x="180051" y="411544"/>
                </a:cubicBezTo>
                <a:cubicBezTo>
                  <a:pt x="279480" y="411544"/>
                  <a:pt x="360101" y="382768"/>
                  <a:pt x="360101" y="347241"/>
                </a:cubicBezTo>
                <a:lnTo>
                  <a:pt x="360101" y="294029"/>
                </a:lnTo>
                <a:cubicBezTo>
                  <a:pt x="348205" y="301906"/>
                  <a:pt x="334541" y="308256"/>
                  <a:pt x="320313" y="313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1268928" y="1508996"/>
            <a:ext cx="2957975" cy="30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UCI Online Retail Dataset</a:t>
            </a:r>
            <a:endParaRPr b="0" i="0" sz="1600" u="none" cap="none" strike="noStrike"/>
          </a:p>
        </p:txBody>
      </p:sp>
      <p:sp>
        <p:nvSpPr>
          <p:cNvPr id="76" name="Google Shape;76;p6"/>
          <p:cNvSpPr/>
          <p:nvPr/>
        </p:nvSpPr>
        <p:spPr>
          <a:xfrm>
            <a:off x="1268928" y="1851949"/>
            <a:ext cx="2915105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E-commerce transaction data</a:t>
            </a:r>
            <a:endParaRPr b="0" i="0" sz="1600" u="none" cap="none" strike="noStrike"/>
          </a:p>
        </p:txBody>
      </p:sp>
      <p:sp>
        <p:nvSpPr>
          <p:cNvPr id="77" name="Google Shape;77;p6"/>
          <p:cNvSpPr/>
          <p:nvPr/>
        </p:nvSpPr>
        <p:spPr>
          <a:xfrm>
            <a:off x="617316" y="2297789"/>
            <a:ext cx="2572152" cy="1063156"/>
          </a:xfrm>
          <a:custGeom>
            <a:rect b="b" l="l" r="r" t="t"/>
            <a:pathLst>
              <a:path extrusionOk="0" h="1063156" w="2572152">
                <a:moveTo>
                  <a:pt x="102882" y="0"/>
                </a:moveTo>
                <a:lnTo>
                  <a:pt x="2469270" y="0"/>
                </a:lnTo>
                <a:cubicBezTo>
                  <a:pt x="2526090" y="0"/>
                  <a:pt x="2572152" y="46062"/>
                  <a:pt x="2572152" y="102882"/>
                </a:cubicBezTo>
                <a:lnTo>
                  <a:pt x="2572152" y="960275"/>
                </a:lnTo>
                <a:cubicBezTo>
                  <a:pt x="2572152" y="1017094"/>
                  <a:pt x="2526090" y="1063156"/>
                  <a:pt x="2469270" y="1063156"/>
                </a:cubicBezTo>
                <a:lnTo>
                  <a:pt x="102882" y="1063156"/>
                </a:lnTo>
                <a:cubicBezTo>
                  <a:pt x="46062" y="1063156"/>
                  <a:pt x="0" y="1017094"/>
                  <a:pt x="0" y="960275"/>
                </a:cubicBezTo>
                <a:lnTo>
                  <a:pt x="0" y="102882"/>
                </a:lnTo>
                <a:cubicBezTo>
                  <a:pt x="0" y="46100"/>
                  <a:pt x="46100" y="0"/>
                  <a:pt x="10288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685907" y="2469266"/>
            <a:ext cx="2434970" cy="411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1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~500K</a:t>
            </a:r>
            <a:endParaRPr b="0" i="0" sz="1600" u="none" cap="none" strike="noStrike"/>
          </a:p>
        </p:txBody>
      </p:sp>
      <p:sp>
        <p:nvSpPr>
          <p:cNvPr id="79" name="Google Shape;79;p6"/>
          <p:cNvSpPr/>
          <p:nvPr/>
        </p:nvSpPr>
        <p:spPr>
          <a:xfrm>
            <a:off x="750211" y="2949401"/>
            <a:ext cx="2306363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5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Transactions</a:t>
            </a:r>
            <a:endParaRPr b="0" i="0" sz="1600" u="none" cap="none" strike="noStrike"/>
          </a:p>
        </p:txBody>
      </p:sp>
      <p:sp>
        <p:nvSpPr>
          <p:cNvPr id="80" name="Google Shape;80;p6"/>
          <p:cNvSpPr/>
          <p:nvPr/>
        </p:nvSpPr>
        <p:spPr>
          <a:xfrm>
            <a:off x="3391382" y="2297789"/>
            <a:ext cx="2572152" cy="1063156"/>
          </a:xfrm>
          <a:custGeom>
            <a:rect b="b" l="l" r="r" t="t"/>
            <a:pathLst>
              <a:path extrusionOk="0" h="1063156" w="2572152">
                <a:moveTo>
                  <a:pt x="102882" y="0"/>
                </a:moveTo>
                <a:lnTo>
                  <a:pt x="2469270" y="0"/>
                </a:lnTo>
                <a:cubicBezTo>
                  <a:pt x="2526090" y="0"/>
                  <a:pt x="2572152" y="46062"/>
                  <a:pt x="2572152" y="102882"/>
                </a:cubicBezTo>
                <a:lnTo>
                  <a:pt x="2572152" y="960275"/>
                </a:lnTo>
                <a:cubicBezTo>
                  <a:pt x="2572152" y="1017094"/>
                  <a:pt x="2526090" y="1063156"/>
                  <a:pt x="2469270" y="1063156"/>
                </a:cubicBezTo>
                <a:lnTo>
                  <a:pt x="102882" y="1063156"/>
                </a:lnTo>
                <a:cubicBezTo>
                  <a:pt x="46062" y="1063156"/>
                  <a:pt x="0" y="1017094"/>
                  <a:pt x="0" y="960275"/>
                </a:cubicBezTo>
                <a:lnTo>
                  <a:pt x="0" y="102882"/>
                </a:lnTo>
                <a:cubicBezTo>
                  <a:pt x="0" y="46100"/>
                  <a:pt x="46100" y="0"/>
                  <a:pt x="10288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459973" y="2469266"/>
            <a:ext cx="2434970" cy="411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1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~4,000</a:t>
            </a:r>
            <a:endParaRPr b="0" i="0" sz="1600" u="none" cap="none" strike="noStrike"/>
          </a:p>
        </p:txBody>
      </p:sp>
      <p:sp>
        <p:nvSpPr>
          <p:cNvPr id="82" name="Google Shape;82;p6"/>
          <p:cNvSpPr/>
          <p:nvPr/>
        </p:nvSpPr>
        <p:spPr>
          <a:xfrm>
            <a:off x="3524277" y="2949401"/>
            <a:ext cx="2306363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5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Customers</a:t>
            </a:r>
            <a:endParaRPr b="0" i="0" sz="1600" u="none" cap="none" strike="noStrike"/>
          </a:p>
        </p:txBody>
      </p:sp>
      <p:sp>
        <p:nvSpPr>
          <p:cNvPr id="83" name="Google Shape;83;p6"/>
          <p:cNvSpPr/>
          <p:nvPr/>
        </p:nvSpPr>
        <p:spPr>
          <a:xfrm>
            <a:off x="617316" y="3566717"/>
            <a:ext cx="2572152" cy="1063156"/>
          </a:xfrm>
          <a:custGeom>
            <a:rect b="b" l="l" r="r" t="t"/>
            <a:pathLst>
              <a:path extrusionOk="0" h="1063156" w="2572152">
                <a:moveTo>
                  <a:pt x="102882" y="0"/>
                </a:moveTo>
                <a:lnTo>
                  <a:pt x="2469270" y="0"/>
                </a:lnTo>
                <a:cubicBezTo>
                  <a:pt x="2526090" y="0"/>
                  <a:pt x="2572152" y="46062"/>
                  <a:pt x="2572152" y="102882"/>
                </a:cubicBezTo>
                <a:lnTo>
                  <a:pt x="2572152" y="960275"/>
                </a:lnTo>
                <a:cubicBezTo>
                  <a:pt x="2572152" y="1017094"/>
                  <a:pt x="2526090" y="1063156"/>
                  <a:pt x="2469270" y="1063156"/>
                </a:cubicBezTo>
                <a:lnTo>
                  <a:pt x="102882" y="1063156"/>
                </a:lnTo>
                <a:cubicBezTo>
                  <a:pt x="46062" y="1063156"/>
                  <a:pt x="0" y="1017094"/>
                  <a:pt x="0" y="960275"/>
                </a:cubicBezTo>
                <a:lnTo>
                  <a:pt x="0" y="102882"/>
                </a:lnTo>
                <a:cubicBezTo>
                  <a:pt x="0" y="46100"/>
                  <a:pt x="46100" y="0"/>
                  <a:pt x="10288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85907" y="3738194"/>
            <a:ext cx="2434970" cy="411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1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38</a:t>
            </a:r>
            <a:endParaRPr b="0" i="0" sz="1600" u="none" cap="none" strike="noStrike"/>
          </a:p>
        </p:txBody>
      </p:sp>
      <p:sp>
        <p:nvSpPr>
          <p:cNvPr id="85" name="Google Shape;85;p6"/>
          <p:cNvSpPr/>
          <p:nvPr/>
        </p:nvSpPr>
        <p:spPr>
          <a:xfrm>
            <a:off x="750211" y="4218329"/>
            <a:ext cx="2306363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5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Countries</a:t>
            </a:r>
            <a:endParaRPr b="0" i="0" sz="1600" u="none" cap="none" strike="noStrike"/>
          </a:p>
        </p:txBody>
      </p:sp>
      <p:sp>
        <p:nvSpPr>
          <p:cNvPr id="86" name="Google Shape;86;p6"/>
          <p:cNvSpPr/>
          <p:nvPr/>
        </p:nvSpPr>
        <p:spPr>
          <a:xfrm>
            <a:off x="3391382" y="3566717"/>
            <a:ext cx="2572152" cy="1063156"/>
          </a:xfrm>
          <a:custGeom>
            <a:rect b="b" l="l" r="r" t="t"/>
            <a:pathLst>
              <a:path extrusionOk="0" h="1063156" w="2572152">
                <a:moveTo>
                  <a:pt x="102882" y="0"/>
                </a:moveTo>
                <a:lnTo>
                  <a:pt x="2469270" y="0"/>
                </a:lnTo>
                <a:cubicBezTo>
                  <a:pt x="2526090" y="0"/>
                  <a:pt x="2572152" y="46062"/>
                  <a:pt x="2572152" y="102882"/>
                </a:cubicBezTo>
                <a:lnTo>
                  <a:pt x="2572152" y="960275"/>
                </a:lnTo>
                <a:cubicBezTo>
                  <a:pt x="2572152" y="1017094"/>
                  <a:pt x="2526090" y="1063156"/>
                  <a:pt x="2469270" y="1063156"/>
                </a:cubicBezTo>
                <a:lnTo>
                  <a:pt x="102882" y="1063156"/>
                </a:lnTo>
                <a:cubicBezTo>
                  <a:pt x="46062" y="1063156"/>
                  <a:pt x="0" y="1017094"/>
                  <a:pt x="0" y="960275"/>
                </a:cubicBezTo>
                <a:lnTo>
                  <a:pt x="0" y="102882"/>
                </a:lnTo>
                <a:cubicBezTo>
                  <a:pt x="0" y="46100"/>
                  <a:pt x="46100" y="0"/>
                  <a:pt x="10288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459973" y="3738194"/>
            <a:ext cx="2434970" cy="411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1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4,070</a:t>
            </a:r>
            <a:endParaRPr b="0" i="0" sz="1600" u="none" cap="none" strike="noStrike"/>
          </a:p>
        </p:txBody>
      </p:sp>
      <p:sp>
        <p:nvSpPr>
          <p:cNvPr id="88" name="Google Shape;88;p6"/>
          <p:cNvSpPr/>
          <p:nvPr/>
        </p:nvSpPr>
        <p:spPr>
          <a:xfrm>
            <a:off x="3524277" y="4218329"/>
            <a:ext cx="2306363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5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Products</a:t>
            </a:r>
            <a:endParaRPr b="0" i="0" sz="1600" u="none" cap="none" strike="noStrike"/>
          </a:p>
        </p:txBody>
      </p:sp>
      <p:sp>
        <p:nvSpPr>
          <p:cNvPr id="89" name="Google Shape;89;p6"/>
          <p:cNvSpPr/>
          <p:nvPr/>
        </p:nvSpPr>
        <p:spPr>
          <a:xfrm>
            <a:off x="6508402" y="1234633"/>
            <a:ext cx="5341502" cy="3669603"/>
          </a:xfrm>
          <a:custGeom>
            <a:rect b="b" l="l" r="r" t="t"/>
            <a:pathLst>
              <a:path extrusionOk="0" h="3669603" w="5341502">
                <a:moveTo>
                  <a:pt x="137170" y="0"/>
                </a:moveTo>
                <a:lnTo>
                  <a:pt x="5204332" y="0"/>
                </a:lnTo>
                <a:cubicBezTo>
                  <a:pt x="5280038" y="0"/>
                  <a:pt x="5341502" y="61464"/>
                  <a:pt x="5341502" y="137170"/>
                </a:cubicBezTo>
                <a:lnTo>
                  <a:pt x="5341502" y="3532434"/>
                </a:lnTo>
                <a:cubicBezTo>
                  <a:pt x="5341502" y="3608140"/>
                  <a:pt x="5280038" y="3669603"/>
                  <a:pt x="5204332" y="3669603"/>
                </a:cubicBezTo>
                <a:lnTo>
                  <a:pt x="137170" y="3669603"/>
                </a:lnTo>
                <a:cubicBezTo>
                  <a:pt x="61464" y="3669603"/>
                  <a:pt x="0" y="3608140"/>
                  <a:pt x="0" y="3532434"/>
                </a:cubicBezTo>
                <a:lnTo>
                  <a:pt x="0" y="137170"/>
                </a:lnTo>
                <a:cubicBezTo>
                  <a:pt x="0" y="61413"/>
                  <a:pt x="61413" y="0"/>
                  <a:pt x="1371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722" rotWithShape="0" algn="bl" dir="5400000" dist="8574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6782765" y="1508996"/>
            <a:ext cx="342954" cy="342954"/>
          </a:xfrm>
          <a:custGeom>
            <a:rect b="b" l="l" r="r" t="t"/>
            <a:pathLst>
              <a:path extrusionOk="0" h="342954" w="342954">
                <a:moveTo>
                  <a:pt x="171477" y="0"/>
                </a:moveTo>
                <a:lnTo>
                  <a:pt x="171477" y="0"/>
                </a:lnTo>
                <a:cubicBezTo>
                  <a:pt x="266181" y="0"/>
                  <a:pt x="342954" y="76773"/>
                  <a:pt x="342954" y="171477"/>
                </a:cubicBezTo>
                <a:lnTo>
                  <a:pt x="342954" y="171477"/>
                </a:lnTo>
                <a:cubicBezTo>
                  <a:pt x="342954" y="266181"/>
                  <a:pt x="266181" y="342954"/>
                  <a:pt x="171477" y="342954"/>
                </a:cubicBezTo>
                <a:lnTo>
                  <a:pt x="171477" y="342954"/>
                </a:lnTo>
                <a:cubicBezTo>
                  <a:pt x="76773" y="342954"/>
                  <a:pt x="0" y="266181"/>
                  <a:pt x="0" y="171477"/>
                </a:cubicBezTo>
                <a:lnTo>
                  <a:pt x="0" y="171477"/>
                </a:lnTo>
                <a:cubicBezTo>
                  <a:pt x="0" y="76773"/>
                  <a:pt x="76773" y="0"/>
                  <a:pt x="171477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6868503" y="1594734"/>
            <a:ext cx="171477" cy="171477"/>
          </a:xfrm>
          <a:custGeom>
            <a:rect b="b" l="l" r="r" t="t"/>
            <a:pathLst>
              <a:path extrusionOk="0" h="171477" w="171477">
                <a:moveTo>
                  <a:pt x="13397" y="16076"/>
                </a:moveTo>
                <a:cubicBezTo>
                  <a:pt x="8942" y="16076"/>
                  <a:pt x="5359" y="19660"/>
                  <a:pt x="5359" y="24114"/>
                </a:cubicBezTo>
                <a:lnTo>
                  <a:pt x="5359" y="40190"/>
                </a:lnTo>
                <a:cubicBezTo>
                  <a:pt x="5359" y="44644"/>
                  <a:pt x="8942" y="48228"/>
                  <a:pt x="13397" y="48228"/>
                </a:cubicBezTo>
                <a:lnTo>
                  <a:pt x="29473" y="48228"/>
                </a:lnTo>
                <a:cubicBezTo>
                  <a:pt x="33927" y="48228"/>
                  <a:pt x="37511" y="44644"/>
                  <a:pt x="37511" y="40190"/>
                </a:cubicBezTo>
                <a:lnTo>
                  <a:pt x="37511" y="24114"/>
                </a:lnTo>
                <a:cubicBezTo>
                  <a:pt x="37511" y="19660"/>
                  <a:pt x="33927" y="16076"/>
                  <a:pt x="29473" y="16076"/>
                </a:cubicBezTo>
                <a:lnTo>
                  <a:pt x="13397" y="16076"/>
                </a:lnTo>
                <a:close/>
                <a:moveTo>
                  <a:pt x="64304" y="21435"/>
                </a:moveTo>
                <a:cubicBezTo>
                  <a:pt x="58376" y="21435"/>
                  <a:pt x="53586" y="26224"/>
                  <a:pt x="53586" y="32152"/>
                </a:cubicBezTo>
                <a:cubicBezTo>
                  <a:pt x="53586" y="38080"/>
                  <a:pt x="58376" y="42869"/>
                  <a:pt x="64304" y="42869"/>
                </a:cubicBezTo>
                <a:lnTo>
                  <a:pt x="160759" y="42869"/>
                </a:lnTo>
                <a:cubicBezTo>
                  <a:pt x="166688" y="42869"/>
                  <a:pt x="171477" y="38080"/>
                  <a:pt x="171477" y="32152"/>
                </a:cubicBezTo>
                <a:cubicBezTo>
                  <a:pt x="171477" y="26224"/>
                  <a:pt x="166688" y="21435"/>
                  <a:pt x="160759" y="21435"/>
                </a:cubicBezTo>
                <a:lnTo>
                  <a:pt x="64304" y="21435"/>
                </a:lnTo>
                <a:close/>
                <a:moveTo>
                  <a:pt x="64304" y="75021"/>
                </a:moveTo>
                <a:cubicBezTo>
                  <a:pt x="58376" y="75021"/>
                  <a:pt x="53586" y="79810"/>
                  <a:pt x="53586" y="85738"/>
                </a:cubicBezTo>
                <a:cubicBezTo>
                  <a:pt x="53586" y="91666"/>
                  <a:pt x="58376" y="96456"/>
                  <a:pt x="64304" y="96456"/>
                </a:cubicBezTo>
                <a:lnTo>
                  <a:pt x="160759" y="96456"/>
                </a:lnTo>
                <a:cubicBezTo>
                  <a:pt x="166688" y="96456"/>
                  <a:pt x="171477" y="91666"/>
                  <a:pt x="171477" y="85738"/>
                </a:cubicBezTo>
                <a:cubicBezTo>
                  <a:pt x="171477" y="79810"/>
                  <a:pt x="166688" y="75021"/>
                  <a:pt x="160759" y="75021"/>
                </a:cubicBezTo>
                <a:lnTo>
                  <a:pt x="64304" y="75021"/>
                </a:lnTo>
                <a:close/>
                <a:moveTo>
                  <a:pt x="64304" y="128608"/>
                </a:moveTo>
                <a:cubicBezTo>
                  <a:pt x="58376" y="128608"/>
                  <a:pt x="53586" y="133397"/>
                  <a:pt x="53586" y="139325"/>
                </a:cubicBezTo>
                <a:cubicBezTo>
                  <a:pt x="53586" y="145253"/>
                  <a:pt x="58376" y="150042"/>
                  <a:pt x="64304" y="150042"/>
                </a:cubicBezTo>
                <a:lnTo>
                  <a:pt x="160759" y="150042"/>
                </a:lnTo>
                <a:cubicBezTo>
                  <a:pt x="166688" y="150042"/>
                  <a:pt x="171477" y="145253"/>
                  <a:pt x="171477" y="139325"/>
                </a:cubicBezTo>
                <a:cubicBezTo>
                  <a:pt x="171477" y="133397"/>
                  <a:pt x="166688" y="128608"/>
                  <a:pt x="160759" y="128608"/>
                </a:cubicBezTo>
                <a:lnTo>
                  <a:pt x="64304" y="128608"/>
                </a:lnTo>
                <a:close/>
                <a:moveTo>
                  <a:pt x="5359" y="77700"/>
                </a:moveTo>
                <a:lnTo>
                  <a:pt x="5359" y="93776"/>
                </a:lnTo>
                <a:cubicBezTo>
                  <a:pt x="5359" y="98231"/>
                  <a:pt x="8942" y="101814"/>
                  <a:pt x="13397" y="101814"/>
                </a:cubicBezTo>
                <a:lnTo>
                  <a:pt x="29473" y="101814"/>
                </a:lnTo>
                <a:cubicBezTo>
                  <a:pt x="33927" y="101814"/>
                  <a:pt x="37511" y="98231"/>
                  <a:pt x="37511" y="93776"/>
                </a:cubicBezTo>
                <a:lnTo>
                  <a:pt x="37511" y="77700"/>
                </a:lnTo>
                <a:cubicBezTo>
                  <a:pt x="37511" y="73246"/>
                  <a:pt x="33927" y="69662"/>
                  <a:pt x="29473" y="69662"/>
                </a:cubicBezTo>
                <a:lnTo>
                  <a:pt x="13397" y="69662"/>
                </a:lnTo>
                <a:cubicBezTo>
                  <a:pt x="8942" y="69662"/>
                  <a:pt x="5359" y="73246"/>
                  <a:pt x="5359" y="77700"/>
                </a:cubicBezTo>
                <a:close/>
                <a:moveTo>
                  <a:pt x="13397" y="123249"/>
                </a:moveTo>
                <a:cubicBezTo>
                  <a:pt x="8942" y="123249"/>
                  <a:pt x="5359" y="126833"/>
                  <a:pt x="5359" y="131287"/>
                </a:cubicBezTo>
                <a:lnTo>
                  <a:pt x="5359" y="147363"/>
                </a:lnTo>
                <a:cubicBezTo>
                  <a:pt x="5359" y="151817"/>
                  <a:pt x="8942" y="155401"/>
                  <a:pt x="13397" y="155401"/>
                </a:cubicBezTo>
                <a:lnTo>
                  <a:pt x="29473" y="155401"/>
                </a:lnTo>
                <a:cubicBezTo>
                  <a:pt x="33927" y="155401"/>
                  <a:pt x="37511" y="151817"/>
                  <a:pt x="37511" y="147363"/>
                </a:cubicBezTo>
                <a:lnTo>
                  <a:pt x="37511" y="131287"/>
                </a:lnTo>
                <a:cubicBezTo>
                  <a:pt x="37511" y="126833"/>
                  <a:pt x="33927" y="123249"/>
                  <a:pt x="29473" y="123249"/>
                </a:cubicBezTo>
                <a:lnTo>
                  <a:pt x="13397" y="123249"/>
                </a:ln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7228605" y="1543291"/>
            <a:ext cx="1286076" cy="274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Key Features</a:t>
            </a:r>
            <a:endParaRPr b="0" i="0" sz="1600" u="none" cap="none" strike="noStrike"/>
          </a:p>
        </p:txBody>
      </p:sp>
      <p:sp>
        <p:nvSpPr>
          <p:cNvPr id="93" name="Google Shape;93;p6"/>
          <p:cNvSpPr/>
          <p:nvPr/>
        </p:nvSpPr>
        <p:spPr>
          <a:xfrm>
            <a:off x="6782765" y="2057722"/>
            <a:ext cx="2332084" cy="514430"/>
          </a:xfrm>
          <a:custGeom>
            <a:rect b="b" l="l" r="r" t="t"/>
            <a:pathLst>
              <a:path extrusionOk="0" h="514430" w="2332084">
                <a:moveTo>
                  <a:pt x="68589" y="0"/>
                </a:moveTo>
                <a:lnTo>
                  <a:pt x="2263495" y="0"/>
                </a:lnTo>
                <a:cubicBezTo>
                  <a:pt x="2301351" y="0"/>
                  <a:pt x="2332084" y="30734"/>
                  <a:pt x="2332084" y="68589"/>
                </a:cubicBezTo>
                <a:lnTo>
                  <a:pt x="2332084" y="445841"/>
                </a:lnTo>
                <a:cubicBezTo>
                  <a:pt x="2332084" y="483697"/>
                  <a:pt x="2301351" y="514430"/>
                  <a:pt x="2263495" y="514430"/>
                </a:cubicBezTo>
                <a:lnTo>
                  <a:pt x="68589" y="514430"/>
                </a:lnTo>
                <a:cubicBezTo>
                  <a:pt x="30734" y="514430"/>
                  <a:pt x="0" y="483697"/>
                  <a:pt x="0" y="445841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6962816" y="2229198"/>
            <a:ext cx="128608" cy="171477"/>
          </a:xfrm>
          <a:custGeom>
            <a:rect b="b" l="l" r="r" t="t"/>
            <a:pathLst>
              <a:path extrusionOk="0" h="171477" w="128608">
                <a:moveTo>
                  <a:pt x="4689" y="737"/>
                </a:moveTo>
                <a:cubicBezTo>
                  <a:pt x="7536" y="-569"/>
                  <a:pt x="10885" y="-100"/>
                  <a:pt x="13263" y="1943"/>
                </a:cubicBezTo>
                <a:lnTo>
                  <a:pt x="26793" y="13531"/>
                </a:lnTo>
                <a:lnTo>
                  <a:pt x="40324" y="1943"/>
                </a:lnTo>
                <a:cubicBezTo>
                  <a:pt x="43338" y="-636"/>
                  <a:pt x="47792" y="-636"/>
                  <a:pt x="50773" y="1943"/>
                </a:cubicBezTo>
                <a:lnTo>
                  <a:pt x="64304" y="13531"/>
                </a:lnTo>
                <a:lnTo>
                  <a:pt x="77834" y="1943"/>
                </a:lnTo>
                <a:cubicBezTo>
                  <a:pt x="80849" y="-636"/>
                  <a:pt x="85270" y="-636"/>
                  <a:pt x="88284" y="1943"/>
                </a:cubicBezTo>
                <a:lnTo>
                  <a:pt x="101814" y="13531"/>
                </a:lnTo>
                <a:lnTo>
                  <a:pt x="115345" y="1943"/>
                </a:lnTo>
                <a:cubicBezTo>
                  <a:pt x="117723" y="-100"/>
                  <a:pt x="121072" y="-569"/>
                  <a:pt x="123919" y="737"/>
                </a:cubicBezTo>
                <a:cubicBezTo>
                  <a:pt x="126766" y="2043"/>
                  <a:pt x="128608" y="4890"/>
                  <a:pt x="128608" y="8038"/>
                </a:cubicBezTo>
                <a:lnTo>
                  <a:pt x="128608" y="163439"/>
                </a:lnTo>
                <a:cubicBezTo>
                  <a:pt x="128608" y="166587"/>
                  <a:pt x="126766" y="169434"/>
                  <a:pt x="123919" y="170740"/>
                </a:cubicBezTo>
                <a:cubicBezTo>
                  <a:pt x="121072" y="172046"/>
                  <a:pt x="117723" y="171577"/>
                  <a:pt x="115345" y="169534"/>
                </a:cubicBezTo>
                <a:lnTo>
                  <a:pt x="101814" y="157946"/>
                </a:lnTo>
                <a:lnTo>
                  <a:pt x="88284" y="169534"/>
                </a:lnTo>
                <a:cubicBezTo>
                  <a:pt x="85270" y="172113"/>
                  <a:pt x="80849" y="172113"/>
                  <a:pt x="77834" y="169534"/>
                </a:cubicBezTo>
                <a:lnTo>
                  <a:pt x="64304" y="157946"/>
                </a:lnTo>
                <a:lnTo>
                  <a:pt x="50773" y="169534"/>
                </a:lnTo>
                <a:cubicBezTo>
                  <a:pt x="47759" y="172113"/>
                  <a:pt x="43305" y="172113"/>
                  <a:pt x="40324" y="169534"/>
                </a:cubicBezTo>
                <a:lnTo>
                  <a:pt x="26793" y="157946"/>
                </a:lnTo>
                <a:lnTo>
                  <a:pt x="13263" y="169534"/>
                </a:lnTo>
                <a:cubicBezTo>
                  <a:pt x="10885" y="171577"/>
                  <a:pt x="7536" y="172046"/>
                  <a:pt x="4689" y="170740"/>
                </a:cubicBezTo>
                <a:cubicBezTo>
                  <a:pt x="1842" y="169434"/>
                  <a:pt x="0" y="166587"/>
                  <a:pt x="0" y="163439"/>
                </a:cubicBezTo>
                <a:lnTo>
                  <a:pt x="0" y="8038"/>
                </a:lnTo>
                <a:cubicBezTo>
                  <a:pt x="0" y="4890"/>
                  <a:pt x="1842" y="2043"/>
                  <a:pt x="4689" y="737"/>
                </a:cubicBezTo>
                <a:close/>
                <a:moveTo>
                  <a:pt x="34831" y="45549"/>
                </a:moveTo>
                <a:cubicBezTo>
                  <a:pt x="30377" y="45549"/>
                  <a:pt x="26793" y="49132"/>
                  <a:pt x="26793" y="53586"/>
                </a:cubicBezTo>
                <a:cubicBezTo>
                  <a:pt x="26793" y="58041"/>
                  <a:pt x="30377" y="61624"/>
                  <a:pt x="34831" y="61624"/>
                </a:cubicBezTo>
                <a:lnTo>
                  <a:pt x="93776" y="61624"/>
                </a:lnTo>
                <a:cubicBezTo>
                  <a:pt x="98231" y="61624"/>
                  <a:pt x="101814" y="58041"/>
                  <a:pt x="101814" y="53586"/>
                </a:cubicBezTo>
                <a:cubicBezTo>
                  <a:pt x="101814" y="49132"/>
                  <a:pt x="98231" y="45549"/>
                  <a:pt x="93776" y="45549"/>
                </a:cubicBezTo>
                <a:lnTo>
                  <a:pt x="34831" y="45549"/>
                </a:lnTo>
                <a:close/>
                <a:moveTo>
                  <a:pt x="26793" y="117890"/>
                </a:moveTo>
                <a:cubicBezTo>
                  <a:pt x="26793" y="122345"/>
                  <a:pt x="30377" y="125928"/>
                  <a:pt x="34831" y="125928"/>
                </a:cubicBezTo>
                <a:lnTo>
                  <a:pt x="93776" y="125928"/>
                </a:lnTo>
                <a:cubicBezTo>
                  <a:pt x="98231" y="125928"/>
                  <a:pt x="101814" y="122345"/>
                  <a:pt x="101814" y="117890"/>
                </a:cubicBezTo>
                <a:cubicBezTo>
                  <a:pt x="101814" y="113436"/>
                  <a:pt x="98231" y="109852"/>
                  <a:pt x="93776" y="109852"/>
                </a:cubicBezTo>
                <a:lnTo>
                  <a:pt x="34831" y="109852"/>
                </a:lnTo>
                <a:cubicBezTo>
                  <a:pt x="30377" y="109852"/>
                  <a:pt x="26793" y="113436"/>
                  <a:pt x="26793" y="117890"/>
                </a:cubicBezTo>
                <a:close/>
                <a:moveTo>
                  <a:pt x="34831" y="77700"/>
                </a:moveTo>
                <a:cubicBezTo>
                  <a:pt x="30377" y="77700"/>
                  <a:pt x="26793" y="81284"/>
                  <a:pt x="26793" y="85738"/>
                </a:cubicBezTo>
                <a:cubicBezTo>
                  <a:pt x="26793" y="90193"/>
                  <a:pt x="30377" y="93776"/>
                  <a:pt x="34831" y="93776"/>
                </a:cubicBezTo>
                <a:lnTo>
                  <a:pt x="93776" y="93776"/>
                </a:lnTo>
                <a:cubicBezTo>
                  <a:pt x="98231" y="93776"/>
                  <a:pt x="101814" y="90193"/>
                  <a:pt x="101814" y="85738"/>
                </a:cubicBezTo>
                <a:cubicBezTo>
                  <a:pt x="101814" y="81284"/>
                  <a:pt x="98231" y="77700"/>
                  <a:pt x="93776" y="77700"/>
                </a:cubicBezTo>
                <a:lnTo>
                  <a:pt x="34831" y="77700"/>
                </a:ln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237178" y="2194903"/>
            <a:ext cx="565873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5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Invoice</a:t>
            </a:r>
            <a:endParaRPr b="0" i="0" sz="1600" u="none" cap="none" strike="noStrike"/>
          </a:p>
        </p:txBody>
      </p:sp>
      <p:sp>
        <p:nvSpPr>
          <p:cNvPr id="96" name="Google Shape;96;p6"/>
          <p:cNvSpPr/>
          <p:nvPr/>
        </p:nvSpPr>
        <p:spPr>
          <a:xfrm>
            <a:off x="9248172" y="2057722"/>
            <a:ext cx="2332084" cy="514430"/>
          </a:xfrm>
          <a:custGeom>
            <a:rect b="b" l="l" r="r" t="t"/>
            <a:pathLst>
              <a:path extrusionOk="0" h="514430" w="2332084">
                <a:moveTo>
                  <a:pt x="68589" y="0"/>
                </a:moveTo>
                <a:lnTo>
                  <a:pt x="2263495" y="0"/>
                </a:lnTo>
                <a:cubicBezTo>
                  <a:pt x="2301351" y="0"/>
                  <a:pt x="2332084" y="30734"/>
                  <a:pt x="2332084" y="68589"/>
                </a:cubicBezTo>
                <a:lnTo>
                  <a:pt x="2332084" y="445841"/>
                </a:lnTo>
                <a:cubicBezTo>
                  <a:pt x="2332084" y="483697"/>
                  <a:pt x="2301351" y="514430"/>
                  <a:pt x="2263495" y="514430"/>
                </a:cubicBezTo>
                <a:lnTo>
                  <a:pt x="68589" y="514430"/>
                </a:lnTo>
                <a:cubicBezTo>
                  <a:pt x="30734" y="514430"/>
                  <a:pt x="0" y="483697"/>
                  <a:pt x="0" y="445841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9406788" y="2229198"/>
            <a:ext cx="171477" cy="171477"/>
          </a:xfrm>
          <a:custGeom>
            <a:rect b="b" l="l" r="r" t="t"/>
            <a:pathLst>
              <a:path extrusionOk="0" h="171477" w="171477">
                <a:moveTo>
                  <a:pt x="75021" y="0"/>
                </a:moveTo>
                <a:lnTo>
                  <a:pt x="75021" y="21435"/>
                </a:lnTo>
                <a:cubicBezTo>
                  <a:pt x="75021" y="24382"/>
                  <a:pt x="77432" y="26793"/>
                  <a:pt x="80380" y="26793"/>
                </a:cubicBezTo>
                <a:lnTo>
                  <a:pt x="91097" y="26793"/>
                </a:lnTo>
                <a:cubicBezTo>
                  <a:pt x="94044" y="26793"/>
                  <a:pt x="96456" y="24382"/>
                  <a:pt x="96456" y="21435"/>
                </a:cubicBezTo>
                <a:lnTo>
                  <a:pt x="96456" y="0"/>
                </a:lnTo>
                <a:lnTo>
                  <a:pt x="107173" y="0"/>
                </a:lnTo>
                <a:cubicBezTo>
                  <a:pt x="118996" y="0"/>
                  <a:pt x="128608" y="9612"/>
                  <a:pt x="128608" y="21435"/>
                </a:cubicBezTo>
                <a:lnTo>
                  <a:pt x="128608" y="64304"/>
                </a:lnTo>
                <a:cubicBezTo>
                  <a:pt x="128608" y="66146"/>
                  <a:pt x="128373" y="67954"/>
                  <a:pt x="127938" y="69662"/>
                </a:cubicBezTo>
                <a:lnTo>
                  <a:pt x="43539" y="69662"/>
                </a:lnTo>
                <a:cubicBezTo>
                  <a:pt x="43104" y="67954"/>
                  <a:pt x="42869" y="66146"/>
                  <a:pt x="42869" y="64304"/>
                </a:cubicBezTo>
                <a:lnTo>
                  <a:pt x="42869" y="21435"/>
                </a:lnTo>
                <a:cubicBezTo>
                  <a:pt x="42869" y="9612"/>
                  <a:pt x="52481" y="0"/>
                  <a:pt x="64304" y="0"/>
                </a:cubicBezTo>
                <a:lnTo>
                  <a:pt x="75021" y="0"/>
                </a:lnTo>
                <a:close/>
                <a:moveTo>
                  <a:pt x="107173" y="171477"/>
                </a:moveTo>
                <a:cubicBezTo>
                  <a:pt x="103422" y="171477"/>
                  <a:pt x="99872" y="170506"/>
                  <a:pt x="96791" y="168797"/>
                </a:cubicBezTo>
                <a:cubicBezTo>
                  <a:pt x="99972" y="163271"/>
                  <a:pt x="101814" y="156874"/>
                  <a:pt x="101814" y="150042"/>
                </a:cubicBezTo>
                <a:lnTo>
                  <a:pt x="101814" y="107173"/>
                </a:lnTo>
                <a:cubicBezTo>
                  <a:pt x="101814" y="100341"/>
                  <a:pt x="99972" y="93944"/>
                  <a:pt x="96791" y="88418"/>
                </a:cubicBezTo>
                <a:cubicBezTo>
                  <a:pt x="99872" y="86710"/>
                  <a:pt x="103388" y="85738"/>
                  <a:pt x="107173" y="85738"/>
                </a:cubicBezTo>
                <a:lnTo>
                  <a:pt x="117890" y="85738"/>
                </a:lnTo>
                <a:lnTo>
                  <a:pt x="117890" y="107173"/>
                </a:lnTo>
                <a:cubicBezTo>
                  <a:pt x="117890" y="110120"/>
                  <a:pt x="120302" y="112532"/>
                  <a:pt x="123249" y="112532"/>
                </a:cubicBezTo>
                <a:lnTo>
                  <a:pt x="133966" y="112532"/>
                </a:lnTo>
                <a:cubicBezTo>
                  <a:pt x="136914" y="112532"/>
                  <a:pt x="139325" y="110120"/>
                  <a:pt x="139325" y="107173"/>
                </a:cubicBezTo>
                <a:lnTo>
                  <a:pt x="139325" y="85738"/>
                </a:lnTo>
                <a:lnTo>
                  <a:pt x="150042" y="85738"/>
                </a:lnTo>
                <a:cubicBezTo>
                  <a:pt x="161865" y="85738"/>
                  <a:pt x="171477" y="95350"/>
                  <a:pt x="171477" y="107173"/>
                </a:cubicBezTo>
                <a:lnTo>
                  <a:pt x="171477" y="150042"/>
                </a:lnTo>
                <a:cubicBezTo>
                  <a:pt x="171477" y="161865"/>
                  <a:pt x="161865" y="171477"/>
                  <a:pt x="150042" y="171477"/>
                </a:cubicBezTo>
                <a:lnTo>
                  <a:pt x="107173" y="171477"/>
                </a:lnTo>
                <a:close/>
                <a:moveTo>
                  <a:pt x="0" y="107173"/>
                </a:moveTo>
                <a:cubicBezTo>
                  <a:pt x="0" y="95350"/>
                  <a:pt x="9612" y="85738"/>
                  <a:pt x="21435" y="85738"/>
                </a:cubicBezTo>
                <a:lnTo>
                  <a:pt x="32152" y="85738"/>
                </a:lnTo>
                <a:lnTo>
                  <a:pt x="32152" y="107173"/>
                </a:lnTo>
                <a:cubicBezTo>
                  <a:pt x="32152" y="110120"/>
                  <a:pt x="34563" y="112532"/>
                  <a:pt x="37511" y="112532"/>
                </a:cubicBezTo>
                <a:lnTo>
                  <a:pt x="48228" y="112532"/>
                </a:lnTo>
                <a:cubicBezTo>
                  <a:pt x="51175" y="112532"/>
                  <a:pt x="53586" y="110120"/>
                  <a:pt x="53586" y="107173"/>
                </a:cubicBezTo>
                <a:lnTo>
                  <a:pt x="53586" y="85738"/>
                </a:lnTo>
                <a:lnTo>
                  <a:pt x="64304" y="85738"/>
                </a:lnTo>
                <a:cubicBezTo>
                  <a:pt x="76126" y="85738"/>
                  <a:pt x="85738" y="95350"/>
                  <a:pt x="85738" y="107173"/>
                </a:cubicBezTo>
                <a:lnTo>
                  <a:pt x="85738" y="150042"/>
                </a:lnTo>
                <a:cubicBezTo>
                  <a:pt x="85738" y="161865"/>
                  <a:pt x="76126" y="171477"/>
                  <a:pt x="64304" y="171477"/>
                </a:cubicBezTo>
                <a:lnTo>
                  <a:pt x="21435" y="171477"/>
                </a:lnTo>
                <a:cubicBezTo>
                  <a:pt x="9612" y="171477"/>
                  <a:pt x="0" y="161865"/>
                  <a:pt x="0" y="150042"/>
                </a:cubicBezTo>
                <a:lnTo>
                  <a:pt x="0" y="107173"/>
                </a:ln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702586" y="2194903"/>
            <a:ext cx="660186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5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Quantity</a:t>
            </a:r>
            <a:endParaRPr b="0" i="0" sz="1600" u="none" cap="none" strike="noStrike"/>
          </a:p>
        </p:txBody>
      </p:sp>
      <p:sp>
        <p:nvSpPr>
          <p:cNvPr id="99" name="Google Shape;99;p6"/>
          <p:cNvSpPr/>
          <p:nvPr/>
        </p:nvSpPr>
        <p:spPr>
          <a:xfrm>
            <a:off x="6782765" y="2709333"/>
            <a:ext cx="2332084" cy="514430"/>
          </a:xfrm>
          <a:custGeom>
            <a:rect b="b" l="l" r="r" t="t"/>
            <a:pathLst>
              <a:path extrusionOk="0" h="514430" w="2332084">
                <a:moveTo>
                  <a:pt x="68589" y="0"/>
                </a:moveTo>
                <a:lnTo>
                  <a:pt x="2263495" y="0"/>
                </a:lnTo>
                <a:cubicBezTo>
                  <a:pt x="2301351" y="0"/>
                  <a:pt x="2332084" y="30734"/>
                  <a:pt x="2332084" y="68589"/>
                </a:cubicBezTo>
                <a:lnTo>
                  <a:pt x="2332084" y="445841"/>
                </a:lnTo>
                <a:cubicBezTo>
                  <a:pt x="2332084" y="483697"/>
                  <a:pt x="2301351" y="514430"/>
                  <a:pt x="2263495" y="514430"/>
                </a:cubicBezTo>
                <a:lnTo>
                  <a:pt x="68589" y="514430"/>
                </a:lnTo>
                <a:cubicBezTo>
                  <a:pt x="30734" y="514430"/>
                  <a:pt x="0" y="483697"/>
                  <a:pt x="0" y="445841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941381" y="2880810"/>
            <a:ext cx="171477" cy="171477"/>
          </a:xfrm>
          <a:custGeom>
            <a:rect b="b" l="l" r="r" t="t"/>
            <a:pathLst>
              <a:path extrusionOk="0" h="171477" w="171477">
                <a:moveTo>
                  <a:pt x="10885" y="32152"/>
                </a:moveTo>
                <a:lnTo>
                  <a:pt x="10885" y="82222"/>
                </a:lnTo>
                <a:cubicBezTo>
                  <a:pt x="10885" y="87915"/>
                  <a:pt x="13129" y="93374"/>
                  <a:pt x="17148" y="97393"/>
                </a:cubicBezTo>
                <a:lnTo>
                  <a:pt x="81451" y="161697"/>
                </a:lnTo>
                <a:cubicBezTo>
                  <a:pt x="89824" y="170070"/>
                  <a:pt x="103388" y="170070"/>
                  <a:pt x="111761" y="161697"/>
                </a:cubicBezTo>
                <a:lnTo>
                  <a:pt x="161831" y="111627"/>
                </a:lnTo>
                <a:cubicBezTo>
                  <a:pt x="170204" y="103254"/>
                  <a:pt x="170204" y="89690"/>
                  <a:pt x="161831" y="81318"/>
                </a:cubicBezTo>
                <a:lnTo>
                  <a:pt x="97527" y="17014"/>
                </a:lnTo>
                <a:cubicBezTo>
                  <a:pt x="93508" y="12961"/>
                  <a:pt x="88083" y="10717"/>
                  <a:pt x="82389" y="10717"/>
                </a:cubicBezTo>
                <a:lnTo>
                  <a:pt x="32319" y="10717"/>
                </a:lnTo>
                <a:cubicBezTo>
                  <a:pt x="20497" y="10717"/>
                  <a:pt x="10885" y="20329"/>
                  <a:pt x="10885" y="32152"/>
                </a:cubicBezTo>
                <a:close/>
                <a:moveTo>
                  <a:pt x="48395" y="37511"/>
                </a:moveTo>
                <a:cubicBezTo>
                  <a:pt x="54310" y="37511"/>
                  <a:pt x="59113" y="42313"/>
                  <a:pt x="59113" y="48228"/>
                </a:cubicBezTo>
                <a:cubicBezTo>
                  <a:pt x="59113" y="54143"/>
                  <a:pt x="54310" y="58945"/>
                  <a:pt x="48395" y="58945"/>
                </a:cubicBezTo>
                <a:cubicBezTo>
                  <a:pt x="42480" y="58945"/>
                  <a:pt x="37678" y="54143"/>
                  <a:pt x="37678" y="48228"/>
                </a:cubicBezTo>
                <a:cubicBezTo>
                  <a:pt x="37678" y="42313"/>
                  <a:pt x="42480" y="37511"/>
                  <a:pt x="48395" y="37511"/>
                </a:cubicBez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7237178" y="2846515"/>
            <a:ext cx="428692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5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Price</a:t>
            </a:r>
            <a:endParaRPr b="0" i="0" sz="1600" u="none" cap="none" strike="noStrike"/>
          </a:p>
        </p:txBody>
      </p:sp>
      <p:sp>
        <p:nvSpPr>
          <p:cNvPr id="102" name="Google Shape;102;p6"/>
          <p:cNvSpPr/>
          <p:nvPr/>
        </p:nvSpPr>
        <p:spPr>
          <a:xfrm>
            <a:off x="9248172" y="2709333"/>
            <a:ext cx="2332084" cy="514430"/>
          </a:xfrm>
          <a:custGeom>
            <a:rect b="b" l="l" r="r" t="t"/>
            <a:pathLst>
              <a:path extrusionOk="0" h="514430" w="2332084">
                <a:moveTo>
                  <a:pt x="68589" y="0"/>
                </a:moveTo>
                <a:lnTo>
                  <a:pt x="2263495" y="0"/>
                </a:lnTo>
                <a:cubicBezTo>
                  <a:pt x="2301351" y="0"/>
                  <a:pt x="2332084" y="30734"/>
                  <a:pt x="2332084" y="68589"/>
                </a:cubicBezTo>
                <a:lnTo>
                  <a:pt x="2332084" y="445841"/>
                </a:lnTo>
                <a:cubicBezTo>
                  <a:pt x="2332084" y="483697"/>
                  <a:pt x="2301351" y="514430"/>
                  <a:pt x="2263495" y="514430"/>
                </a:cubicBezTo>
                <a:lnTo>
                  <a:pt x="68589" y="514430"/>
                </a:lnTo>
                <a:cubicBezTo>
                  <a:pt x="30734" y="514430"/>
                  <a:pt x="0" y="483697"/>
                  <a:pt x="0" y="445841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9417506" y="2880810"/>
            <a:ext cx="150042" cy="171477"/>
          </a:xfrm>
          <a:custGeom>
            <a:rect b="b" l="l" r="r" t="t"/>
            <a:pathLst>
              <a:path extrusionOk="0" h="171477" w="150042">
                <a:moveTo>
                  <a:pt x="42869" y="0"/>
                </a:moveTo>
                <a:cubicBezTo>
                  <a:pt x="36941" y="0"/>
                  <a:pt x="32152" y="4789"/>
                  <a:pt x="32152" y="10717"/>
                </a:cubicBezTo>
                <a:lnTo>
                  <a:pt x="32152" y="21435"/>
                </a:lnTo>
                <a:lnTo>
                  <a:pt x="21435" y="21435"/>
                </a:lnTo>
                <a:cubicBezTo>
                  <a:pt x="9612" y="21435"/>
                  <a:pt x="0" y="31047"/>
                  <a:pt x="0" y="42869"/>
                </a:cubicBezTo>
                <a:lnTo>
                  <a:pt x="0" y="58945"/>
                </a:lnTo>
                <a:lnTo>
                  <a:pt x="150042" y="58945"/>
                </a:lnTo>
                <a:lnTo>
                  <a:pt x="150042" y="42869"/>
                </a:lnTo>
                <a:cubicBezTo>
                  <a:pt x="150042" y="31047"/>
                  <a:pt x="140430" y="21435"/>
                  <a:pt x="128608" y="21435"/>
                </a:cubicBezTo>
                <a:lnTo>
                  <a:pt x="117890" y="21435"/>
                </a:lnTo>
                <a:lnTo>
                  <a:pt x="117890" y="10717"/>
                </a:lnTo>
                <a:cubicBezTo>
                  <a:pt x="117890" y="4789"/>
                  <a:pt x="113101" y="0"/>
                  <a:pt x="107173" y="0"/>
                </a:cubicBezTo>
                <a:cubicBezTo>
                  <a:pt x="101245" y="0"/>
                  <a:pt x="96456" y="4789"/>
                  <a:pt x="96456" y="10717"/>
                </a:cubicBezTo>
                <a:lnTo>
                  <a:pt x="96456" y="21435"/>
                </a:lnTo>
                <a:lnTo>
                  <a:pt x="53586" y="21435"/>
                </a:lnTo>
                <a:lnTo>
                  <a:pt x="53586" y="10717"/>
                </a:lnTo>
                <a:cubicBezTo>
                  <a:pt x="53586" y="4789"/>
                  <a:pt x="48797" y="0"/>
                  <a:pt x="42869" y="0"/>
                </a:cubicBezTo>
                <a:close/>
                <a:moveTo>
                  <a:pt x="0" y="75021"/>
                </a:moveTo>
                <a:lnTo>
                  <a:pt x="0" y="139325"/>
                </a:lnTo>
                <a:cubicBezTo>
                  <a:pt x="0" y="151147"/>
                  <a:pt x="9612" y="160759"/>
                  <a:pt x="21435" y="160759"/>
                </a:cubicBezTo>
                <a:lnTo>
                  <a:pt x="128608" y="160759"/>
                </a:lnTo>
                <a:cubicBezTo>
                  <a:pt x="140430" y="160759"/>
                  <a:pt x="150042" y="151147"/>
                  <a:pt x="150042" y="139325"/>
                </a:cubicBezTo>
                <a:lnTo>
                  <a:pt x="150042" y="75021"/>
                </a:lnTo>
                <a:lnTo>
                  <a:pt x="0" y="75021"/>
                </a:ln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9702586" y="2846515"/>
            <a:ext cx="394397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5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Date</a:t>
            </a:r>
            <a:endParaRPr b="0" i="0" sz="1600" u="none" cap="none" strike="noStrike"/>
          </a:p>
        </p:txBody>
      </p:sp>
      <p:sp>
        <p:nvSpPr>
          <p:cNvPr id="105" name="Google Shape;105;p6"/>
          <p:cNvSpPr/>
          <p:nvPr/>
        </p:nvSpPr>
        <p:spPr>
          <a:xfrm>
            <a:off x="6782765" y="3360945"/>
            <a:ext cx="2332084" cy="514430"/>
          </a:xfrm>
          <a:custGeom>
            <a:rect b="b" l="l" r="r" t="t"/>
            <a:pathLst>
              <a:path extrusionOk="0" h="514430" w="2332084">
                <a:moveTo>
                  <a:pt x="68589" y="0"/>
                </a:moveTo>
                <a:lnTo>
                  <a:pt x="2263495" y="0"/>
                </a:lnTo>
                <a:cubicBezTo>
                  <a:pt x="2301351" y="0"/>
                  <a:pt x="2332084" y="30734"/>
                  <a:pt x="2332084" y="68589"/>
                </a:cubicBezTo>
                <a:lnTo>
                  <a:pt x="2332084" y="445841"/>
                </a:lnTo>
                <a:cubicBezTo>
                  <a:pt x="2332084" y="483697"/>
                  <a:pt x="2301351" y="514430"/>
                  <a:pt x="2263495" y="514430"/>
                </a:cubicBezTo>
                <a:lnTo>
                  <a:pt x="68589" y="514430"/>
                </a:lnTo>
                <a:cubicBezTo>
                  <a:pt x="30734" y="514430"/>
                  <a:pt x="0" y="483697"/>
                  <a:pt x="0" y="445841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952098" y="3532422"/>
            <a:ext cx="150042" cy="171477"/>
          </a:xfrm>
          <a:custGeom>
            <a:rect b="b" l="l" r="r" t="t"/>
            <a:pathLst>
              <a:path extrusionOk="0" h="171477" w="150042">
                <a:moveTo>
                  <a:pt x="75021" y="83059"/>
                </a:moveTo>
                <a:cubicBezTo>
                  <a:pt x="97202" y="83059"/>
                  <a:pt x="115211" y="65051"/>
                  <a:pt x="115211" y="42869"/>
                </a:cubicBezTo>
                <a:cubicBezTo>
                  <a:pt x="115211" y="20688"/>
                  <a:pt x="97202" y="2679"/>
                  <a:pt x="75021" y="2679"/>
                </a:cubicBezTo>
                <a:cubicBezTo>
                  <a:pt x="52840" y="2679"/>
                  <a:pt x="34831" y="20688"/>
                  <a:pt x="34831" y="42869"/>
                </a:cubicBezTo>
                <a:cubicBezTo>
                  <a:pt x="34831" y="65051"/>
                  <a:pt x="52840" y="83059"/>
                  <a:pt x="75021" y="83059"/>
                </a:cubicBezTo>
                <a:close/>
                <a:moveTo>
                  <a:pt x="65074" y="101814"/>
                </a:moveTo>
                <a:cubicBezTo>
                  <a:pt x="32085" y="101814"/>
                  <a:pt x="5359" y="128541"/>
                  <a:pt x="5359" y="161530"/>
                </a:cubicBezTo>
                <a:cubicBezTo>
                  <a:pt x="5359" y="167022"/>
                  <a:pt x="9813" y="171477"/>
                  <a:pt x="15306" y="171477"/>
                </a:cubicBezTo>
                <a:lnTo>
                  <a:pt x="134737" y="171477"/>
                </a:lnTo>
                <a:cubicBezTo>
                  <a:pt x="140229" y="171477"/>
                  <a:pt x="144684" y="167022"/>
                  <a:pt x="144684" y="161530"/>
                </a:cubicBezTo>
                <a:cubicBezTo>
                  <a:pt x="144684" y="128541"/>
                  <a:pt x="117957" y="101814"/>
                  <a:pt x="84968" y="101814"/>
                </a:cubicBezTo>
                <a:lnTo>
                  <a:pt x="65074" y="101814"/>
                </a:ln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237178" y="3498127"/>
            <a:ext cx="900253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5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CustomerID</a:t>
            </a:r>
            <a:endParaRPr b="0" i="0" sz="1600" u="none" cap="none" strike="noStrike"/>
          </a:p>
        </p:txBody>
      </p:sp>
      <p:sp>
        <p:nvSpPr>
          <p:cNvPr id="108" name="Google Shape;108;p6"/>
          <p:cNvSpPr/>
          <p:nvPr/>
        </p:nvSpPr>
        <p:spPr>
          <a:xfrm>
            <a:off x="9248172" y="3360945"/>
            <a:ext cx="2332084" cy="514430"/>
          </a:xfrm>
          <a:custGeom>
            <a:rect b="b" l="l" r="r" t="t"/>
            <a:pathLst>
              <a:path extrusionOk="0" h="514430" w="2332084">
                <a:moveTo>
                  <a:pt x="68589" y="0"/>
                </a:moveTo>
                <a:lnTo>
                  <a:pt x="2263495" y="0"/>
                </a:lnTo>
                <a:cubicBezTo>
                  <a:pt x="2301351" y="0"/>
                  <a:pt x="2332084" y="30734"/>
                  <a:pt x="2332084" y="68589"/>
                </a:cubicBezTo>
                <a:lnTo>
                  <a:pt x="2332084" y="445841"/>
                </a:lnTo>
                <a:cubicBezTo>
                  <a:pt x="2332084" y="483697"/>
                  <a:pt x="2301351" y="514430"/>
                  <a:pt x="2263495" y="514430"/>
                </a:cubicBezTo>
                <a:lnTo>
                  <a:pt x="68589" y="514430"/>
                </a:lnTo>
                <a:cubicBezTo>
                  <a:pt x="30734" y="514430"/>
                  <a:pt x="0" y="483697"/>
                  <a:pt x="0" y="445841"/>
                </a:cubicBezTo>
                <a:lnTo>
                  <a:pt x="0" y="68589"/>
                </a:lnTo>
                <a:cubicBezTo>
                  <a:pt x="0" y="30734"/>
                  <a:pt x="30734" y="0"/>
                  <a:pt x="68589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9406788" y="3532422"/>
            <a:ext cx="171477" cy="171477"/>
          </a:xfrm>
          <a:custGeom>
            <a:rect b="b" l="l" r="r" t="t"/>
            <a:pathLst>
              <a:path extrusionOk="0" h="171477" w="171477">
                <a:moveTo>
                  <a:pt x="117857" y="93776"/>
                </a:moveTo>
                <a:lnTo>
                  <a:pt x="53921" y="93776"/>
                </a:lnTo>
                <a:cubicBezTo>
                  <a:pt x="54893" y="115378"/>
                  <a:pt x="59682" y="135272"/>
                  <a:pt x="66481" y="149841"/>
                </a:cubicBezTo>
                <a:cubicBezTo>
                  <a:pt x="70299" y="158047"/>
                  <a:pt x="74418" y="163841"/>
                  <a:pt x="78236" y="167391"/>
                </a:cubicBezTo>
                <a:cubicBezTo>
                  <a:pt x="81987" y="170907"/>
                  <a:pt x="84566" y="171477"/>
                  <a:pt x="85906" y="171477"/>
                </a:cubicBezTo>
                <a:cubicBezTo>
                  <a:pt x="87246" y="171477"/>
                  <a:pt x="89824" y="170907"/>
                  <a:pt x="93575" y="167391"/>
                </a:cubicBezTo>
                <a:cubicBezTo>
                  <a:pt x="97393" y="163841"/>
                  <a:pt x="101513" y="158013"/>
                  <a:pt x="105331" y="149841"/>
                </a:cubicBezTo>
                <a:cubicBezTo>
                  <a:pt x="112130" y="135272"/>
                  <a:pt x="116919" y="115378"/>
                  <a:pt x="117890" y="93776"/>
                </a:cubicBezTo>
                <a:close/>
                <a:moveTo>
                  <a:pt x="53888" y="77700"/>
                </a:moveTo>
                <a:lnTo>
                  <a:pt x="117823" y="77700"/>
                </a:lnTo>
                <a:cubicBezTo>
                  <a:pt x="116886" y="56098"/>
                  <a:pt x="112096" y="36204"/>
                  <a:pt x="105297" y="21636"/>
                </a:cubicBezTo>
                <a:cubicBezTo>
                  <a:pt x="101479" y="13464"/>
                  <a:pt x="97360" y="7636"/>
                  <a:pt x="93542" y="4086"/>
                </a:cubicBezTo>
                <a:cubicBezTo>
                  <a:pt x="89791" y="569"/>
                  <a:pt x="87212" y="0"/>
                  <a:pt x="85872" y="0"/>
                </a:cubicBezTo>
                <a:cubicBezTo>
                  <a:pt x="84533" y="0"/>
                  <a:pt x="81954" y="569"/>
                  <a:pt x="78203" y="4086"/>
                </a:cubicBezTo>
                <a:cubicBezTo>
                  <a:pt x="74385" y="7636"/>
                  <a:pt x="70265" y="13464"/>
                  <a:pt x="66447" y="21636"/>
                </a:cubicBezTo>
                <a:cubicBezTo>
                  <a:pt x="59648" y="36204"/>
                  <a:pt x="54859" y="56098"/>
                  <a:pt x="53888" y="77700"/>
                </a:cubicBezTo>
                <a:close/>
                <a:moveTo>
                  <a:pt x="37812" y="77700"/>
                </a:moveTo>
                <a:cubicBezTo>
                  <a:pt x="38984" y="49032"/>
                  <a:pt x="46386" y="22406"/>
                  <a:pt x="57204" y="4923"/>
                </a:cubicBezTo>
                <a:cubicBezTo>
                  <a:pt x="26358" y="15842"/>
                  <a:pt x="3651" y="43941"/>
                  <a:pt x="502" y="77700"/>
                </a:cubicBezTo>
                <a:lnTo>
                  <a:pt x="37812" y="77700"/>
                </a:lnTo>
                <a:close/>
                <a:moveTo>
                  <a:pt x="502" y="93776"/>
                </a:moveTo>
                <a:cubicBezTo>
                  <a:pt x="3651" y="127536"/>
                  <a:pt x="26358" y="155635"/>
                  <a:pt x="57204" y="166554"/>
                </a:cubicBezTo>
                <a:cubicBezTo>
                  <a:pt x="46386" y="149071"/>
                  <a:pt x="38984" y="122445"/>
                  <a:pt x="37812" y="93776"/>
                </a:cubicBezTo>
                <a:lnTo>
                  <a:pt x="502" y="93776"/>
                </a:lnTo>
                <a:close/>
                <a:moveTo>
                  <a:pt x="133933" y="93776"/>
                </a:moveTo>
                <a:cubicBezTo>
                  <a:pt x="132761" y="122445"/>
                  <a:pt x="125359" y="149071"/>
                  <a:pt x="114541" y="166554"/>
                </a:cubicBezTo>
                <a:cubicBezTo>
                  <a:pt x="145387" y="155602"/>
                  <a:pt x="168094" y="127536"/>
                  <a:pt x="171242" y="93776"/>
                </a:cubicBezTo>
                <a:lnTo>
                  <a:pt x="133933" y="93776"/>
                </a:lnTo>
                <a:close/>
                <a:moveTo>
                  <a:pt x="171242" y="77700"/>
                </a:moveTo>
                <a:cubicBezTo>
                  <a:pt x="168094" y="43941"/>
                  <a:pt x="145387" y="15842"/>
                  <a:pt x="114541" y="4923"/>
                </a:cubicBezTo>
                <a:cubicBezTo>
                  <a:pt x="125359" y="22406"/>
                  <a:pt x="132761" y="49032"/>
                  <a:pt x="133933" y="77700"/>
                </a:cubicBezTo>
                <a:lnTo>
                  <a:pt x="171242" y="77700"/>
                </a:ln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9702586" y="3498127"/>
            <a:ext cx="625890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5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Country</a:t>
            </a:r>
            <a:endParaRPr b="0" i="0" sz="1600" u="none" cap="none" strike="noStrike"/>
          </a:p>
        </p:txBody>
      </p:sp>
      <p:sp>
        <p:nvSpPr>
          <p:cNvPr id="111" name="Google Shape;111;p6"/>
          <p:cNvSpPr/>
          <p:nvPr/>
        </p:nvSpPr>
        <p:spPr>
          <a:xfrm>
            <a:off x="342954" y="5110008"/>
            <a:ext cx="11506093" cy="1749063"/>
          </a:xfrm>
          <a:custGeom>
            <a:rect b="b" l="l" r="r" t="t"/>
            <a:pathLst>
              <a:path extrusionOk="0" h="1749063" w="11506093">
                <a:moveTo>
                  <a:pt x="137179" y="0"/>
                </a:moveTo>
                <a:lnTo>
                  <a:pt x="11368914" y="0"/>
                </a:lnTo>
                <a:cubicBezTo>
                  <a:pt x="11444676" y="0"/>
                  <a:pt x="11506093" y="61417"/>
                  <a:pt x="11506093" y="137179"/>
                </a:cubicBezTo>
                <a:lnTo>
                  <a:pt x="11506093" y="1611884"/>
                </a:lnTo>
                <a:cubicBezTo>
                  <a:pt x="11506093" y="1687646"/>
                  <a:pt x="11444676" y="1749063"/>
                  <a:pt x="11368914" y="1749063"/>
                </a:cubicBezTo>
                <a:lnTo>
                  <a:pt x="137179" y="1749063"/>
                </a:lnTo>
                <a:cubicBezTo>
                  <a:pt x="61468" y="1749063"/>
                  <a:pt x="0" y="1687595"/>
                  <a:pt x="0" y="1611884"/>
                </a:cubicBezTo>
                <a:lnTo>
                  <a:pt x="0" y="137179"/>
                </a:lnTo>
                <a:cubicBezTo>
                  <a:pt x="0" y="61468"/>
                  <a:pt x="61468" y="0"/>
                  <a:pt x="13717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722" rotWithShape="0" algn="bl" dir="5400000" dist="8574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548726" y="5315781"/>
            <a:ext cx="342954" cy="342954"/>
          </a:xfrm>
          <a:custGeom>
            <a:rect b="b" l="l" r="r" t="t"/>
            <a:pathLst>
              <a:path extrusionOk="0" h="342954" w="342954">
                <a:moveTo>
                  <a:pt x="171477" y="0"/>
                </a:moveTo>
                <a:lnTo>
                  <a:pt x="171477" y="0"/>
                </a:lnTo>
                <a:cubicBezTo>
                  <a:pt x="266181" y="0"/>
                  <a:pt x="342954" y="76773"/>
                  <a:pt x="342954" y="171477"/>
                </a:cubicBezTo>
                <a:lnTo>
                  <a:pt x="342954" y="171477"/>
                </a:lnTo>
                <a:cubicBezTo>
                  <a:pt x="342954" y="266181"/>
                  <a:pt x="266181" y="342954"/>
                  <a:pt x="171477" y="342954"/>
                </a:cubicBezTo>
                <a:lnTo>
                  <a:pt x="171477" y="342954"/>
                </a:lnTo>
                <a:cubicBezTo>
                  <a:pt x="76773" y="342954"/>
                  <a:pt x="0" y="266181"/>
                  <a:pt x="0" y="171477"/>
                </a:cubicBezTo>
                <a:lnTo>
                  <a:pt x="0" y="171477"/>
                </a:lnTo>
                <a:cubicBezTo>
                  <a:pt x="0" y="76773"/>
                  <a:pt x="76773" y="0"/>
                  <a:pt x="171477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34464" y="5401519"/>
            <a:ext cx="171477" cy="171477"/>
          </a:xfrm>
          <a:custGeom>
            <a:rect b="b" l="l" r="r" t="t"/>
            <a:pathLst>
              <a:path extrusionOk="0" h="171477" w="171477">
                <a:moveTo>
                  <a:pt x="150042" y="85738"/>
                </a:moveTo>
                <a:cubicBezTo>
                  <a:pt x="150042" y="50248"/>
                  <a:pt x="121229" y="21435"/>
                  <a:pt x="85738" y="21435"/>
                </a:cubicBezTo>
                <a:cubicBezTo>
                  <a:pt x="50248" y="21435"/>
                  <a:pt x="21435" y="50248"/>
                  <a:pt x="21435" y="85738"/>
                </a:cubicBezTo>
                <a:cubicBezTo>
                  <a:pt x="21435" y="121229"/>
                  <a:pt x="50248" y="150042"/>
                  <a:pt x="85738" y="150042"/>
                </a:cubicBezTo>
                <a:cubicBezTo>
                  <a:pt x="121229" y="150042"/>
                  <a:pt x="150042" y="121229"/>
                  <a:pt x="150042" y="85738"/>
                </a:cubicBezTo>
                <a:close/>
                <a:moveTo>
                  <a:pt x="0" y="85738"/>
                </a:moveTo>
                <a:cubicBezTo>
                  <a:pt x="0" y="38418"/>
                  <a:pt x="38418" y="0"/>
                  <a:pt x="85738" y="0"/>
                </a:cubicBezTo>
                <a:cubicBezTo>
                  <a:pt x="133059" y="0"/>
                  <a:pt x="171477" y="38418"/>
                  <a:pt x="171477" y="85738"/>
                </a:cubicBezTo>
                <a:cubicBezTo>
                  <a:pt x="171477" y="133059"/>
                  <a:pt x="133059" y="171477"/>
                  <a:pt x="85738" y="171477"/>
                </a:cubicBezTo>
                <a:cubicBezTo>
                  <a:pt x="38418" y="171477"/>
                  <a:pt x="0" y="133059"/>
                  <a:pt x="0" y="85738"/>
                </a:cubicBezTo>
                <a:close/>
                <a:moveTo>
                  <a:pt x="85738" y="112532"/>
                </a:moveTo>
                <a:cubicBezTo>
                  <a:pt x="100526" y="112532"/>
                  <a:pt x="112532" y="100526"/>
                  <a:pt x="112532" y="85738"/>
                </a:cubicBezTo>
                <a:cubicBezTo>
                  <a:pt x="112532" y="70951"/>
                  <a:pt x="100526" y="58945"/>
                  <a:pt x="85738" y="58945"/>
                </a:cubicBezTo>
                <a:cubicBezTo>
                  <a:pt x="70951" y="58945"/>
                  <a:pt x="58945" y="70951"/>
                  <a:pt x="58945" y="85738"/>
                </a:cubicBezTo>
                <a:cubicBezTo>
                  <a:pt x="58945" y="100526"/>
                  <a:pt x="70951" y="112532"/>
                  <a:pt x="85738" y="112532"/>
                </a:cubicBezTo>
                <a:close/>
                <a:moveTo>
                  <a:pt x="85738" y="37511"/>
                </a:moveTo>
                <a:cubicBezTo>
                  <a:pt x="112356" y="37511"/>
                  <a:pt x="133966" y="59121"/>
                  <a:pt x="133966" y="85738"/>
                </a:cubicBezTo>
                <a:cubicBezTo>
                  <a:pt x="133966" y="112356"/>
                  <a:pt x="112356" y="133966"/>
                  <a:pt x="85738" y="133966"/>
                </a:cubicBezTo>
                <a:cubicBezTo>
                  <a:pt x="59121" y="133966"/>
                  <a:pt x="37511" y="112356"/>
                  <a:pt x="37511" y="85738"/>
                </a:cubicBezTo>
                <a:cubicBezTo>
                  <a:pt x="37511" y="59121"/>
                  <a:pt x="59121" y="37511"/>
                  <a:pt x="85738" y="37511"/>
                </a:cubicBezTo>
                <a:close/>
                <a:moveTo>
                  <a:pt x="75021" y="85738"/>
                </a:moveTo>
                <a:cubicBezTo>
                  <a:pt x="75021" y="79823"/>
                  <a:pt x="79823" y="75021"/>
                  <a:pt x="85738" y="75021"/>
                </a:cubicBezTo>
                <a:cubicBezTo>
                  <a:pt x="91653" y="75021"/>
                  <a:pt x="96456" y="79823"/>
                  <a:pt x="96456" y="85738"/>
                </a:cubicBezTo>
                <a:cubicBezTo>
                  <a:pt x="96456" y="91653"/>
                  <a:pt x="91653" y="96456"/>
                  <a:pt x="85738" y="96456"/>
                </a:cubicBezTo>
                <a:cubicBezTo>
                  <a:pt x="79823" y="96456"/>
                  <a:pt x="75021" y="91653"/>
                  <a:pt x="75021" y="85738"/>
                </a:cubicBez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994565" y="5350076"/>
            <a:ext cx="1586160" cy="274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Target Variables</a:t>
            </a:r>
            <a:endParaRPr b="0" i="0" sz="1600" u="none" cap="none" strike="noStrike"/>
          </a:p>
        </p:txBody>
      </p:sp>
      <p:sp>
        <p:nvSpPr>
          <p:cNvPr id="115" name="Google Shape;115;p6"/>
          <p:cNvSpPr/>
          <p:nvPr/>
        </p:nvSpPr>
        <p:spPr>
          <a:xfrm>
            <a:off x="548726" y="5830211"/>
            <a:ext cx="3558143" cy="823089"/>
          </a:xfrm>
          <a:custGeom>
            <a:rect b="b" l="l" r="r" t="t"/>
            <a:pathLst>
              <a:path extrusionOk="0" h="823089" w="3558143">
                <a:moveTo>
                  <a:pt x="102886" y="0"/>
                </a:moveTo>
                <a:lnTo>
                  <a:pt x="3455257" y="0"/>
                </a:lnTo>
                <a:cubicBezTo>
                  <a:pt x="3512080" y="0"/>
                  <a:pt x="3558143" y="46064"/>
                  <a:pt x="3558143" y="102886"/>
                </a:cubicBezTo>
                <a:lnTo>
                  <a:pt x="3558143" y="720203"/>
                </a:lnTo>
                <a:cubicBezTo>
                  <a:pt x="3558143" y="777025"/>
                  <a:pt x="3512080" y="823089"/>
                  <a:pt x="3455257" y="823089"/>
                </a:cubicBezTo>
                <a:lnTo>
                  <a:pt x="102886" y="823089"/>
                </a:lnTo>
                <a:cubicBezTo>
                  <a:pt x="46102" y="823089"/>
                  <a:pt x="0" y="776987"/>
                  <a:pt x="0" y="720203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20203" y="6001688"/>
            <a:ext cx="411544" cy="411544"/>
          </a:xfrm>
          <a:custGeom>
            <a:rect b="b" l="l" r="r" t="t"/>
            <a:pathLst>
              <a:path extrusionOk="0" h="411544" w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40236" y="6121722"/>
            <a:ext cx="171477" cy="171477"/>
          </a:xfrm>
          <a:custGeom>
            <a:rect b="b" l="l" r="r" t="t"/>
            <a:pathLst>
              <a:path extrusionOk="0" h="171477" w="171477">
                <a:moveTo>
                  <a:pt x="21435" y="21435"/>
                </a:moveTo>
                <a:cubicBezTo>
                  <a:pt x="21435" y="15507"/>
                  <a:pt x="16645" y="10717"/>
                  <a:pt x="10717" y="10717"/>
                </a:cubicBezTo>
                <a:cubicBezTo>
                  <a:pt x="4789" y="10717"/>
                  <a:pt x="0" y="15507"/>
                  <a:pt x="0" y="21435"/>
                </a:cubicBezTo>
                <a:lnTo>
                  <a:pt x="0" y="133966"/>
                </a:lnTo>
                <a:cubicBezTo>
                  <a:pt x="0" y="148770"/>
                  <a:pt x="11990" y="160759"/>
                  <a:pt x="26793" y="160759"/>
                </a:cubicBezTo>
                <a:lnTo>
                  <a:pt x="160759" y="160759"/>
                </a:lnTo>
                <a:cubicBezTo>
                  <a:pt x="166688" y="160759"/>
                  <a:pt x="171477" y="155970"/>
                  <a:pt x="171477" y="150042"/>
                </a:cubicBezTo>
                <a:cubicBezTo>
                  <a:pt x="171477" y="144114"/>
                  <a:pt x="166688" y="139325"/>
                  <a:pt x="160759" y="139325"/>
                </a:cubicBezTo>
                <a:lnTo>
                  <a:pt x="26793" y="139325"/>
                </a:lnTo>
                <a:cubicBezTo>
                  <a:pt x="23846" y="139325"/>
                  <a:pt x="21435" y="136914"/>
                  <a:pt x="21435" y="133966"/>
                </a:cubicBezTo>
                <a:lnTo>
                  <a:pt x="21435" y="21435"/>
                </a:lnTo>
                <a:close/>
                <a:moveTo>
                  <a:pt x="157611" y="50438"/>
                </a:moveTo>
                <a:cubicBezTo>
                  <a:pt x="161798" y="46252"/>
                  <a:pt x="161798" y="39453"/>
                  <a:pt x="157611" y="35267"/>
                </a:cubicBezTo>
                <a:cubicBezTo>
                  <a:pt x="153425" y="31080"/>
                  <a:pt x="146626" y="31080"/>
                  <a:pt x="142440" y="35267"/>
                </a:cubicBezTo>
                <a:lnTo>
                  <a:pt x="107173" y="70567"/>
                </a:lnTo>
                <a:lnTo>
                  <a:pt x="87949" y="51376"/>
                </a:lnTo>
                <a:cubicBezTo>
                  <a:pt x="83762" y="47190"/>
                  <a:pt x="76964" y="47190"/>
                  <a:pt x="72777" y="51376"/>
                </a:cubicBezTo>
                <a:lnTo>
                  <a:pt x="40625" y="83528"/>
                </a:lnTo>
                <a:cubicBezTo>
                  <a:pt x="36439" y="87714"/>
                  <a:pt x="36439" y="94513"/>
                  <a:pt x="40625" y="98700"/>
                </a:cubicBezTo>
                <a:cubicBezTo>
                  <a:pt x="44812" y="102886"/>
                  <a:pt x="51610" y="102886"/>
                  <a:pt x="55797" y="98700"/>
                </a:cubicBezTo>
                <a:lnTo>
                  <a:pt x="80380" y="74117"/>
                </a:lnTo>
                <a:lnTo>
                  <a:pt x="99604" y="93341"/>
                </a:lnTo>
                <a:cubicBezTo>
                  <a:pt x="103790" y="97527"/>
                  <a:pt x="110589" y="97527"/>
                  <a:pt x="114776" y="93341"/>
                </a:cubicBezTo>
                <a:lnTo>
                  <a:pt x="157645" y="50472"/>
                </a:ln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268928" y="6001688"/>
            <a:ext cx="1843376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Sales Forecasting</a:t>
            </a:r>
            <a:endParaRPr b="0" i="0" sz="1600" u="none" cap="none" strike="noStrike"/>
          </a:p>
        </p:txBody>
      </p:sp>
      <p:sp>
        <p:nvSpPr>
          <p:cNvPr id="119" name="Google Shape;119;p6"/>
          <p:cNvSpPr/>
          <p:nvPr/>
        </p:nvSpPr>
        <p:spPr>
          <a:xfrm>
            <a:off x="1268928" y="6276051"/>
            <a:ext cx="1826228" cy="205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Predict future revenue trends</a:t>
            </a:r>
            <a:endParaRPr b="0" i="0" sz="1600" u="none" cap="none" strike="noStrike"/>
          </a:p>
        </p:txBody>
      </p:sp>
      <p:sp>
        <p:nvSpPr>
          <p:cNvPr id="120" name="Google Shape;120;p6"/>
          <p:cNvSpPr/>
          <p:nvPr/>
        </p:nvSpPr>
        <p:spPr>
          <a:xfrm>
            <a:off x="4316071" y="5830211"/>
            <a:ext cx="3558143" cy="823089"/>
          </a:xfrm>
          <a:custGeom>
            <a:rect b="b" l="l" r="r" t="t"/>
            <a:pathLst>
              <a:path extrusionOk="0" h="823089" w="3558143">
                <a:moveTo>
                  <a:pt x="102886" y="0"/>
                </a:moveTo>
                <a:lnTo>
                  <a:pt x="3455257" y="0"/>
                </a:lnTo>
                <a:cubicBezTo>
                  <a:pt x="3512080" y="0"/>
                  <a:pt x="3558143" y="46064"/>
                  <a:pt x="3558143" y="102886"/>
                </a:cubicBezTo>
                <a:lnTo>
                  <a:pt x="3558143" y="720203"/>
                </a:lnTo>
                <a:cubicBezTo>
                  <a:pt x="3558143" y="777025"/>
                  <a:pt x="3512080" y="823089"/>
                  <a:pt x="3455257" y="823089"/>
                </a:cubicBezTo>
                <a:lnTo>
                  <a:pt x="102886" y="823089"/>
                </a:lnTo>
                <a:cubicBezTo>
                  <a:pt x="46102" y="823089"/>
                  <a:pt x="0" y="776987"/>
                  <a:pt x="0" y="720203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487548" y="6001688"/>
            <a:ext cx="411544" cy="411544"/>
          </a:xfrm>
          <a:custGeom>
            <a:rect b="b" l="l" r="r" t="t"/>
            <a:pathLst>
              <a:path extrusionOk="0" h="411544" w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586147" y="6121722"/>
            <a:ext cx="214346" cy="171477"/>
          </a:xfrm>
          <a:custGeom>
            <a:rect b="b" l="l" r="r" t="t"/>
            <a:pathLst>
              <a:path extrusionOk="0" h="171477" w="214346">
                <a:moveTo>
                  <a:pt x="107173" y="5359"/>
                </a:moveTo>
                <a:cubicBezTo>
                  <a:pt x="126397" y="5359"/>
                  <a:pt x="142004" y="20966"/>
                  <a:pt x="142004" y="40190"/>
                </a:cubicBezTo>
                <a:cubicBezTo>
                  <a:pt x="142004" y="59414"/>
                  <a:pt x="126397" y="75021"/>
                  <a:pt x="107173" y="75021"/>
                </a:cubicBezTo>
                <a:cubicBezTo>
                  <a:pt x="87949" y="75021"/>
                  <a:pt x="72342" y="59414"/>
                  <a:pt x="72342" y="40190"/>
                </a:cubicBezTo>
                <a:cubicBezTo>
                  <a:pt x="72342" y="20966"/>
                  <a:pt x="87949" y="5359"/>
                  <a:pt x="107173" y="5359"/>
                </a:cubicBezTo>
                <a:close/>
                <a:moveTo>
                  <a:pt x="32152" y="29473"/>
                </a:moveTo>
                <a:cubicBezTo>
                  <a:pt x="45461" y="29473"/>
                  <a:pt x="56266" y="40278"/>
                  <a:pt x="56266" y="53586"/>
                </a:cubicBezTo>
                <a:cubicBezTo>
                  <a:pt x="56266" y="66895"/>
                  <a:pt x="45461" y="77700"/>
                  <a:pt x="32152" y="77700"/>
                </a:cubicBezTo>
                <a:cubicBezTo>
                  <a:pt x="18843" y="77700"/>
                  <a:pt x="8038" y="66895"/>
                  <a:pt x="8038" y="53586"/>
                </a:cubicBezTo>
                <a:cubicBezTo>
                  <a:pt x="8038" y="40278"/>
                  <a:pt x="18843" y="29473"/>
                  <a:pt x="32152" y="29473"/>
                </a:cubicBezTo>
                <a:close/>
                <a:moveTo>
                  <a:pt x="0" y="139325"/>
                </a:moveTo>
                <a:cubicBezTo>
                  <a:pt x="0" y="115646"/>
                  <a:pt x="19191" y="96456"/>
                  <a:pt x="42869" y="96456"/>
                </a:cubicBezTo>
                <a:cubicBezTo>
                  <a:pt x="47156" y="96456"/>
                  <a:pt x="51309" y="97092"/>
                  <a:pt x="55228" y="98264"/>
                </a:cubicBezTo>
                <a:cubicBezTo>
                  <a:pt x="44209" y="110589"/>
                  <a:pt x="37511" y="126866"/>
                  <a:pt x="37511" y="144684"/>
                </a:cubicBezTo>
                <a:lnTo>
                  <a:pt x="37511" y="150042"/>
                </a:lnTo>
                <a:cubicBezTo>
                  <a:pt x="37511" y="153860"/>
                  <a:pt x="38314" y="157477"/>
                  <a:pt x="39754" y="160759"/>
                </a:cubicBezTo>
                <a:lnTo>
                  <a:pt x="10717" y="160759"/>
                </a:lnTo>
                <a:cubicBezTo>
                  <a:pt x="4789" y="160759"/>
                  <a:pt x="0" y="155970"/>
                  <a:pt x="0" y="150042"/>
                </a:cubicBezTo>
                <a:lnTo>
                  <a:pt x="0" y="139325"/>
                </a:lnTo>
                <a:close/>
                <a:moveTo>
                  <a:pt x="174592" y="160759"/>
                </a:moveTo>
                <a:cubicBezTo>
                  <a:pt x="176032" y="157477"/>
                  <a:pt x="176835" y="153860"/>
                  <a:pt x="176835" y="150042"/>
                </a:cubicBezTo>
                <a:lnTo>
                  <a:pt x="176835" y="144684"/>
                </a:lnTo>
                <a:cubicBezTo>
                  <a:pt x="176835" y="126866"/>
                  <a:pt x="170137" y="110589"/>
                  <a:pt x="159118" y="98264"/>
                </a:cubicBezTo>
                <a:cubicBezTo>
                  <a:pt x="163037" y="97092"/>
                  <a:pt x="167190" y="96456"/>
                  <a:pt x="171477" y="96456"/>
                </a:cubicBezTo>
                <a:cubicBezTo>
                  <a:pt x="195155" y="96456"/>
                  <a:pt x="214346" y="115646"/>
                  <a:pt x="214346" y="139325"/>
                </a:cubicBezTo>
                <a:lnTo>
                  <a:pt x="214346" y="150042"/>
                </a:lnTo>
                <a:cubicBezTo>
                  <a:pt x="214346" y="155970"/>
                  <a:pt x="209557" y="160759"/>
                  <a:pt x="203629" y="160759"/>
                </a:cubicBezTo>
                <a:lnTo>
                  <a:pt x="174592" y="160759"/>
                </a:lnTo>
                <a:close/>
                <a:moveTo>
                  <a:pt x="158080" y="53586"/>
                </a:moveTo>
                <a:cubicBezTo>
                  <a:pt x="158080" y="40278"/>
                  <a:pt x="168885" y="29473"/>
                  <a:pt x="182194" y="29473"/>
                </a:cubicBezTo>
                <a:cubicBezTo>
                  <a:pt x="195503" y="29473"/>
                  <a:pt x="206308" y="40278"/>
                  <a:pt x="206308" y="53586"/>
                </a:cubicBezTo>
                <a:cubicBezTo>
                  <a:pt x="206308" y="66895"/>
                  <a:pt x="195503" y="77700"/>
                  <a:pt x="182194" y="77700"/>
                </a:cubicBezTo>
                <a:cubicBezTo>
                  <a:pt x="168885" y="77700"/>
                  <a:pt x="158080" y="66895"/>
                  <a:pt x="158080" y="53586"/>
                </a:cubicBezTo>
                <a:close/>
                <a:moveTo>
                  <a:pt x="53586" y="144684"/>
                </a:moveTo>
                <a:cubicBezTo>
                  <a:pt x="53586" y="115077"/>
                  <a:pt x="77566" y="91097"/>
                  <a:pt x="107173" y="91097"/>
                </a:cubicBezTo>
                <a:cubicBezTo>
                  <a:pt x="136780" y="91097"/>
                  <a:pt x="160759" y="115077"/>
                  <a:pt x="160759" y="144684"/>
                </a:cubicBezTo>
                <a:lnTo>
                  <a:pt x="160759" y="150042"/>
                </a:lnTo>
                <a:cubicBezTo>
                  <a:pt x="160759" y="155970"/>
                  <a:pt x="155970" y="160759"/>
                  <a:pt x="150042" y="160759"/>
                </a:cubicBezTo>
                <a:lnTo>
                  <a:pt x="64304" y="160759"/>
                </a:lnTo>
                <a:cubicBezTo>
                  <a:pt x="58376" y="160759"/>
                  <a:pt x="53586" y="155970"/>
                  <a:pt x="53586" y="150042"/>
                </a:cubicBezTo>
                <a:lnTo>
                  <a:pt x="53586" y="144684"/>
                </a:ln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036274" y="6001688"/>
            <a:ext cx="1826228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Customer Behavior</a:t>
            </a:r>
            <a:endParaRPr b="0" i="0" sz="1600" u="none" cap="none" strike="noStrike"/>
          </a:p>
        </p:txBody>
      </p:sp>
      <p:sp>
        <p:nvSpPr>
          <p:cNvPr id="124" name="Google Shape;124;p6"/>
          <p:cNvSpPr/>
          <p:nvPr/>
        </p:nvSpPr>
        <p:spPr>
          <a:xfrm>
            <a:off x="5036274" y="6276051"/>
            <a:ext cx="1809080" cy="205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Segment customers by value</a:t>
            </a:r>
            <a:endParaRPr b="0" i="0" sz="1600" u="none" cap="none" strike="noStrike"/>
          </a:p>
        </p:txBody>
      </p:sp>
      <p:sp>
        <p:nvSpPr>
          <p:cNvPr id="125" name="Google Shape;125;p6"/>
          <p:cNvSpPr/>
          <p:nvPr/>
        </p:nvSpPr>
        <p:spPr>
          <a:xfrm>
            <a:off x="8083416" y="5830211"/>
            <a:ext cx="3558143" cy="823089"/>
          </a:xfrm>
          <a:custGeom>
            <a:rect b="b" l="l" r="r" t="t"/>
            <a:pathLst>
              <a:path extrusionOk="0" h="823089" w="3558143">
                <a:moveTo>
                  <a:pt x="102886" y="0"/>
                </a:moveTo>
                <a:lnTo>
                  <a:pt x="3455257" y="0"/>
                </a:lnTo>
                <a:cubicBezTo>
                  <a:pt x="3512080" y="0"/>
                  <a:pt x="3558143" y="46064"/>
                  <a:pt x="3558143" y="102886"/>
                </a:cubicBezTo>
                <a:lnTo>
                  <a:pt x="3558143" y="720203"/>
                </a:lnTo>
                <a:cubicBezTo>
                  <a:pt x="3558143" y="777025"/>
                  <a:pt x="3512080" y="823089"/>
                  <a:pt x="3455257" y="823089"/>
                </a:cubicBezTo>
                <a:lnTo>
                  <a:pt x="102886" y="823089"/>
                </a:lnTo>
                <a:cubicBezTo>
                  <a:pt x="46102" y="823089"/>
                  <a:pt x="0" y="776987"/>
                  <a:pt x="0" y="720203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254893" y="6001688"/>
            <a:ext cx="411544" cy="411544"/>
          </a:xfrm>
          <a:custGeom>
            <a:rect b="b" l="l" r="r" t="t"/>
            <a:pathLst>
              <a:path extrusionOk="0" h="411544" w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8364209" y="6121722"/>
            <a:ext cx="192911" cy="171477"/>
          </a:xfrm>
          <a:custGeom>
            <a:rect b="b" l="l" r="r" t="t"/>
            <a:pathLst>
              <a:path extrusionOk="0" h="171477" w="192911">
                <a:moveTo>
                  <a:pt x="96456" y="0"/>
                </a:moveTo>
                <a:cubicBezTo>
                  <a:pt x="98666" y="0"/>
                  <a:pt x="100776" y="904"/>
                  <a:pt x="102283" y="2512"/>
                </a:cubicBezTo>
                <a:lnTo>
                  <a:pt x="150511" y="53419"/>
                </a:lnTo>
                <a:lnTo>
                  <a:pt x="150679" y="53586"/>
                </a:lnTo>
                <a:lnTo>
                  <a:pt x="176835" y="53586"/>
                </a:lnTo>
                <a:cubicBezTo>
                  <a:pt x="182763" y="53586"/>
                  <a:pt x="187553" y="58376"/>
                  <a:pt x="187553" y="64304"/>
                </a:cubicBezTo>
                <a:cubicBezTo>
                  <a:pt x="187553" y="69160"/>
                  <a:pt x="184338" y="73246"/>
                  <a:pt x="179917" y="74586"/>
                </a:cubicBezTo>
                <a:lnTo>
                  <a:pt x="164477" y="143980"/>
                </a:lnTo>
                <a:cubicBezTo>
                  <a:pt x="162300" y="153793"/>
                  <a:pt x="153592" y="160759"/>
                  <a:pt x="143545" y="160759"/>
                </a:cubicBezTo>
                <a:lnTo>
                  <a:pt x="49333" y="160759"/>
                </a:lnTo>
                <a:cubicBezTo>
                  <a:pt x="39286" y="160759"/>
                  <a:pt x="30578" y="153793"/>
                  <a:pt x="28401" y="143980"/>
                </a:cubicBezTo>
                <a:lnTo>
                  <a:pt x="12995" y="74586"/>
                </a:lnTo>
                <a:cubicBezTo>
                  <a:pt x="8574" y="73280"/>
                  <a:pt x="5359" y="69160"/>
                  <a:pt x="5359" y="64304"/>
                </a:cubicBezTo>
                <a:cubicBezTo>
                  <a:pt x="5359" y="58376"/>
                  <a:pt x="10148" y="53586"/>
                  <a:pt x="16076" y="53586"/>
                </a:cubicBezTo>
                <a:lnTo>
                  <a:pt x="42233" y="53586"/>
                </a:lnTo>
                <a:lnTo>
                  <a:pt x="42400" y="53419"/>
                </a:lnTo>
                <a:lnTo>
                  <a:pt x="90628" y="2512"/>
                </a:lnTo>
                <a:cubicBezTo>
                  <a:pt x="92135" y="904"/>
                  <a:pt x="94245" y="0"/>
                  <a:pt x="96456" y="0"/>
                </a:cubicBezTo>
                <a:close/>
                <a:moveTo>
                  <a:pt x="96456" y="19727"/>
                </a:moveTo>
                <a:lnTo>
                  <a:pt x="64371" y="53586"/>
                </a:lnTo>
                <a:lnTo>
                  <a:pt x="128541" y="53586"/>
                </a:lnTo>
                <a:lnTo>
                  <a:pt x="96456" y="19727"/>
                </a:lnTo>
                <a:close/>
                <a:moveTo>
                  <a:pt x="69662" y="88418"/>
                </a:moveTo>
                <a:cubicBezTo>
                  <a:pt x="69662" y="83963"/>
                  <a:pt x="66079" y="80380"/>
                  <a:pt x="61624" y="80380"/>
                </a:cubicBezTo>
                <a:cubicBezTo>
                  <a:pt x="57170" y="80380"/>
                  <a:pt x="53586" y="83963"/>
                  <a:pt x="53586" y="88418"/>
                </a:cubicBezTo>
                <a:lnTo>
                  <a:pt x="53586" y="125928"/>
                </a:lnTo>
                <a:cubicBezTo>
                  <a:pt x="53586" y="130383"/>
                  <a:pt x="57170" y="133966"/>
                  <a:pt x="61624" y="133966"/>
                </a:cubicBezTo>
                <a:cubicBezTo>
                  <a:pt x="66079" y="133966"/>
                  <a:pt x="69662" y="130383"/>
                  <a:pt x="69662" y="125928"/>
                </a:cubicBezTo>
                <a:lnTo>
                  <a:pt x="69662" y="88418"/>
                </a:lnTo>
                <a:close/>
                <a:moveTo>
                  <a:pt x="96456" y="80380"/>
                </a:moveTo>
                <a:cubicBezTo>
                  <a:pt x="92001" y="80380"/>
                  <a:pt x="88418" y="83963"/>
                  <a:pt x="88418" y="88418"/>
                </a:cubicBezTo>
                <a:lnTo>
                  <a:pt x="88418" y="125928"/>
                </a:lnTo>
                <a:cubicBezTo>
                  <a:pt x="88418" y="130383"/>
                  <a:pt x="92001" y="133966"/>
                  <a:pt x="96456" y="133966"/>
                </a:cubicBezTo>
                <a:cubicBezTo>
                  <a:pt x="100910" y="133966"/>
                  <a:pt x="104494" y="130383"/>
                  <a:pt x="104494" y="125928"/>
                </a:cubicBezTo>
                <a:lnTo>
                  <a:pt x="104494" y="88418"/>
                </a:lnTo>
                <a:cubicBezTo>
                  <a:pt x="104494" y="83963"/>
                  <a:pt x="100910" y="80380"/>
                  <a:pt x="96456" y="80380"/>
                </a:cubicBezTo>
                <a:close/>
                <a:moveTo>
                  <a:pt x="139325" y="88418"/>
                </a:moveTo>
                <a:cubicBezTo>
                  <a:pt x="139325" y="83963"/>
                  <a:pt x="135741" y="80380"/>
                  <a:pt x="131287" y="80380"/>
                </a:cubicBezTo>
                <a:cubicBezTo>
                  <a:pt x="126833" y="80380"/>
                  <a:pt x="123249" y="83963"/>
                  <a:pt x="123249" y="88418"/>
                </a:cubicBezTo>
                <a:lnTo>
                  <a:pt x="123249" y="125928"/>
                </a:lnTo>
                <a:cubicBezTo>
                  <a:pt x="123249" y="130383"/>
                  <a:pt x="126833" y="133966"/>
                  <a:pt x="131287" y="133966"/>
                </a:cubicBezTo>
                <a:cubicBezTo>
                  <a:pt x="135741" y="133966"/>
                  <a:pt x="139325" y="130383"/>
                  <a:pt x="139325" y="125928"/>
                </a:cubicBezTo>
                <a:lnTo>
                  <a:pt x="139325" y="88418"/>
                </a:ln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803619" y="6001688"/>
            <a:ext cx="1654751" cy="24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Product Relations</a:t>
            </a:r>
            <a:endParaRPr b="0" i="0" sz="1600" u="none" cap="none" strike="noStrike"/>
          </a:p>
        </p:txBody>
      </p:sp>
      <p:sp>
        <p:nvSpPr>
          <p:cNvPr id="129" name="Google Shape;129;p6"/>
          <p:cNvSpPr/>
          <p:nvPr/>
        </p:nvSpPr>
        <p:spPr>
          <a:xfrm>
            <a:off x="8803619" y="6276051"/>
            <a:ext cx="1637603" cy="205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Discover association rules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E3"/>
                </a:solidFill>
                <a:latin typeface="Liter"/>
                <a:ea typeface="Liter"/>
                <a:cs typeface="Liter"/>
                <a:sym typeface="Liter"/>
              </a:rPr>
              <a:t>DATA PREPARATION</a:t>
            </a:r>
            <a:endParaRPr b="0" i="0" sz="1600" u="none" cap="none" strike="noStrike"/>
          </a:p>
        </p:txBody>
      </p:sp>
      <p:sp>
        <p:nvSpPr>
          <p:cNvPr id="136" name="Google Shape;136;p7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Data Preprocessing</a:t>
            </a:r>
            <a:endParaRPr b="0" i="0" sz="1600" u="none" cap="none" strike="noStrike"/>
          </a:p>
        </p:txBody>
      </p:sp>
      <p:sp>
        <p:nvSpPr>
          <p:cNvPr id="137" name="Google Shape;137;p7"/>
          <p:cNvSpPr/>
          <p:nvPr/>
        </p:nvSpPr>
        <p:spPr>
          <a:xfrm>
            <a:off x="317500" y="1143000"/>
            <a:ext cx="3683000" cy="4730750"/>
          </a:xfrm>
          <a:custGeom>
            <a:rect b="b" l="l" r="r" t="t"/>
            <a:pathLst>
              <a:path extrusionOk="0" h="4730750" w="3683000">
                <a:moveTo>
                  <a:pt x="126990" y="0"/>
                </a:moveTo>
                <a:lnTo>
                  <a:pt x="3556010" y="0"/>
                </a:lnTo>
                <a:cubicBezTo>
                  <a:pt x="3626145" y="0"/>
                  <a:pt x="3683000" y="56855"/>
                  <a:pt x="3683000" y="126990"/>
                </a:cubicBezTo>
                <a:lnTo>
                  <a:pt x="3683000" y="4603760"/>
                </a:lnTo>
                <a:cubicBezTo>
                  <a:pt x="3683000" y="4673895"/>
                  <a:pt x="3626145" y="4730750"/>
                  <a:pt x="3556010" y="4730750"/>
                </a:cubicBezTo>
                <a:lnTo>
                  <a:pt x="126990" y="4730750"/>
                </a:lnTo>
                <a:cubicBezTo>
                  <a:pt x="56855" y="4730750"/>
                  <a:pt x="0" y="4673895"/>
                  <a:pt x="0" y="4603760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3" rotWithShape="0" algn="bl" dir="5400000" dist="7938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571500" y="1397000"/>
            <a:ext cx="444500" cy="444500"/>
          </a:xfrm>
          <a:custGeom>
            <a:rect b="b" l="l" r="r" t="t"/>
            <a:pathLst>
              <a:path extrusionOk="0" h="444500" w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86594" y="1524000"/>
            <a:ext cx="214313" cy="190500"/>
          </a:xfrm>
          <a:custGeom>
            <a:rect b="b" l="l" r="r" t="t"/>
            <a:pathLst>
              <a:path extrusionOk="0" h="190500" w="214313">
                <a:moveTo>
                  <a:pt x="210815" y="20315"/>
                </a:moveTo>
                <a:cubicBezTo>
                  <a:pt x="215466" y="15664"/>
                  <a:pt x="215466" y="8111"/>
                  <a:pt x="210815" y="3460"/>
                </a:cubicBezTo>
                <a:cubicBezTo>
                  <a:pt x="206164" y="-1191"/>
                  <a:pt x="198611" y="-1191"/>
                  <a:pt x="193960" y="3460"/>
                </a:cubicBezTo>
                <a:lnTo>
                  <a:pt x="122523" y="74898"/>
                </a:lnTo>
                <a:lnTo>
                  <a:pt x="109612" y="61987"/>
                </a:lnTo>
                <a:cubicBezTo>
                  <a:pt x="108049" y="60424"/>
                  <a:pt x="105891" y="59531"/>
                  <a:pt x="103659" y="59531"/>
                </a:cubicBezTo>
                <a:cubicBezTo>
                  <a:pt x="99008" y="59531"/>
                  <a:pt x="95250" y="63289"/>
                  <a:pt x="95250" y="67940"/>
                </a:cubicBezTo>
                <a:lnTo>
                  <a:pt x="95250" y="78767"/>
                </a:lnTo>
                <a:lnTo>
                  <a:pt x="135545" y="119063"/>
                </a:lnTo>
                <a:lnTo>
                  <a:pt x="146372" y="119063"/>
                </a:lnTo>
                <a:cubicBezTo>
                  <a:pt x="151023" y="119063"/>
                  <a:pt x="154781" y="115305"/>
                  <a:pt x="154781" y="110654"/>
                </a:cubicBezTo>
                <a:cubicBezTo>
                  <a:pt x="154781" y="108421"/>
                  <a:pt x="153888" y="106263"/>
                  <a:pt x="152326" y="104701"/>
                </a:cubicBezTo>
                <a:lnTo>
                  <a:pt x="139415" y="91790"/>
                </a:lnTo>
                <a:lnTo>
                  <a:pt x="210852" y="20352"/>
                </a:lnTo>
                <a:close/>
                <a:moveTo>
                  <a:pt x="126913" y="131490"/>
                </a:moveTo>
                <a:lnTo>
                  <a:pt x="82823" y="87399"/>
                </a:lnTo>
                <a:cubicBezTo>
                  <a:pt x="66935" y="86023"/>
                  <a:pt x="51122" y="91753"/>
                  <a:pt x="39737" y="103138"/>
                </a:cubicBezTo>
                <a:lnTo>
                  <a:pt x="36761" y="106114"/>
                </a:lnTo>
                <a:cubicBezTo>
                  <a:pt x="28463" y="114412"/>
                  <a:pt x="23812" y="125648"/>
                  <a:pt x="23812" y="137368"/>
                </a:cubicBezTo>
                <a:cubicBezTo>
                  <a:pt x="23812" y="139898"/>
                  <a:pt x="26454" y="141536"/>
                  <a:pt x="28724" y="140419"/>
                </a:cubicBezTo>
                <a:lnTo>
                  <a:pt x="47737" y="130932"/>
                </a:lnTo>
                <a:cubicBezTo>
                  <a:pt x="49597" y="130001"/>
                  <a:pt x="51271" y="132457"/>
                  <a:pt x="49746" y="133871"/>
                </a:cubicBezTo>
                <a:lnTo>
                  <a:pt x="2716" y="176138"/>
                </a:lnTo>
                <a:cubicBezTo>
                  <a:pt x="1005" y="177701"/>
                  <a:pt x="0" y="179933"/>
                  <a:pt x="0" y="182277"/>
                </a:cubicBezTo>
                <a:cubicBezTo>
                  <a:pt x="0" y="186817"/>
                  <a:pt x="3683" y="190500"/>
                  <a:pt x="8223" y="190500"/>
                </a:cubicBezTo>
                <a:lnTo>
                  <a:pt x="72703" y="190500"/>
                </a:lnTo>
                <a:cubicBezTo>
                  <a:pt x="87139" y="190500"/>
                  <a:pt x="100943" y="184770"/>
                  <a:pt x="111175" y="174575"/>
                </a:cubicBezTo>
                <a:cubicBezTo>
                  <a:pt x="122560" y="163190"/>
                  <a:pt x="128253" y="147377"/>
                  <a:pt x="126913" y="131490"/>
                </a:cubicBez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111250" y="1476375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Cleaning</a:t>
            </a:r>
            <a:endParaRPr b="0" i="0" sz="1600" u="none" cap="none" strike="noStrike"/>
          </a:p>
        </p:txBody>
      </p:sp>
      <p:sp>
        <p:nvSpPr>
          <p:cNvPr id="141" name="Google Shape;141;p7"/>
          <p:cNvSpPr/>
          <p:nvPr/>
        </p:nvSpPr>
        <p:spPr>
          <a:xfrm>
            <a:off x="571500" y="2095500"/>
            <a:ext cx="3175000" cy="1047750"/>
          </a:xfrm>
          <a:custGeom>
            <a:rect b="b" l="l" r="r" t="t"/>
            <a:pathLst>
              <a:path extrusionOk="0" h="1047750" w="3175000">
                <a:moveTo>
                  <a:pt x="95251" y="0"/>
                </a:moveTo>
                <a:lnTo>
                  <a:pt x="3079749" y="0"/>
                </a:lnTo>
                <a:cubicBezTo>
                  <a:pt x="3132355" y="0"/>
                  <a:pt x="3175000" y="42645"/>
                  <a:pt x="3175000" y="95251"/>
                </a:cubicBezTo>
                <a:lnTo>
                  <a:pt x="3175000" y="952499"/>
                </a:lnTo>
                <a:cubicBezTo>
                  <a:pt x="3175000" y="1005105"/>
                  <a:pt x="3132355" y="1047750"/>
                  <a:pt x="307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710406" y="228600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005483" y="2254250"/>
            <a:ext cx="26590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Removed Null CustomerID</a:t>
            </a:r>
            <a:endParaRPr b="0" i="0" sz="1600" u="none" cap="none" strike="noStrike"/>
          </a:p>
        </p:txBody>
      </p:sp>
      <p:sp>
        <p:nvSpPr>
          <p:cNvPr id="144" name="Google Shape;144;p7"/>
          <p:cNvSpPr/>
          <p:nvPr/>
        </p:nvSpPr>
        <p:spPr>
          <a:xfrm>
            <a:off x="1005483" y="2540000"/>
            <a:ext cx="2651125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Eliminated ~135K transactions without valid customer identification</a:t>
            </a:r>
            <a:endParaRPr b="0" i="0" sz="1600" u="none" cap="none" strike="noStrike"/>
          </a:p>
        </p:txBody>
      </p:sp>
      <p:sp>
        <p:nvSpPr>
          <p:cNvPr id="145" name="Google Shape;145;p7"/>
          <p:cNvSpPr/>
          <p:nvPr/>
        </p:nvSpPr>
        <p:spPr>
          <a:xfrm>
            <a:off x="571500" y="3333750"/>
            <a:ext cx="3175000" cy="1047750"/>
          </a:xfrm>
          <a:custGeom>
            <a:rect b="b" l="l" r="r" t="t"/>
            <a:pathLst>
              <a:path extrusionOk="0" h="1047750" w="3175000">
                <a:moveTo>
                  <a:pt x="95251" y="0"/>
                </a:moveTo>
                <a:lnTo>
                  <a:pt x="3079749" y="0"/>
                </a:lnTo>
                <a:cubicBezTo>
                  <a:pt x="3132355" y="0"/>
                  <a:pt x="3175000" y="42645"/>
                  <a:pt x="3175000" y="95251"/>
                </a:cubicBezTo>
                <a:lnTo>
                  <a:pt x="3175000" y="952499"/>
                </a:lnTo>
                <a:cubicBezTo>
                  <a:pt x="3175000" y="1005105"/>
                  <a:pt x="3132355" y="1047750"/>
                  <a:pt x="307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714375" y="352425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017389" y="3492500"/>
            <a:ext cx="265112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Removed Cancelled Orders</a:t>
            </a:r>
            <a:endParaRPr b="0" i="0" sz="1600" u="none" cap="none" strike="noStrike"/>
          </a:p>
        </p:txBody>
      </p:sp>
      <p:sp>
        <p:nvSpPr>
          <p:cNvPr id="148" name="Google Shape;148;p7"/>
          <p:cNvSpPr/>
          <p:nvPr/>
        </p:nvSpPr>
        <p:spPr>
          <a:xfrm>
            <a:off x="1017389" y="3778250"/>
            <a:ext cx="2643188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Filtered out  cancelled transactions (negative quantities)</a:t>
            </a:r>
            <a:endParaRPr b="0" i="0" sz="1600" u="none" cap="none" strike="noStrike"/>
          </a:p>
        </p:txBody>
      </p:sp>
      <p:sp>
        <p:nvSpPr>
          <p:cNvPr id="149" name="Google Shape;149;p7"/>
          <p:cNvSpPr/>
          <p:nvPr/>
        </p:nvSpPr>
        <p:spPr>
          <a:xfrm>
            <a:off x="571500" y="4572000"/>
            <a:ext cx="3175000" cy="1047750"/>
          </a:xfrm>
          <a:custGeom>
            <a:rect b="b" l="l" r="r" t="t"/>
            <a:pathLst>
              <a:path extrusionOk="0" h="1047750" w="3175000">
                <a:moveTo>
                  <a:pt x="95251" y="0"/>
                </a:moveTo>
                <a:lnTo>
                  <a:pt x="3079749" y="0"/>
                </a:lnTo>
                <a:cubicBezTo>
                  <a:pt x="3132355" y="0"/>
                  <a:pt x="3175000" y="42645"/>
                  <a:pt x="3175000" y="95251"/>
                </a:cubicBezTo>
                <a:lnTo>
                  <a:pt x="3175000" y="952499"/>
                </a:lnTo>
                <a:cubicBezTo>
                  <a:pt x="3175000" y="1005105"/>
                  <a:pt x="3132355" y="1047750"/>
                  <a:pt x="307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722313" y="476250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1030188" y="4730750"/>
            <a:ext cx="263525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Removed Negative Values</a:t>
            </a:r>
            <a:endParaRPr b="0" i="0" sz="160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1030188" y="5016500"/>
            <a:ext cx="26273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Cleaned price and quantity fields to ensure data integrity</a:t>
            </a:r>
            <a:endParaRPr b="0" i="0" sz="160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4254500" y="1143000"/>
            <a:ext cx="3683000" cy="4730750"/>
          </a:xfrm>
          <a:custGeom>
            <a:rect b="b" l="l" r="r" t="t"/>
            <a:pathLst>
              <a:path extrusionOk="0" h="4730750" w="3683000">
                <a:moveTo>
                  <a:pt x="126990" y="0"/>
                </a:moveTo>
                <a:lnTo>
                  <a:pt x="3556010" y="0"/>
                </a:lnTo>
                <a:cubicBezTo>
                  <a:pt x="3626145" y="0"/>
                  <a:pt x="3683000" y="56855"/>
                  <a:pt x="3683000" y="126990"/>
                </a:cubicBezTo>
                <a:lnTo>
                  <a:pt x="3683000" y="4603760"/>
                </a:lnTo>
                <a:cubicBezTo>
                  <a:pt x="3683000" y="4673895"/>
                  <a:pt x="3626145" y="4730750"/>
                  <a:pt x="3556010" y="4730750"/>
                </a:cubicBezTo>
                <a:lnTo>
                  <a:pt x="126990" y="4730750"/>
                </a:lnTo>
                <a:cubicBezTo>
                  <a:pt x="56855" y="4730750"/>
                  <a:pt x="0" y="4673895"/>
                  <a:pt x="0" y="4603760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3" rotWithShape="0" algn="bl" dir="5400000" dist="7938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508500" y="1397000"/>
            <a:ext cx="444500" cy="444500"/>
          </a:xfrm>
          <a:custGeom>
            <a:rect b="b" l="l" r="r" t="t"/>
            <a:pathLst>
              <a:path extrusionOk="0" h="444500" w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611688" y="1524000"/>
            <a:ext cx="238125" cy="190500"/>
          </a:xfrm>
          <a:custGeom>
            <a:rect b="b" l="l" r="r" t="t"/>
            <a:pathLst>
              <a:path extrusionOk="0" h="190500" w="238125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5048250" y="1476375"/>
            <a:ext cx="22304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Feature Engineering</a:t>
            </a:r>
            <a:endParaRPr b="0" i="0" sz="160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4508500" y="2095500"/>
            <a:ext cx="3175000" cy="1047750"/>
          </a:xfrm>
          <a:custGeom>
            <a:rect b="b" l="l" r="r" t="t"/>
            <a:pathLst>
              <a:path extrusionOk="0" h="1047750" w="3175000">
                <a:moveTo>
                  <a:pt x="95251" y="0"/>
                </a:moveTo>
                <a:lnTo>
                  <a:pt x="3079749" y="0"/>
                </a:lnTo>
                <a:cubicBezTo>
                  <a:pt x="3132355" y="0"/>
                  <a:pt x="3175000" y="42645"/>
                  <a:pt x="3175000" y="95251"/>
                </a:cubicBezTo>
                <a:lnTo>
                  <a:pt x="3175000" y="952499"/>
                </a:lnTo>
                <a:cubicBezTo>
                  <a:pt x="3175000" y="1005105"/>
                  <a:pt x="3132355" y="1047750"/>
                  <a:pt x="307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659313" y="228600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972348" y="2254250"/>
            <a:ext cx="263525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TotalPrice</a:t>
            </a:r>
            <a:endParaRPr b="0" i="0" sz="1600" u="none" cap="none" strike="noStrike"/>
          </a:p>
        </p:txBody>
      </p:sp>
      <p:sp>
        <p:nvSpPr>
          <p:cNvPr id="160" name="Google Shape;160;p7"/>
          <p:cNvSpPr/>
          <p:nvPr/>
        </p:nvSpPr>
        <p:spPr>
          <a:xfrm>
            <a:off x="4972348" y="2540000"/>
            <a:ext cx="26273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Created Quantity × UnitPrice for total transaction value</a:t>
            </a:r>
            <a:endParaRPr b="0" i="0" sz="160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4508500" y="3333750"/>
            <a:ext cx="3175000" cy="1047750"/>
          </a:xfrm>
          <a:custGeom>
            <a:rect b="b" l="l" r="r" t="t"/>
            <a:pathLst>
              <a:path extrusionOk="0" h="1047750" w="3175000">
                <a:moveTo>
                  <a:pt x="95251" y="0"/>
                </a:moveTo>
                <a:lnTo>
                  <a:pt x="3079749" y="0"/>
                </a:lnTo>
                <a:cubicBezTo>
                  <a:pt x="3132355" y="0"/>
                  <a:pt x="3175000" y="42645"/>
                  <a:pt x="3175000" y="95251"/>
                </a:cubicBezTo>
                <a:lnTo>
                  <a:pt x="3175000" y="952499"/>
                </a:lnTo>
                <a:cubicBezTo>
                  <a:pt x="3175000" y="1005105"/>
                  <a:pt x="3132355" y="1047750"/>
                  <a:pt x="307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651375" y="352425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953893" y="3492500"/>
            <a:ext cx="265112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Time Features</a:t>
            </a:r>
            <a:endParaRPr b="0" i="0" sz="160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4953893" y="3778250"/>
            <a:ext cx="2643188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Extracted hour, weekday, month for temporal pattern analysis</a:t>
            </a:r>
            <a:endParaRPr b="0" i="0" sz="1600" u="none" cap="none" strike="noStrike"/>
          </a:p>
        </p:txBody>
      </p:sp>
      <p:sp>
        <p:nvSpPr>
          <p:cNvPr id="165" name="Google Shape;165;p7"/>
          <p:cNvSpPr/>
          <p:nvPr/>
        </p:nvSpPr>
        <p:spPr>
          <a:xfrm>
            <a:off x="4508500" y="4572000"/>
            <a:ext cx="3175000" cy="1047750"/>
          </a:xfrm>
          <a:custGeom>
            <a:rect b="b" l="l" r="r" t="t"/>
            <a:pathLst>
              <a:path extrusionOk="0" h="1047750" w="3175000">
                <a:moveTo>
                  <a:pt x="95251" y="0"/>
                </a:moveTo>
                <a:lnTo>
                  <a:pt x="3079749" y="0"/>
                </a:lnTo>
                <a:cubicBezTo>
                  <a:pt x="3132355" y="0"/>
                  <a:pt x="3175000" y="42645"/>
                  <a:pt x="3175000" y="95251"/>
                </a:cubicBezTo>
                <a:lnTo>
                  <a:pt x="3175000" y="952499"/>
                </a:lnTo>
                <a:cubicBezTo>
                  <a:pt x="3175000" y="1005105"/>
                  <a:pt x="3132355" y="1047750"/>
                  <a:pt x="307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655344" y="476250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961434" y="4730750"/>
            <a:ext cx="264318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Lag Features</a:t>
            </a:r>
            <a:endParaRPr b="0" i="0" sz="160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4961434" y="5016500"/>
            <a:ext cx="26352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Created 1h, 24h, 168h lag features for time series modeling</a:t>
            </a:r>
            <a:endParaRPr b="0" i="0" sz="160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8191500" y="1143000"/>
            <a:ext cx="3683000" cy="4730750"/>
          </a:xfrm>
          <a:custGeom>
            <a:rect b="b" l="l" r="r" t="t"/>
            <a:pathLst>
              <a:path extrusionOk="0" h="4730750" w="3683000">
                <a:moveTo>
                  <a:pt x="126990" y="0"/>
                </a:moveTo>
                <a:lnTo>
                  <a:pt x="3556010" y="0"/>
                </a:lnTo>
                <a:cubicBezTo>
                  <a:pt x="3626145" y="0"/>
                  <a:pt x="3683000" y="56855"/>
                  <a:pt x="3683000" y="126990"/>
                </a:cubicBezTo>
                <a:lnTo>
                  <a:pt x="3683000" y="4603760"/>
                </a:lnTo>
                <a:cubicBezTo>
                  <a:pt x="3683000" y="4673895"/>
                  <a:pt x="3626145" y="4730750"/>
                  <a:pt x="3556010" y="4730750"/>
                </a:cubicBezTo>
                <a:lnTo>
                  <a:pt x="126990" y="4730750"/>
                </a:lnTo>
                <a:cubicBezTo>
                  <a:pt x="56855" y="4730750"/>
                  <a:pt x="0" y="4673895"/>
                  <a:pt x="0" y="4603760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3" rotWithShape="0" algn="bl" dir="5400000" dist="7938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8445500" y="1397000"/>
            <a:ext cx="444500" cy="444500"/>
          </a:xfrm>
          <a:custGeom>
            <a:rect b="b" l="l" r="r" t="t"/>
            <a:pathLst>
              <a:path extrusionOk="0" h="444500" w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8572500" y="1524000"/>
            <a:ext cx="190500" cy="190500"/>
          </a:xfrm>
          <a:custGeom>
            <a:rect b="b" l="l" r="r" t="t"/>
            <a:pathLst>
              <a:path extrusionOk="0" h="190500" w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985250" y="1476375"/>
            <a:ext cx="15478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Special Steps</a:t>
            </a:r>
            <a:endParaRPr b="0" i="0" sz="160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8445500" y="2095500"/>
            <a:ext cx="3175000" cy="1047750"/>
          </a:xfrm>
          <a:custGeom>
            <a:rect b="b" l="l" r="r" t="t"/>
            <a:pathLst>
              <a:path extrusionOk="0" h="1047750" w="3175000">
                <a:moveTo>
                  <a:pt x="95251" y="0"/>
                </a:moveTo>
                <a:lnTo>
                  <a:pt x="3079749" y="0"/>
                </a:lnTo>
                <a:cubicBezTo>
                  <a:pt x="3132355" y="0"/>
                  <a:pt x="3175000" y="42645"/>
                  <a:pt x="3175000" y="95251"/>
                </a:cubicBezTo>
                <a:lnTo>
                  <a:pt x="3175000" y="952499"/>
                </a:lnTo>
                <a:cubicBezTo>
                  <a:pt x="3175000" y="1005105"/>
                  <a:pt x="3132355" y="1047750"/>
                  <a:pt x="307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592344" y="228600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900715" y="2254250"/>
            <a:ext cx="264318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Outlier Capping</a:t>
            </a:r>
            <a:endParaRPr b="0" i="0" sz="160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8900715" y="2540000"/>
            <a:ext cx="26352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Capped extreme values at 95th percentile to reduce noise</a:t>
            </a:r>
            <a:endParaRPr b="0" i="0" sz="160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8445500" y="3333750"/>
            <a:ext cx="3175000" cy="1047750"/>
          </a:xfrm>
          <a:custGeom>
            <a:rect b="b" l="l" r="r" t="t"/>
            <a:pathLst>
              <a:path extrusionOk="0" h="1047750" w="3175000">
                <a:moveTo>
                  <a:pt x="95251" y="0"/>
                </a:moveTo>
                <a:lnTo>
                  <a:pt x="3079749" y="0"/>
                </a:lnTo>
                <a:cubicBezTo>
                  <a:pt x="3132355" y="0"/>
                  <a:pt x="3175000" y="42645"/>
                  <a:pt x="3175000" y="95251"/>
                </a:cubicBezTo>
                <a:lnTo>
                  <a:pt x="3175000" y="952499"/>
                </a:lnTo>
                <a:cubicBezTo>
                  <a:pt x="3175000" y="1005105"/>
                  <a:pt x="3132355" y="1047750"/>
                  <a:pt x="307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8604250" y="352425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8919667" y="3492500"/>
            <a:ext cx="26193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Data Validation</a:t>
            </a:r>
            <a:endParaRPr b="0" i="0" sz="160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8919667" y="3778250"/>
            <a:ext cx="2611438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Ensured consistency across all engineered features</a:t>
            </a:r>
            <a:endParaRPr b="0" i="0" sz="160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8445500" y="4572000"/>
            <a:ext cx="3175000" cy="1047750"/>
          </a:xfrm>
          <a:custGeom>
            <a:rect b="b" l="l" r="r" t="t"/>
            <a:pathLst>
              <a:path extrusionOk="0" h="1047750" w="3175000">
                <a:moveTo>
                  <a:pt x="95251" y="0"/>
                </a:moveTo>
                <a:lnTo>
                  <a:pt x="3079749" y="0"/>
                </a:lnTo>
                <a:cubicBezTo>
                  <a:pt x="3132355" y="0"/>
                  <a:pt x="3175000" y="42645"/>
                  <a:pt x="3175000" y="95251"/>
                </a:cubicBezTo>
                <a:lnTo>
                  <a:pt x="3175000" y="952499"/>
                </a:lnTo>
                <a:cubicBezTo>
                  <a:pt x="3175000" y="1005105"/>
                  <a:pt x="3132355" y="1047750"/>
                  <a:pt x="307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592344" y="476250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901113" y="4730750"/>
            <a:ext cx="264318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Quality Assurance</a:t>
            </a:r>
            <a:endParaRPr b="0" i="0" sz="1600" u="none" cap="none" strike="noStrike"/>
          </a:p>
        </p:txBody>
      </p:sp>
      <p:sp>
        <p:nvSpPr>
          <p:cNvPr id="184" name="Google Shape;184;p7"/>
          <p:cNvSpPr/>
          <p:nvPr/>
        </p:nvSpPr>
        <p:spPr>
          <a:xfrm>
            <a:off x="8901113" y="5016500"/>
            <a:ext cx="26352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Final dataset: 406K clean transactions ready for modeling</a:t>
            </a:r>
            <a:endParaRPr b="0" i="0" sz="1600" u="none" cap="none" strike="noStrike"/>
          </a:p>
        </p:txBody>
      </p:sp>
      <p:sp>
        <p:nvSpPr>
          <p:cNvPr id="185" name="Google Shape;185;p7"/>
          <p:cNvSpPr/>
          <p:nvPr/>
        </p:nvSpPr>
        <p:spPr>
          <a:xfrm>
            <a:off x="333375" y="6064250"/>
            <a:ext cx="11541125" cy="539750"/>
          </a:xfrm>
          <a:custGeom>
            <a:rect b="b" l="l" r="r" t="t"/>
            <a:pathLst>
              <a:path extrusionOk="0" h="539750" w="11541125">
                <a:moveTo>
                  <a:pt x="0" y="0"/>
                </a:moveTo>
                <a:lnTo>
                  <a:pt x="11445875" y="0"/>
                </a:lnTo>
                <a:cubicBezTo>
                  <a:pt x="11498480" y="0"/>
                  <a:pt x="11541125" y="42645"/>
                  <a:pt x="11541125" y="95250"/>
                </a:cubicBezTo>
                <a:lnTo>
                  <a:pt x="11541125" y="444500"/>
                </a:lnTo>
                <a:cubicBezTo>
                  <a:pt x="11541125" y="497105"/>
                  <a:pt x="11498480" y="539750"/>
                  <a:pt x="11445875" y="539750"/>
                </a:cubicBez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33375" y="6064250"/>
            <a:ext cx="31750" cy="539750"/>
          </a:xfrm>
          <a:custGeom>
            <a:rect b="b" l="l" r="r" t="t"/>
            <a:pathLst>
              <a:path extrusionOk="0" h="539750" w="31750">
                <a:moveTo>
                  <a:pt x="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>
            <a:noFill/>
          </a:ln>
        </p:spPr>
      </p:sp>
      <p:sp>
        <p:nvSpPr>
          <p:cNvPr id="187" name="Google Shape;187;p7"/>
          <p:cNvSpPr/>
          <p:nvPr/>
        </p:nvSpPr>
        <p:spPr>
          <a:xfrm>
            <a:off x="765969" y="6223000"/>
            <a:ext cx="11029156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Result:</a:t>
            </a:r>
            <a:r>
              <a:rPr b="0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 High-quality input data with engineered features improved model performance by 15-20%.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E3"/>
                </a:solidFill>
                <a:latin typeface="Liter"/>
                <a:ea typeface="Liter"/>
                <a:cs typeface="Liter"/>
                <a:sym typeface="Liter"/>
              </a:rPr>
              <a:t>EXPLORATORY DATA ANALYSIS</a:t>
            </a:r>
            <a:endParaRPr b="0" i="0" sz="1600" u="none" cap="none" strike="noStrike"/>
          </a:p>
        </p:txBody>
      </p:sp>
      <p:sp>
        <p:nvSpPr>
          <p:cNvPr id="194" name="Google Shape;194;p8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EDA Insights</a:t>
            </a:r>
            <a:endParaRPr b="0" i="0" sz="1600" u="none" cap="none" strike="noStrike"/>
          </a:p>
        </p:txBody>
      </p:sp>
      <p:sp>
        <p:nvSpPr>
          <p:cNvPr id="195" name="Google Shape;195;p8"/>
          <p:cNvSpPr/>
          <p:nvPr/>
        </p:nvSpPr>
        <p:spPr>
          <a:xfrm>
            <a:off x="317500" y="1079500"/>
            <a:ext cx="5683250" cy="2647851"/>
          </a:xfrm>
          <a:custGeom>
            <a:rect b="b" l="l" r="r" t="t"/>
            <a:pathLst>
              <a:path extrusionOk="0" h="2647851" w="5683250">
                <a:moveTo>
                  <a:pt x="126992" y="0"/>
                </a:moveTo>
                <a:lnTo>
                  <a:pt x="5556258" y="0"/>
                </a:lnTo>
                <a:cubicBezTo>
                  <a:pt x="5626394" y="0"/>
                  <a:pt x="5683250" y="54817"/>
                  <a:pt x="5683250" y="122437"/>
                </a:cubicBezTo>
                <a:lnTo>
                  <a:pt x="5683250" y="2525415"/>
                </a:lnTo>
                <a:cubicBezTo>
                  <a:pt x="5683250" y="2593034"/>
                  <a:pt x="5626394" y="2647851"/>
                  <a:pt x="5556258" y="2647851"/>
                </a:cubicBezTo>
                <a:lnTo>
                  <a:pt x="126992" y="2647851"/>
                </a:lnTo>
                <a:cubicBezTo>
                  <a:pt x="56856" y="2647851"/>
                  <a:pt x="0" y="2593034"/>
                  <a:pt x="0" y="2525415"/>
                </a:cubicBezTo>
                <a:lnTo>
                  <a:pt x="0" y="122437"/>
                </a:lnTo>
                <a:cubicBezTo>
                  <a:pt x="0" y="54862"/>
                  <a:pt x="56903" y="0"/>
                  <a:pt x="1269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3" rotWithShape="0" algn="bl" dir="5400000" dist="7938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31813" y="1301651"/>
            <a:ext cx="190500" cy="190500"/>
          </a:xfrm>
          <a:custGeom>
            <a:rect b="b" l="l" r="r" t="t"/>
            <a:pathLst>
              <a:path extrusionOk="0" h="190500" w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89297" y="35719"/>
                </a:moveTo>
                <a:cubicBezTo>
                  <a:pt x="91790" y="35719"/>
                  <a:pt x="94171" y="36761"/>
                  <a:pt x="95883" y="38621"/>
                </a:cubicBezTo>
                <a:lnTo>
                  <a:pt x="122337" y="67456"/>
                </a:lnTo>
                <a:lnTo>
                  <a:pt x="139526" y="50229"/>
                </a:lnTo>
                <a:cubicBezTo>
                  <a:pt x="143024" y="46732"/>
                  <a:pt x="148679" y="46732"/>
                  <a:pt x="152140" y="50229"/>
                </a:cubicBezTo>
                <a:lnTo>
                  <a:pt x="175952" y="74042"/>
                </a:lnTo>
                <a:cubicBezTo>
                  <a:pt x="177626" y="75716"/>
                  <a:pt x="178557" y="77986"/>
                  <a:pt x="178557" y="80367"/>
                </a:cubicBezTo>
                <a:lnTo>
                  <a:pt x="178557" y="122039"/>
                </a:lnTo>
                <a:cubicBezTo>
                  <a:pt x="178557" y="126988"/>
                  <a:pt x="174575" y="130969"/>
                  <a:pt x="169627" y="130969"/>
                </a:cubicBezTo>
                <a:lnTo>
                  <a:pt x="56517" y="130969"/>
                </a:lnTo>
                <a:cubicBezTo>
                  <a:pt x="51569" y="130969"/>
                  <a:pt x="47588" y="126988"/>
                  <a:pt x="47588" y="122039"/>
                </a:cubicBezTo>
                <a:lnTo>
                  <a:pt x="47588" y="80367"/>
                </a:lnTo>
                <a:cubicBezTo>
                  <a:pt x="47588" y="78135"/>
                  <a:pt x="48444" y="75977"/>
                  <a:pt x="49932" y="74340"/>
                </a:cubicBezTo>
                <a:lnTo>
                  <a:pt x="82674" y="38621"/>
                </a:lnTo>
                <a:cubicBezTo>
                  <a:pt x="84348" y="36761"/>
                  <a:pt x="86767" y="35719"/>
                  <a:pt x="89260" y="35719"/>
                </a:cubicBez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46125" y="1270000"/>
            <a:ext cx="5159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Revenue Trend</a:t>
            </a:r>
            <a:endParaRPr b="0" i="0" sz="1600" u="none" cap="none" strike="noStrike"/>
          </a:p>
        </p:txBody>
      </p:sp>
      <p:sp>
        <p:nvSpPr>
          <p:cNvPr id="198" name="Google Shape;198;p8"/>
          <p:cNvSpPr/>
          <p:nvPr/>
        </p:nvSpPr>
        <p:spPr>
          <a:xfrm>
            <a:off x="6191250" y="1079500"/>
            <a:ext cx="5683250" cy="2647851"/>
          </a:xfrm>
          <a:custGeom>
            <a:rect b="b" l="l" r="r" t="t"/>
            <a:pathLst>
              <a:path extrusionOk="0" h="2647851" w="5683250">
                <a:moveTo>
                  <a:pt x="126992" y="0"/>
                </a:moveTo>
                <a:lnTo>
                  <a:pt x="5556258" y="0"/>
                </a:lnTo>
                <a:cubicBezTo>
                  <a:pt x="5626394" y="0"/>
                  <a:pt x="5683250" y="54817"/>
                  <a:pt x="5683250" y="122437"/>
                </a:cubicBezTo>
                <a:lnTo>
                  <a:pt x="5683250" y="2525415"/>
                </a:lnTo>
                <a:cubicBezTo>
                  <a:pt x="5683250" y="2593034"/>
                  <a:pt x="5626394" y="2647851"/>
                  <a:pt x="5556258" y="2647851"/>
                </a:cubicBezTo>
                <a:lnTo>
                  <a:pt x="126992" y="2647851"/>
                </a:lnTo>
                <a:cubicBezTo>
                  <a:pt x="56856" y="2647851"/>
                  <a:pt x="0" y="2593034"/>
                  <a:pt x="0" y="2525415"/>
                </a:cubicBezTo>
                <a:lnTo>
                  <a:pt x="0" y="122437"/>
                </a:lnTo>
                <a:cubicBezTo>
                  <a:pt x="0" y="54862"/>
                  <a:pt x="56903" y="0"/>
                  <a:pt x="1269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3" rotWithShape="0" algn="bl" dir="5400000" dist="7938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405563" y="1301651"/>
            <a:ext cx="190500" cy="190500"/>
          </a:xfrm>
          <a:custGeom>
            <a:rect b="b" l="l" r="r" t="t"/>
            <a:pathLst>
              <a:path extrusionOk="0" h="190500" w="190500">
                <a:moveTo>
                  <a:pt x="95324" y="17859"/>
                </a:moveTo>
                <a:cubicBezTo>
                  <a:pt x="138038" y="17897"/>
                  <a:pt x="172641" y="52536"/>
                  <a:pt x="172641" y="95250"/>
                </a:cubicBezTo>
                <a:cubicBezTo>
                  <a:pt x="172641" y="103473"/>
                  <a:pt x="171376" y="111398"/>
                  <a:pt x="168994" y="118839"/>
                </a:cubicBezTo>
                <a:cubicBezTo>
                  <a:pt x="168250" y="118988"/>
                  <a:pt x="167469" y="119063"/>
                  <a:pt x="166688" y="119063"/>
                </a:cubicBezTo>
                <a:lnTo>
                  <a:pt x="165683" y="119063"/>
                </a:lnTo>
                <a:cubicBezTo>
                  <a:pt x="162520" y="119063"/>
                  <a:pt x="159507" y="117797"/>
                  <a:pt x="157274" y="115565"/>
                </a:cubicBezTo>
                <a:lnTo>
                  <a:pt x="146372" y="104663"/>
                </a:lnTo>
                <a:cubicBezTo>
                  <a:pt x="144140" y="102431"/>
                  <a:pt x="142875" y="99417"/>
                  <a:pt x="142875" y="96255"/>
                </a:cubicBezTo>
                <a:lnTo>
                  <a:pt x="142875" y="77391"/>
                </a:lnTo>
                <a:cubicBezTo>
                  <a:pt x="142875" y="74116"/>
                  <a:pt x="145554" y="71438"/>
                  <a:pt x="148828" y="71438"/>
                </a:cubicBezTo>
                <a:cubicBezTo>
                  <a:pt x="152102" y="71438"/>
                  <a:pt x="154781" y="68759"/>
                  <a:pt x="154781" y="65484"/>
                </a:cubicBezTo>
                <a:cubicBezTo>
                  <a:pt x="154781" y="62210"/>
                  <a:pt x="152102" y="59531"/>
                  <a:pt x="148828" y="59531"/>
                </a:cubicBezTo>
                <a:lnTo>
                  <a:pt x="139898" y="59531"/>
                </a:lnTo>
                <a:cubicBezTo>
                  <a:pt x="134950" y="59531"/>
                  <a:pt x="130969" y="63512"/>
                  <a:pt x="130969" y="68461"/>
                </a:cubicBezTo>
                <a:cubicBezTo>
                  <a:pt x="130969" y="73409"/>
                  <a:pt x="126988" y="77391"/>
                  <a:pt x="122039" y="77391"/>
                </a:cubicBezTo>
                <a:lnTo>
                  <a:pt x="101203" y="77391"/>
                </a:lnTo>
                <a:cubicBezTo>
                  <a:pt x="97929" y="77391"/>
                  <a:pt x="95250" y="80070"/>
                  <a:pt x="95250" y="83344"/>
                </a:cubicBezTo>
                <a:cubicBezTo>
                  <a:pt x="95250" y="86618"/>
                  <a:pt x="92571" y="89297"/>
                  <a:pt x="89297" y="89297"/>
                </a:cubicBezTo>
                <a:lnTo>
                  <a:pt x="79846" y="89297"/>
                </a:lnTo>
                <a:cubicBezTo>
                  <a:pt x="75195" y="89297"/>
                  <a:pt x="71438" y="85539"/>
                  <a:pt x="71438" y="80888"/>
                </a:cubicBezTo>
                <a:cubicBezTo>
                  <a:pt x="71438" y="78656"/>
                  <a:pt x="72330" y="76498"/>
                  <a:pt x="73893" y="74935"/>
                </a:cubicBezTo>
                <a:lnTo>
                  <a:pt x="99975" y="48853"/>
                </a:lnTo>
                <a:cubicBezTo>
                  <a:pt x="100757" y="48071"/>
                  <a:pt x="101203" y="46992"/>
                  <a:pt x="101203" y="45876"/>
                </a:cubicBezTo>
                <a:cubicBezTo>
                  <a:pt x="101203" y="43569"/>
                  <a:pt x="99306" y="41672"/>
                  <a:pt x="96999" y="41672"/>
                </a:cubicBezTo>
                <a:lnTo>
                  <a:pt x="91753" y="41672"/>
                </a:lnTo>
                <a:cubicBezTo>
                  <a:pt x="87102" y="41672"/>
                  <a:pt x="83344" y="37914"/>
                  <a:pt x="83344" y="33263"/>
                </a:cubicBezTo>
                <a:cubicBezTo>
                  <a:pt x="83344" y="31031"/>
                  <a:pt x="84237" y="28873"/>
                  <a:pt x="85799" y="27310"/>
                </a:cubicBezTo>
                <a:lnTo>
                  <a:pt x="94394" y="18715"/>
                </a:lnTo>
                <a:cubicBezTo>
                  <a:pt x="94692" y="18417"/>
                  <a:pt x="94990" y="18157"/>
                  <a:pt x="95324" y="17897"/>
                </a:cubicBezTo>
                <a:close/>
                <a:moveTo>
                  <a:pt x="163116" y="132494"/>
                </a:moveTo>
                <a:cubicBezTo>
                  <a:pt x="150912" y="154670"/>
                  <a:pt x="128178" y="170222"/>
                  <a:pt x="101650" y="172380"/>
                </a:cubicBezTo>
                <a:cubicBezTo>
                  <a:pt x="101389" y="171524"/>
                  <a:pt x="101240" y="170594"/>
                  <a:pt x="101240" y="169664"/>
                </a:cubicBezTo>
                <a:cubicBezTo>
                  <a:pt x="101240" y="164716"/>
                  <a:pt x="97259" y="160734"/>
                  <a:pt x="92311" y="160734"/>
                </a:cubicBezTo>
                <a:lnTo>
                  <a:pt x="82376" y="160734"/>
                </a:lnTo>
                <a:cubicBezTo>
                  <a:pt x="79214" y="160734"/>
                  <a:pt x="76200" y="159469"/>
                  <a:pt x="73968" y="157237"/>
                </a:cubicBezTo>
                <a:lnTo>
                  <a:pt x="63066" y="146335"/>
                </a:lnTo>
                <a:cubicBezTo>
                  <a:pt x="60833" y="144103"/>
                  <a:pt x="59568" y="141089"/>
                  <a:pt x="59568" y="137926"/>
                </a:cubicBezTo>
                <a:lnTo>
                  <a:pt x="59568" y="113109"/>
                </a:lnTo>
                <a:cubicBezTo>
                  <a:pt x="59568" y="106524"/>
                  <a:pt x="64889" y="101203"/>
                  <a:pt x="71475" y="101203"/>
                </a:cubicBezTo>
                <a:lnTo>
                  <a:pt x="108198" y="101203"/>
                </a:lnTo>
                <a:cubicBezTo>
                  <a:pt x="111361" y="101203"/>
                  <a:pt x="114374" y="102468"/>
                  <a:pt x="116607" y="104701"/>
                </a:cubicBezTo>
                <a:lnTo>
                  <a:pt x="127508" y="115602"/>
                </a:lnTo>
                <a:cubicBezTo>
                  <a:pt x="129741" y="117835"/>
                  <a:pt x="132755" y="119100"/>
                  <a:pt x="135917" y="119100"/>
                </a:cubicBezTo>
                <a:lnTo>
                  <a:pt x="137964" y="119100"/>
                </a:lnTo>
                <a:cubicBezTo>
                  <a:pt x="141126" y="119100"/>
                  <a:pt x="144140" y="120365"/>
                  <a:pt x="146372" y="122597"/>
                </a:cubicBezTo>
                <a:lnTo>
                  <a:pt x="152326" y="128550"/>
                </a:lnTo>
                <a:cubicBezTo>
                  <a:pt x="153888" y="130113"/>
                  <a:pt x="156046" y="131006"/>
                  <a:pt x="158279" y="131006"/>
                </a:cubicBezTo>
                <a:cubicBezTo>
                  <a:pt x="160065" y="131006"/>
                  <a:pt x="161739" y="131564"/>
                  <a:pt x="163116" y="132531"/>
                </a:cubicBezTo>
                <a:close/>
                <a:moveTo>
                  <a:pt x="95250" y="190500"/>
                </a:moveTo>
                <a:lnTo>
                  <a:pt x="104998" y="190016"/>
                </a:lnTo>
                <a:cubicBezTo>
                  <a:pt x="101798" y="190351"/>
                  <a:pt x="98561" y="190500"/>
                  <a:pt x="95250" y="190500"/>
                </a:cubicBezTo>
                <a:close/>
                <a:moveTo>
                  <a:pt x="104998" y="190016"/>
                </a:moveTo>
                <a:cubicBezTo>
                  <a:pt x="153033" y="185142"/>
                  <a:pt x="190500" y="144587"/>
                  <a:pt x="190500" y="95250"/>
                </a:cubicBezTo>
                <a:cubicBezTo>
                  <a:pt x="190500" y="42639"/>
                  <a:pt x="147861" y="0"/>
                  <a:pt x="95250" y="0"/>
                </a:cubicBezTo>
                <a:lnTo>
                  <a:pt x="95250" y="0"/>
                </a:lnTo>
                <a:cubicBezTo>
                  <a:pt x="42639" y="0"/>
                  <a:pt x="0" y="42639"/>
                  <a:pt x="0" y="95250"/>
                </a:cubicBezTo>
                <a:cubicBezTo>
                  <a:pt x="0" y="142689"/>
                  <a:pt x="34677" y="182054"/>
                  <a:pt x="80107" y="189309"/>
                </a:cubicBezTo>
                <a:cubicBezTo>
                  <a:pt x="85018" y="190091"/>
                  <a:pt x="90078" y="190500"/>
                  <a:pt x="95250" y="190500"/>
                </a:cubicBezTo>
                <a:close/>
                <a:moveTo>
                  <a:pt x="69689" y="45876"/>
                </a:moveTo>
                <a:lnTo>
                  <a:pt x="57783" y="57783"/>
                </a:lnTo>
                <a:cubicBezTo>
                  <a:pt x="55476" y="60089"/>
                  <a:pt x="51681" y="60089"/>
                  <a:pt x="49374" y="57783"/>
                </a:cubicBezTo>
                <a:cubicBezTo>
                  <a:pt x="47067" y="55476"/>
                  <a:pt x="47067" y="51681"/>
                  <a:pt x="49374" y="49374"/>
                </a:cubicBezTo>
                <a:lnTo>
                  <a:pt x="61280" y="37467"/>
                </a:lnTo>
                <a:cubicBezTo>
                  <a:pt x="63587" y="35161"/>
                  <a:pt x="67382" y="35161"/>
                  <a:pt x="69689" y="37467"/>
                </a:cubicBezTo>
                <a:cubicBezTo>
                  <a:pt x="71996" y="39774"/>
                  <a:pt x="71996" y="43569"/>
                  <a:pt x="69689" y="45876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6619875" y="1270000"/>
            <a:ext cx="5159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Top Countries by Revenue</a:t>
            </a:r>
            <a:endParaRPr b="0" i="0" sz="1600" u="none" cap="none" strike="noStrike"/>
          </a:p>
        </p:txBody>
      </p:sp>
      <p:sp>
        <p:nvSpPr>
          <p:cNvPr id="201" name="Google Shape;201;p8"/>
          <p:cNvSpPr/>
          <p:nvPr/>
        </p:nvSpPr>
        <p:spPr>
          <a:xfrm>
            <a:off x="317500" y="3813076"/>
            <a:ext cx="5683250" cy="2349791"/>
          </a:xfrm>
          <a:custGeom>
            <a:rect b="b" l="l" r="r" t="t"/>
            <a:pathLst>
              <a:path extrusionOk="0" h="2349791" w="5683250">
                <a:moveTo>
                  <a:pt x="126992" y="0"/>
                </a:moveTo>
                <a:lnTo>
                  <a:pt x="5556258" y="0"/>
                </a:lnTo>
                <a:cubicBezTo>
                  <a:pt x="5626394" y="0"/>
                  <a:pt x="5683250" y="48646"/>
                  <a:pt x="5683250" y="108654"/>
                </a:cubicBezTo>
                <a:lnTo>
                  <a:pt x="5683250" y="2241136"/>
                </a:lnTo>
                <a:cubicBezTo>
                  <a:pt x="5683250" y="2301145"/>
                  <a:pt x="5626394" y="2349791"/>
                  <a:pt x="5556258" y="2349791"/>
                </a:cubicBezTo>
                <a:lnTo>
                  <a:pt x="126992" y="2349791"/>
                </a:lnTo>
                <a:cubicBezTo>
                  <a:pt x="56856" y="2349791"/>
                  <a:pt x="0" y="2301145"/>
                  <a:pt x="0" y="2241136"/>
                </a:cubicBezTo>
                <a:lnTo>
                  <a:pt x="0" y="108654"/>
                </a:lnTo>
                <a:cubicBezTo>
                  <a:pt x="0" y="48686"/>
                  <a:pt x="56903" y="0"/>
                  <a:pt x="1269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3" rotWithShape="0" algn="bl" dir="5400000" dist="7938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508000" y="4035227"/>
            <a:ext cx="238125" cy="190500"/>
          </a:xfrm>
          <a:custGeom>
            <a:rect b="b" l="l" r="r" t="t"/>
            <a:pathLst>
              <a:path extrusionOk="0" h="190500" w="238125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746125" y="4003576"/>
            <a:ext cx="5159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RFM Distribution</a:t>
            </a:r>
            <a:endParaRPr b="0" i="0" sz="1600" u="none" cap="none" strike="noStrike"/>
          </a:p>
        </p:txBody>
      </p:sp>
      <p:sp>
        <p:nvSpPr>
          <p:cNvPr id="204" name="Google Shape;204;p8"/>
          <p:cNvSpPr/>
          <p:nvPr/>
        </p:nvSpPr>
        <p:spPr>
          <a:xfrm>
            <a:off x="6191250" y="3813076"/>
            <a:ext cx="5683250" cy="2349791"/>
          </a:xfrm>
          <a:custGeom>
            <a:rect b="b" l="l" r="r" t="t"/>
            <a:pathLst>
              <a:path extrusionOk="0" h="2349791" w="5683250">
                <a:moveTo>
                  <a:pt x="126992" y="0"/>
                </a:moveTo>
                <a:lnTo>
                  <a:pt x="5556258" y="0"/>
                </a:lnTo>
                <a:cubicBezTo>
                  <a:pt x="5626394" y="0"/>
                  <a:pt x="5683250" y="48646"/>
                  <a:pt x="5683250" y="108654"/>
                </a:cubicBezTo>
                <a:lnTo>
                  <a:pt x="5683250" y="2241136"/>
                </a:lnTo>
                <a:cubicBezTo>
                  <a:pt x="5683250" y="2301145"/>
                  <a:pt x="5626394" y="2349791"/>
                  <a:pt x="5556258" y="2349791"/>
                </a:cubicBezTo>
                <a:lnTo>
                  <a:pt x="126992" y="2349791"/>
                </a:lnTo>
                <a:cubicBezTo>
                  <a:pt x="56856" y="2349791"/>
                  <a:pt x="0" y="2301145"/>
                  <a:pt x="0" y="2241136"/>
                </a:cubicBezTo>
                <a:lnTo>
                  <a:pt x="0" y="108654"/>
                </a:lnTo>
                <a:cubicBezTo>
                  <a:pt x="0" y="48686"/>
                  <a:pt x="56903" y="0"/>
                  <a:pt x="1269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3813" rotWithShape="0" algn="bl" dir="5400000" dist="7938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405563" y="4035227"/>
            <a:ext cx="190500" cy="190500"/>
          </a:xfrm>
          <a:custGeom>
            <a:rect b="b" l="l" r="r" t="t"/>
            <a:pathLst>
              <a:path extrusionOk="0" h="190500" w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619875" y="4003576"/>
            <a:ext cx="5159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Correlation Heatmap</a:t>
            </a:r>
            <a:endParaRPr b="0" i="0" sz="1600" u="none" cap="none" strike="noStrike"/>
          </a:p>
        </p:txBody>
      </p:sp>
      <p:sp>
        <p:nvSpPr>
          <p:cNvPr id="207" name="Google Shape;207;p8"/>
          <p:cNvSpPr/>
          <p:nvPr/>
        </p:nvSpPr>
        <p:spPr>
          <a:xfrm>
            <a:off x="317500" y="6216452"/>
            <a:ext cx="3722688" cy="666750"/>
          </a:xfrm>
          <a:custGeom>
            <a:rect b="b" l="l" r="r" t="t"/>
            <a:pathLst>
              <a:path extrusionOk="0" h="666750" w="3722688">
                <a:moveTo>
                  <a:pt x="95252" y="0"/>
                </a:moveTo>
                <a:lnTo>
                  <a:pt x="3627436" y="0"/>
                </a:lnTo>
                <a:cubicBezTo>
                  <a:pt x="3680042" y="0"/>
                  <a:pt x="3722688" y="42646"/>
                  <a:pt x="3722688" y="95252"/>
                </a:cubicBezTo>
                <a:lnTo>
                  <a:pt x="3722688" y="571498"/>
                </a:lnTo>
                <a:cubicBezTo>
                  <a:pt x="3722688" y="624104"/>
                  <a:pt x="3680042" y="666750"/>
                  <a:pt x="3627436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491133" y="6430765"/>
            <a:ext cx="208359" cy="238125"/>
          </a:xfrm>
          <a:custGeom>
            <a:rect b="b" l="l" r="r" t="t"/>
            <a:pathLst>
              <a:path extrusionOk="0" h="238125" w="208359">
                <a:moveTo>
                  <a:pt x="29766" y="14883"/>
                </a:moveTo>
                <a:cubicBezTo>
                  <a:pt x="29766" y="6651"/>
                  <a:pt x="23115" y="0"/>
                  <a:pt x="14883" y="0"/>
                </a:cubicBezTo>
                <a:cubicBezTo>
                  <a:pt x="6651" y="0"/>
                  <a:pt x="0" y="6651"/>
                  <a:pt x="0" y="14883"/>
                </a:cubicBezTo>
                <a:lnTo>
                  <a:pt x="0" y="223242"/>
                </a:lnTo>
                <a:cubicBezTo>
                  <a:pt x="0" y="231474"/>
                  <a:pt x="6651" y="238125"/>
                  <a:pt x="14883" y="238125"/>
                </a:cubicBezTo>
                <a:cubicBezTo>
                  <a:pt x="23115" y="238125"/>
                  <a:pt x="29766" y="231474"/>
                  <a:pt x="29766" y="223242"/>
                </a:cubicBezTo>
                <a:lnTo>
                  <a:pt x="29766" y="166688"/>
                </a:lnTo>
                <a:lnTo>
                  <a:pt x="58927" y="157944"/>
                </a:lnTo>
                <a:cubicBezTo>
                  <a:pt x="78414" y="152084"/>
                  <a:pt x="99436" y="153898"/>
                  <a:pt x="117621" y="163013"/>
                </a:cubicBezTo>
                <a:cubicBezTo>
                  <a:pt x="137480" y="172966"/>
                  <a:pt x="160641" y="174175"/>
                  <a:pt x="181431" y="166362"/>
                </a:cubicBezTo>
                <a:lnTo>
                  <a:pt x="198686" y="159897"/>
                </a:lnTo>
                <a:cubicBezTo>
                  <a:pt x="204499" y="157711"/>
                  <a:pt x="208359" y="152177"/>
                  <a:pt x="208359" y="145945"/>
                </a:cubicBezTo>
                <a:lnTo>
                  <a:pt x="208359" y="30742"/>
                </a:lnTo>
                <a:cubicBezTo>
                  <a:pt x="208359" y="20045"/>
                  <a:pt x="197104" y="13069"/>
                  <a:pt x="187523" y="17859"/>
                </a:cubicBezTo>
                <a:lnTo>
                  <a:pt x="182035" y="20603"/>
                </a:lnTo>
                <a:cubicBezTo>
                  <a:pt x="161153" y="31068"/>
                  <a:pt x="136550" y="31068"/>
                  <a:pt x="115621" y="20603"/>
                </a:cubicBezTo>
                <a:cubicBezTo>
                  <a:pt x="98692" y="12139"/>
                  <a:pt x="79204" y="10464"/>
                  <a:pt x="61113" y="15906"/>
                </a:cubicBezTo>
                <a:lnTo>
                  <a:pt x="29766" y="25301"/>
                </a:lnTo>
                <a:lnTo>
                  <a:pt x="29766" y="14883"/>
                </a:lnTo>
                <a:close/>
              </a:path>
            </a:pathLst>
          </a:custGeom>
          <a:solidFill>
            <a:srgbClr val="007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869156" y="6343452"/>
            <a:ext cx="12223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UK Dominates</a:t>
            </a:r>
            <a:endParaRPr b="0" i="0" sz="1600" u="none" cap="none" strike="noStrike"/>
          </a:p>
        </p:txBody>
      </p:sp>
      <p:sp>
        <p:nvSpPr>
          <p:cNvPr id="210" name="Google Shape;210;p8"/>
          <p:cNvSpPr/>
          <p:nvPr/>
        </p:nvSpPr>
        <p:spPr>
          <a:xfrm>
            <a:off x="869156" y="6565702"/>
            <a:ext cx="120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82% of total revenue</a:t>
            </a:r>
            <a:endParaRPr b="0" i="0" sz="1600" u="none" cap="none" strike="noStrike"/>
          </a:p>
        </p:txBody>
      </p:sp>
      <p:sp>
        <p:nvSpPr>
          <p:cNvPr id="211" name="Google Shape;211;p8"/>
          <p:cNvSpPr/>
          <p:nvPr/>
        </p:nvSpPr>
        <p:spPr>
          <a:xfrm>
            <a:off x="4233267" y="6216452"/>
            <a:ext cx="3722688" cy="666750"/>
          </a:xfrm>
          <a:custGeom>
            <a:rect b="b" l="l" r="r" t="t"/>
            <a:pathLst>
              <a:path extrusionOk="0" h="666750" w="3722688">
                <a:moveTo>
                  <a:pt x="95252" y="0"/>
                </a:moveTo>
                <a:lnTo>
                  <a:pt x="3627436" y="0"/>
                </a:lnTo>
                <a:cubicBezTo>
                  <a:pt x="3680042" y="0"/>
                  <a:pt x="3722688" y="42646"/>
                  <a:pt x="3722688" y="95252"/>
                </a:cubicBezTo>
                <a:lnTo>
                  <a:pt x="3722688" y="571498"/>
                </a:lnTo>
                <a:cubicBezTo>
                  <a:pt x="3722688" y="624104"/>
                  <a:pt x="3680042" y="666750"/>
                  <a:pt x="3627436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406900" y="6430765"/>
            <a:ext cx="208359" cy="238125"/>
          </a:xfrm>
          <a:custGeom>
            <a:rect b="b" l="l" r="r" t="t"/>
            <a:pathLst>
              <a:path extrusionOk="0" h="238125" w="208359">
                <a:moveTo>
                  <a:pt x="59531" y="0"/>
                </a:moveTo>
                <a:cubicBezTo>
                  <a:pt x="67763" y="0"/>
                  <a:pt x="74414" y="6651"/>
                  <a:pt x="74414" y="14883"/>
                </a:cubicBezTo>
                <a:lnTo>
                  <a:pt x="74414" y="29766"/>
                </a:lnTo>
                <a:lnTo>
                  <a:pt x="133945" y="29766"/>
                </a:lnTo>
                <a:lnTo>
                  <a:pt x="133945" y="14883"/>
                </a:lnTo>
                <a:cubicBezTo>
                  <a:pt x="133945" y="6651"/>
                  <a:pt x="140596" y="0"/>
                  <a:pt x="148828" y="0"/>
                </a:cubicBezTo>
                <a:cubicBezTo>
                  <a:pt x="157060" y="0"/>
                  <a:pt x="163711" y="6651"/>
                  <a:pt x="163711" y="14883"/>
                </a:cubicBezTo>
                <a:lnTo>
                  <a:pt x="163711" y="29766"/>
                </a:lnTo>
                <a:lnTo>
                  <a:pt x="178594" y="29766"/>
                </a:lnTo>
                <a:cubicBezTo>
                  <a:pt x="195011" y="29766"/>
                  <a:pt x="208359" y="43114"/>
                  <a:pt x="208359" y="59531"/>
                </a:cubicBezTo>
                <a:lnTo>
                  <a:pt x="208359" y="193477"/>
                </a:lnTo>
                <a:cubicBezTo>
                  <a:pt x="208359" y="209894"/>
                  <a:pt x="195011" y="223242"/>
                  <a:pt x="178594" y="223242"/>
                </a:cubicBezTo>
                <a:lnTo>
                  <a:pt x="29766" y="223242"/>
                </a:lnTo>
                <a:cubicBezTo>
                  <a:pt x="13348" y="223242"/>
                  <a:pt x="0" y="209894"/>
                  <a:pt x="0" y="193477"/>
                </a:cubicBezTo>
                <a:lnTo>
                  <a:pt x="0" y="59531"/>
                </a:lnTo>
                <a:cubicBezTo>
                  <a:pt x="0" y="43114"/>
                  <a:pt x="13348" y="29766"/>
                  <a:pt x="29766" y="29766"/>
                </a:cubicBezTo>
                <a:lnTo>
                  <a:pt x="44648" y="29766"/>
                </a:lnTo>
                <a:lnTo>
                  <a:pt x="44648" y="14883"/>
                </a:lnTo>
                <a:cubicBezTo>
                  <a:pt x="44648" y="6651"/>
                  <a:pt x="51299" y="0"/>
                  <a:pt x="59531" y="0"/>
                </a:cubicBezTo>
                <a:close/>
                <a:moveTo>
                  <a:pt x="29766" y="111621"/>
                </a:moveTo>
                <a:lnTo>
                  <a:pt x="29766" y="126504"/>
                </a:lnTo>
                <a:cubicBezTo>
                  <a:pt x="29766" y="130597"/>
                  <a:pt x="33114" y="133945"/>
                  <a:pt x="37207" y="133945"/>
                </a:cubicBezTo>
                <a:lnTo>
                  <a:pt x="52090" y="133945"/>
                </a:lnTo>
                <a:cubicBezTo>
                  <a:pt x="56183" y="133945"/>
                  <a:pt x="59531" y="130597"/>
                  <a:pt x="59531" y="126504"/>
                </a:cubicBezTo>
                <a:lnTo>
                  <a:pt x="59531" y="111621"/>
                </a:lnTo>
                <a:cubicBezTo>
                  <a:pt x="59531" y="107528"/>
                  <a:pt x="56183" y="104180"/>
                  <a:pt x="52090" y="104180"/>
                </a:cubicBezTo>
                <a:lnTo>
                  <a:pt x="37207" y="104180"/>
                </a:lnTo>
                <a:cubicBezTo>
                  <a:pt x="33114" y="104180"/>
                  <a:pt x="29766" y="107528"/>
                  <a:pt x="29766" y="111621"/>
                </a:cubicBezTo>
                <a:close/>
                <a:moveTo>
                  <a:pt x="89297" y="111621"/>
                </a:moveTo>
                <a:lnTo>
                  <a:pt x="89297" y="126504"/>
                </a:lnTo>
                <a:cubicBezTo>
                  <a:pt x="89297" y="130597"/>
                  <a:pt x="92646" y="133945"/>
                  <a:pt x="96738" y="133945"/>
                </a:cubicBezTo>
                <a:lnTo>
                  <a:pt x="111621" y="133945"/>
                </a:lnTo>
                <a:cubicBezTo>
                  <a:pt x="115714" y="133945"/>
                  <a:pt x="119062" y="130597"/>
                  <a:pt x="119062" y="126504"/>
                </a:cubicBezTo>
                <a:lnTo>
                  <a:pt x="119062" y="111621"/>
                </a:lnTo>
                <a:cubicBezTo>
                  <a:pt x="119062" y="107528"/>
                  <a:pt x="115714" y="104180"/>
                  <a:pt x="111621" y="104180"/>
                </a:cubicBezTo>
                <a:lnTo>
                  <a:pt x="96738" y="104180"/>
                </a:lnTo>
                <a:cubicBezTo>
                  <a:pt x="92646" y="104180"/>
                  <a:pt x="89297" y="107528"/>
                  <a:pt x="89297" y="111621"/>
                </a:cubicBezTo>
                <a:close/>
                <a:moveTo>
                  <a:pt x="156270" y="104180"/>
                </a:moveTo>
                <a:cubicBezTo>
                  <a:pt x="152177" y="104180"/>
                  <a:pt x="148828" y="107528"/>
                  <a:pt x="148828" y="111621"/>
                </a:cubicBezTo>
                <a:lnTo>
                  <a:pt x="148828" y="126504"/>
                </a:lnTo>
                <a:cubicBezTo>
                  <a:pt x="148828" y="130597"/>
                  <a:pt x="152177" y="133945"/>
                  <a:pt x="156270" y="133945"/>
                </a:cubicBezTo>
                <a:lnTo>
                  <a:pt x="171152" y="133945"/>
                </a:lnTo>
                <a:cubicBezTo>
                  <a:pt x="175245" y="133945"/>
                  <a:pt x="178594" y="130597"/>
                  <a:pt x="178594" y="126504"/>
                </a:cubicBezTo>
                <a:lnTo>
                  <a:pt x="178594" y="111621"/>
                </a:lnTo>
                <a:cubicBezTo>
                  <a:pt x="178594" y="107528"/>
                  <a:pt x="175245" y="104180"/>
                  <a:pt x="171152" y="104180"/>
                </a:cubicBezTo>
                <a:lnTo>
                  <a:pt x="156270" y="104180"/>
                </a:lnTo>
                <a:close/>
                <a:moveTo>
                  <a:pt x="29766" y="171152"/>
                </a:moveTo>
                <a:lnTo>
                  <a:pt x="29766" y="186035"/>
                </a:lnTo>
                <a:cubicBezTo>
                  <a:pt x="29766" y="190128"/>
                  <a:pt x="33114" y="193477"/>
                  <a:pt x="37207" y="193477"/>
                </a:cubicBezTo>
                <a:lnTo>
                  <a:pt x="52090" y="193477"/>
                </a:lnTo>
                <a:cubicBezTo>
                  <a:pt x="56183" y="193477"/>
                  <a:pt x="59531" y="190128"/>
                  <a:pt x="59531" y="186035"/>
                </a:cubicBezTo>
                <a:lnTo>
                  <a:pt x="59531" y="171152"/>
                </a:lnTo>
                <a:cubicBezTo>
                  <a:pt x="59531" y="167060"/>
                  <a:pt x="56183" y="163711"/>
                  <a:pt x="52090" y="163711"/>
                </a:cubicBezTo>
                <a:lnTo>
                  <a:pt x="37207" y="163711"/>
                </a:lnTo>
                <a:cubicBezTo>
                  <a:pt x="33114" y="163711"/>
                  <a:pt x="29766" y="167060"/>
                  <a:pt x="29766" y="171152"/>
                </a:cubicBezTo>
                <a:close/>
                <a:moveTo>
                  <a:pt x="96738" y="163711"/>
                </a:moveTo>
                <a:cubicBezTo>
                  <a:pt x="92646" y="163711"/>
                  <a:pt x="89297" y="167060"/>
                  <a:pt x="89297" y="171152"/>
                </a:cubicBezTo>
                <a:lnTo>
                  <a:pt x="89297" y="186035"/>
                </a:lnTo>
                <a:cubicBezTo>
                  <a:pt x="89297" y="190128"/>
                  <a:pt x="92646" y="193477"/>
                  <a:pt x="96738" y="193477"/>
                </a:cubicBezTo>
                <a:lnTo>
                  <a:pt x="111621" y="193477"/>
                </a:lnTo>
                <a:cubicBezTo>
                  <a:pt x="115714" y="193477"/>
                  <a:pt x="119062" y="190128"/>
                  <a:pt x="119062" y="186035"/>
                </a:cubicBezTo>
                <a:lnTo>
                  <a:pt x="119062" y="171152"/>
                </a:lnTo>
                <a:cubicBezTo>
                  <a:pt x="119062" y="167060"/>
                  <a:pt x="115714" y="163711"/>
                  <a:pt x="111621" y="163711"/>
                </a:cubicBezTo>
                <a:lnTo>
                  <a:pt x="96738" y="163711"/>
                </a:lnTo>
                <a:close/>
                <a:moveTo>
                  <a:pt x="148828" y="171152"/>
                </a:moveTo>
                <a:lnTo>
                  <a:pt x="148828" y="186035"/>
                </a:lnTo>
                <a:cubicBezTo>
                  <a:pt x="148828" y="190128"/>
                  <a:pt x="152177" y="193477"/>
                  <a:pt x="156270" y="193477"/>
                </a:cubicBezTo>
                <a:lnTo>
                  <a:pt x="171152" y="193477"/>
                </a:lnTo>
                <a:cubicBezTo>
                  <a:pt x="175245" y="193477"/>
                  <a:pt x="178594" y="190128"/>
                  <a:pt x="178594" y="186035"/>
                </a:cubicBezTo>
                <a:lnTo>
                  <a:pt x="178594" y="171152"/>
                </a:lnTo>
                <a:cubicBezTo>
                  <a:pt x="178594" y="167060"/>
                  <a:pt x="175245" y="163711"/>
                  <a:pt x="171152" y="163711"/>
                </a:cubicBezTo>
                <a:lnTo>
                  <a:pt x="156270" y="163711"/>
                </a:lnTo>
                <a:cubicBezTo>
                  <a:pt x="152177" y="163711"/>
                  <a:pt x="148828" y="167060"/>
                  <a:pt x="148828" y="171152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784924" y="6343452"/>
            <a:ext cx="139700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Strong Seasonality</a:t>
            </a:r>
            <a:endParaRPr b="0" i="0" sz="1600" u="none" cap="none" strike="noStrike"/>
          </a:p>
        </p:txBody>
      </p:sp>
      <p:sp>
        <p:nvSpPr>
          <p:cNvPr id="214" name="Google Shape;214;p8"/>
          <p:cNvSpPr/>
          <p:nvPr/>
        </p:nvSpPr>
        <p:spPr>
          <a:xfrm>
            <a:off x="4784924" y="6565702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Peak in Nov-Dec</a:t>
            </a:r>
            <a:endParaRPr b="0" i="0" sz="1600" u="none" cap="none" strike="noStrike"/>
          </a:p>
        </p:txBody>
      </p:sp>
      <p:sp>
        <p:nvSpPr>
          <p:cNvPr id="215" name="Google Shape;215;p8"/>
          <p:cNvSpPr/>
          <p:nvPr/>
        </p:nvSpPr>
        <p:spPr>
          <a:xfrm>
            <a:off x="8149133" y="6216452"/>
            <a:ext cx="3722688" cy="666750"/>
          </a:xfrm>
          <a:custGeom>
            <a:rect b="b" l="l" r="r" t="t"/>
            <a:pathLst>
              <a:path extrusionOk="0" h="666750" w="3722688">
                <a:moveTo>
                  <a:pt x="95252" y="0"/>
                </a:moveTo>
                <a:lnTo>
                  <a:pt x="3627436" y="0"/>
                </a:lnTo>
                <a:cubicBezTo>
                  <a:pt x="3680042" y="0"/>
                  <a:pt x="3722688" y="42646"/>
                  <a:pt x="3722688" y="95252"/>
                </a:cubicBezTo>
                <a:lnTo>
                  <a:pt x="3722688" y="571498"/>
                </a:lnTo>
                <a:cubicBezTo>
                  <a:pt x="3722688" y="624104"/>
                  <a:pt x="3680042" y="666750"/>
                  <a:pt x="3627436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8307883" y="6430765"/>
            <a:ext cx="238125" cy="238125"/>
          </a:xfrm>
          <a:custGeom>
            <a:rect b="b" l="l" r="r" t="t"/>
            <a:pathLst>
              <a:path extrusionOk="0" h="238125" w="238125">
                <a:moveTo>
                  <a:pt x="14883" y="14883"/>
                </a:moveTo>
                <a:cubicBezTo>
                  <a:pt x="23115" y="14883"/>
                  <a:pt x="29766" y="21534"/>
                  <a:pt x="29766" y="29766"/>
                </a:cubicBezTo>
                <a:lnTo>
                  <a:pt x="29766" y="186035"/>
                </a:lnTo>
                <a:cubicBezTo>
                  <a:pt x="29766" y="190128"/>
                  <a:pt x="33114" y="193477"/>
                  <a:pt x="37207" y="193477"/>
                </a:cubicBezTo>
                <a:lnTo>
                  <a:pt x="223242" y="193477"/>
                </a:lnTo>
                <a:cubicBezTo>
                  <a:pt x="231474" y="193477"/>
                  <a:pt x="238125" y="200127"/>
                  <a:pt x="238125" y="208359"/>
                </a:cubicBezTo>
                <a:cubicBezTo>
                  <a:pt x="238125" y="216591"/>
                  <a:pt x="231474" y="223242"/>
                  <a:pt x="223242" y="223242"/>
                </a:cubicBezTo>
                <a:lnTo>
                  <a:pt x="37207" y="223242"/>
                </a:lnTo>
                <a:cubicBezTo>
                  <a:pt x="16650" y="223242"/>
                  <a:pt x="0" y="206592"/>
                  <a:pt x="0" y="186035"/>
                </a:cubicBezTo>
                <a:lnTo>
                  <a:pt x="0" y="29766"/>
                </a:lnTo>
                <a:cubicBezTo>
                  <a:pt x="0" y="21534"/>
                  <a:pt x="6651" y="14883"/>
                  <a:pt x="14883" y="14883"/>
                </a:cubicBezTo>
                <a:close/>
                <a:moveTo>
                  <a:pt x="59531" y="44648"/>
                </a:moveTo>
                <a:cubicBezTo>
                  <a:pt x="59531" y="36416"/>
                  <a:pt x="66182" y="29766"/>
                  <a:pt x="74414" y="29766"/>
                </a:cubicBezTo>
                <a:lnTo>
                  <a:pt x="163711" y="29766"/>
                </a:lnTo>
                <a:cubicBezTo>
                  <a:pt x="171943" y="29766"/>
                  <a:pt x="178594" y="36416"/>
                  <a:pt x="178594" y="44648"/>
                </a:cubicBezTo>
                <a:cubicBezTo>
                  <a:pt x="178594" y="52880"/>
                  <a:pt x="171943" y="59531"/>
                  <a:pt x="163711" y="59531"/>
                </a:cubicBezTo>
                <a:lnTo>
                  <a:pt x="74414" y="59531"/>
                </a:lnTo>
                <a:cubicBezTo>
                  <a:pt x="66182" y="59531"/>
                  <a:pt x="59531" y="52880"/>
                  <a:pt x="59531" y="44648"/>
                </a:cubicBezTo>
                <a:close/>
                <a:moveTo>
                  <a:pt x="74414" y="81855"/>
                </a:moveTo>
                <a:lnTo>
                  <a:pt x="133945" y="81855"/>
                </a:lnTo>
                <a:cubicBezTo>
                  <a:pt x="142177" y="81855"/>
                  <a:pt x="148828" y="88506"/>
                  <a:pt x="148828" y="96738"/>
                </a:cubicBezTo>
                <a:cubicBezTo>
                  <a:pt x="148828" y="104970"/>
                  <a:pt x="142177" y="111621"/>
                  <a:pt x="133945" y="111621"/>
                </a:cubicBezTo>
                <a:lnTo>
                  <a:pt x="74414" y="111621"/>
                </a:lnTo>
                <a:cubicBezTo>
                  <a:pt x="66182" y="111621"/>
                  <a:pt x="59531" y="104970"/>
                  <a:pt x="59531" y="96738"/>
                </a:cubicBezTo>
                <a:cubicBezTo>
                  <a:pt x="59531" y="88506"/>
                  <a:pt x="66182" y="81855"/>
                  <a:pt x="74414" y="81855"/>
                </a:cubicBezTo>
                <a:close/>
                <a:moveTo>
                  <a:pt x="74414" y="133945"/>
                </a:moveTo>
                <a:lnTo>
                  <a:pt x="193477" y="133945"/>
                </a:lnTo>
                <a:cubicBezTo>
                  <a:pt x="201709" y="133945"/>
                  <a:pt x="208359" y="140596"/>
                  <a:pt x="208359" y="148828"/>
                </a:cubicBezTo>
                <a:cubicBezTo>
                  <a:pt x="208359" y="157060"/>
                  <a:pt x="201709" y="163711"/>
                  <a:pt x="193477" y="163711"/>
                </a:cubicBezTo>
                <a:lnTo>
                  <a:pt x="74414" y="163711"/>
                </a:lnTo>
                <a:cubicBezTo>
                  <a:pt x="66182" y="163711"/>
                  <a:pt x="59531" y="157060"/>
                  <a:pt x="59531" y="148828"/>
                </a:cubicBezTo>
                <a:cubicBezTo>
                  <a:pt x="59531" y="140596"/>
                  <a:pt x="66182" y="133945"/>
                  <a:pt x="74414" y="133945"/>
                </a:cubicBez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700790" y="6343452"/>
            <a:ext cx="143668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Skewed Spending</a:t>
            </a:r>
            <a:endParaRPr b="0" i="0" sz="1600" u="none" cap="none" strike="noStrike"/>
          </a:p>
        </p:txBody>
      </p:sp>
      <p:sp>
        <p:nvSpPr>
          <p:cNvPr id="218" name="Google Shape;218;p8"/>
          <p:cNvSpPr/>
          <p:nvPr/>
        </p:nvSpPr>
        <p:spPr>
          <a:xfrm>
            <a:off x="8700790" y="6565702"/>
            <a:ext cx="14208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Top 20% = 80% revenue</a:t>
            </a:r>
            <a:endParaRPr b="0" i="0" sz="1600" u="none" cap="none" strike="noStrike"/>
          </a:p>
        </p:txBody>
      </p:sp>
      <p:pic>
        <p:nvPicPr>
          <p:cNvPr descr="https://kimi-img.moonshot.cn/pub/slides/26-04-19-20:31:18-d7icm5i23rdduutj6u8g.png" id="219" name="Google Shape;2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0" y="1677852"/>
            <a:ext cx="5491273" cy="1830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26-04-19-20:32:14-d7icmjkjc3fdab9b2vhg.png" id="220" name="Google Shape;2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1492151"/>
            <a:ext cx="55880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26-04-19-20:34:22-d7icnjlgsoaa7b1j4fe0.png" id="221" name="Google Shape;22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7500" y="4225727"/>
            <a:ext cx="5683250" cy="16237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26-04-19-20:36:06-d7icodkjc3fdab9b5fp0.png" id="222" name="Google Shape;222;p8"/>
          <p:cNvPicPr preferRelativeResize="0"/>
          <p:nvPr/>
        </p:nvPicPr>
        <p:blipFill rotWithShape="1">
          <a:blip r:embed="rId6">
            <a:alphaModFix/>
          </a:blip>
          <a:srcRect b="0" l="0" r="0" t="7407"/>
          <a:stretch/>
        </p:blipFill>
        <p:spPr>
          <a:xfrm>
            <a:off x="6350118" y="4225727"/>
            <a:ext cx="2635132" cy="1937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26-04-19-20:41:30-d7icqungt7e186mdcbs0.png" id="223" name="Google Shape;223;p8"/>
          <p:cNvPicPr preferRelativeResize="0"/>
          <p:nvPr/>
        </p:nvPicPr>
        <p:blipFill rotWithShape="1">
          <a:blip r:embed="rId7">
            <a:alphaModFix/>
          </a:blip>
          <a:srcRect b="10833" l="0" r="0" t="5833"/>
          <a:stretch/>
        </p:blipFill>
        <p:spPr>
          <a:xfrm>
            <a:off x="9199563" y="3998992"/>
            <a:ext cx="2381362" cy="1977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APPROACH</a:t>
            </a:r>
            <a:endParaRPr b="0" i="0" sz="1600" u="none" cap="none" strike="noStrike"/>
          </a:p>
        </p:txBody>
      </p:sp>
      <p:sp>
        <p:nvSpPr>
          <p:cNvPr id="230" name="Google Shape;230;p9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Methodology and Algorithms</a:t>
            </a:r>
            <a:endParaRPr b="0" i="0" sz="1600" u="none" cap="none" strike="noStrike"/>
          </a:p>
        </p:txBody>
      </p:sp>
      <p:sp>
        <p:nvSpPr>
          <p:cNvPr id="231" name="Google Shape;231;p9"/>
          <p:cNvSpPr/>
          <p:nvPr/>
        </p:nvSpPr>
        <p:spPr>
          <a:xfrm>
            <a:off x="317500" y="1143000"/>
            <a:ext cx="3452574" cy="3175000"/>
          </a:xfrm>
          <a:custGeom>
            <a:rect b="b" l="l" r="r" t="t"/>
            <a:pathLst>
              <a:path extrusionOk="0" h="3175000" w="5683250">
                <a:moveTo>
                  <a:pt x="63500" y="0"/>
                </a:moveTo>
                <a:lnTo>
                  <a:pt x="5619750" y="0"/>
                </a:lnTo>
                <a:cubicBezTo>
                  <a:pt x="5654797" y="0"/>
                  <a:pt x="5683250" y="28453"/>
                  <a:pt x="5683250" y="63500"/>
                </a:cubicBezTo>
                <a:lnTo>
                  <a:pt x="5683250" y="3111500"/>
                </a:lnTo>
                <a:cubicBezTo>
                  <a:pt x="5683250" y="3146547"/>
                  <a:pt x="5654797" y="3175000"/>
                  <a:pt x="5619750" y="3175000"/>
                </a:cubicBezTo>
                <a:lnTo>
                  <a:pt x="63500" y="3175000"/>
                </a:lnTo>
                <a:cubicBezTo>
                  <a:pt x="28453" y="3175000"/>
                  <a:pt x="0" y="3146547"/>
                  <a:pt x="0" y="311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27844" y="1365250"/>
            <a:ext cx="158750" cy="158750"/>
          </a:xfrm>
          <a:custGeom>
            <a:rect b="b" l="l" r="r" t="t"/>
            <a:pathLst>
              <a:path extrusionOk="0" h="158750" w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765971" y="1333500"/>
            <a:ext cx="2075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Time Series Forecasting</a:t>
            </a:r>
            <a:endParaRPr b="0" i="0" sz="1600" u="none" cap="none" strike="noStrike"/>
          </a:p>
        </p:txBody>
      </p:sp>
      <p:sp>
        <p:nvSpPr>
          <p:cNvPr id="234" name="Google Shape;234;p9"/>
          <p:cNvSpPr/>
          <p:nvPr/>
        </p:nvSpPr>
        <p:spPr>
          <a:xfrm>
            <a:off x="514350" y="1682750"/>
            <a:ext cx="2990390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514350" y="1682750"/>
            <a:ext cx="12700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15950" y="1778000"/>
            <a:ext cx="2714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ARIMA / SARIMA</a:t>
            </a:r>
            <a:endParaRPr b="0" i="0" sz="1600" u="none" cap="none" strike="noStrike"/>
          </a:p>
        </p:txBody>
      </p:sp>
      <p:sp>
        <p:nvSpPr>
          <p:cNvPr id="237" name="Google Shape;237;p9"/>
          <p:cNvSpPr/>
          <p:nvPr/>
        </p:nvSpPr>
        <p:spPr>
          <a:xfrm>
            <a:off x="615950" y="1968500"/>
            <a:ext cx="2786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Statistical models for linear trends and seasonality</a:t>
            </a:r>
            <a:endParaRPr b="0" i="0" sz="1600" u="none" cap="none" strike="noStrike"/>
          </a:p>
        </p:txBody>
      </p:sp>
      <p:sp>
        <p:nvSpPr>
          <p:cNvPr id="238" name="Google Shape;238;p9"/>
          <p:cNvSpPr/>
          <p:nvPr/>
        </p:nvSpPr>
        <p:spPr>
          <a:xfrm>
            <a:off x="514350" y="2317750"/>
            <a:ext cx="2990390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514350" y="2317750"/>
            <a:ext cx="12700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15950" y="2413000"/>
            <a:ext cx="2714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Prophet</a:t>
            </a:r>
            <a:endParaRPr b="0" i="0" sz="1600" u="none" cap="none" strike="noStrike"/>
          </a:p>
        </p:txBody>
      </p:sp>
      <p:sp>
        <p:nvSpPr>
          <p:cNvPr id="241" name="Google Shape;241;p9"/>
          <p:cNvSpPr/>
          <p:nvPr/>
        </p:nvSpPr>
        <p:spPr>
          <a:xfrm>
            <a:off x="615950" y="2603500"/>
            <a:ext cx="26538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Facebook's additive model for irregular patterns</a:t>
            </a:r>
            <a:endParaRPr b="0" i="0" sz="1600" u="none" cap="none" strike="noStrike"/>
          </a:p>
        </p:txBody>
      </p:sp>
      <p:sp>
        <p:nvSpPr>
          <p:cNvPr id="242" name="Google Shape;242;p9"/>
          <p:cNvSpPr/>
          <p:nvPr/>
        </p:nvSpPr>
        <p:spPr>
          <a:xfrm>
            <a:off x="514350" y="2952750"/>
            <a:ext cx="2990390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14350" y="2952750"/>
            <a:ext cx="12700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15950" y="3048000"/>
            <a:ext cx="258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XGBoost</a:t>
            </a:r>
            <a:endParaRPr b="0" i="0" sz="1600" u="none" cap="none" strike="noStrike"/>
          </a:p>
        </p:txBody>
      </p:sp>
      <p:sp>
        <p:nvSpPr>
          <p:cNvPr id="245" name="Google Shape;245;p9"/>
          <p:cNvSpPr/>
          <p:nvPr/>
        </p:nvSpPr>
        <p:spPr>
          <a:xfrm>
            <a:off x="615950" y="3238500"/>
            <a:ext cx="25815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Gradient boosting for non-linear dependencies</a:t>
            </a:r>
            <a:endParaRPr b="0" i="0" sz="1600" u="none" cap="none" strike="noStrike"/>
          </a:p>
        </p:txBody>
      </p:sp>
      <p:sp>
        <p:nvSpPr>
          <p:cNvPr id="246" name="Google Shape;246;p9"/>
          <p:cNvSpPr/>
          <p:nvPr/>
        </p:nvSpPr>
        <p:spPr>
          <a:xfrm>
            <a:off x="514350" y="3587750"/>
            <a:ext cx="2990390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514350" y="3587750"/>
            <a:ext cx="12700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615950" y="3683000"/>
            <a:ext cx="258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LSTM</a:t>
            </a:r>
            <a:endParaRPr b="0" i="0" sz="1600" u="none" cap="none" strike="noStrike"/>
          </a:p>
        </p:txBody>
      </p:sp>
      <p:sp>
        <p:nvSpPr>
          <p:cNvPr id="249" name="Google Shape;249;p9"/>
          <p:cNvSpPr/>
          <p:nvPr/>
        </p:nvSpPr>
        <p:spPr>
          <a:xfrm>
            <a:off x="615950" y="3873500"/>
            <a:ext cx="28950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Neural network for long-term sequential patterns</a:t>
            </a:r>
            <a:endParaRPr b="0" i="0" sz="1600" u="none" cap="none" strike="noStrike"/>
          </a:p>
        </p:txBody>
      </p:sp>
      <p:sp>
        <p:nvSpPr>
          <p:cNvPr id="250" name="Google Shape;250;p9"/>
          <p:cNvSpPr/>
          <p:nvPr/>
        </p:nvSpPr>
        <p:spPr>
          <a:xfrm>
            <a:off x="4054686" y="1144275"/>
            <a:ext cx="3225244" cy="2346960"/>
          </a:xfrm>
          <a:custGeom>
            <a:rect b="b" l="l" r="r" t="t"/>
            <a:pathLst>
              <a:path extrusionOk="0" h="2444750" w="5683250">
                <a:moveTo>
                  <a:pt x="63500" y="0"/>
                </a:moveTo>
                <a:lnTo>
                  <a:pt x="5619750" y="0"/>
                </a:lnTo>
                <a:cubicBezTo>
                  <a:pt x="5654797" y="0"/>
                  <a:pt x="5683250" y="21909"/>
                  <a:pt x="5683250" y="48895"/>
                </a:cubicBezTo>
                <a:lnTo>
                  <a:pt x="5683250" y="2395855"/>
                </a:lnTo>
                <a:cubicBezTo>
                  <a:pt x="5683250" y="2422841"/>
                  <a:pt x="5654797" y="2444750"/>
                  <a:pt x="5619750" y="2444750"/>
                </a:cubicBezTo>
                <a:lnTo>
                  <a:pt x="63500" y="2444750"/>
                </a:lnTo>
                <a:cubicBezTo>
                  <a:pt x="28453" y="2444750"/>
                  <a:pt x="0" y="2422841"/>
                  <a:pt x="0" y="2395855"/>
                </a:cubicBezTo>
                <a:lnTo>
                  <a:pt x="0" y="48895"/>
                </a:lnTo>
                <a:cubicBezTo>
                  <a:pt x="0" y="21909"/>
                  <a:pt x="28453" y="0"/>
                  <a:pt x="635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174085" y="1357866"/>
            <a:ext cx="90091" cy="152400"/>
          </a:xfrm>
          <a:custGeom>
            <a:rect b="b" l="l" r="r" t="t"/>
            <a:pathLst>
              <a:path extrusionOk="0" h="158750" w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4309254" y="1327353"/>
            <a:ext cx="29085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Regression Models</a:t>
            </a:r>
            <a:endParaRPr b="0" i="0" sz="1600" u="none" cap="none" strike="noStrike"/>
          </a:p>
        </p:txBody>
      </p:sp>
      <p:sp>
        <p:nvSpPr>
          <p:cNvPr id="253" name="Google Shape;253;p9"/>
          <p:cNvSpPr/>
          <p:nvPr/>
        </p:nvSpPr>
        <p:spPr>
          <a:xfrm>
            <a:off x="4166426" y="1662996"/>
            <a:ext cx="3003621" cy="51816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166426" y="1662996"/>
            <a:ext cx="7207" cy="51816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224098" y="1754535"/>
            <a:ext cx="29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Linear Regression</a:t>
            </a:r>
            <a:endParaRPr b="0" i="0" sz="1600" u="none" cap="none" strike="noStrike"/>
          </a:p>
        </p:txBody>
      </p:sp>
      <p:sp>
        <p:nvSpPr>
          <p:cNvPr id="256" name="Google Shape;256;p9"/>
          <p:cNvSpPr/>
          <p:nvPr/>
        </p:nvSpPr>
        <p:spPr>
          <a:xfrm>
            <a:off x="4224098" y="1937613"/>
            <a:ext cx="292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Baseline model for linear relationships</a:t>
            </a:r>
            <a:endParaRPr b="0" i="0" sz="1600" u="none" cap="none" strike="noStrike"/>
          </a:p>
        </p:txBody>
      </p:sp>
      <p:sp>
        <p:nvSpPr>
          <p:cNvPr id="257" name="Google Shape;257;p9"/>
          <p:cNvSpPr/>
          <p:nvPr/>
        </p:nvSpPr>
        <p:spPr>
          <a:xfrm>
            <a:off x="4166426" y="2273256"/>
            <a:ext cx="3003621" cy="51816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4166426" y="2273256"/>
            <a:ext cx="7207" cy="51816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224098" y="2364794"/>
            <a:ext cx="29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Random Forest</a:t>
            </a:r>
            <a:endParaRPr b="0" i="0" sz="1600" u="none" cap="none" strike="noStrike"/>
          </a:p>
        </p:txBody>
      </p:sp>
      <p:sp>
        <p:nvSpPr>
          <p:cNvPr id="260" name="Google Shape;260;p9"/>
          <p:cNvSpPr/>
          <p:nvPr/>
        </p:nvSpPr>
        <p:spPr>
          <a:xfrm>
            <a:off x="4224098" y="2547872"/>
            <a:ext cx="292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Ensemble of decision trees for complex patterns</a:t>
            </a:r>
            <a:endParaRPr b="0" i="0" sz="1600" u="none" cap="none" strike="noStrike"/>
          </a:p>
        </p:txBody>
      </p:sp>
      <p:sp>
        <p:nvSpPr>
          <p:cNvPr id="261" name="Google Shape;261;p9"/>
          <p:cNvSpPr/>
          <p:nvPr/>
        </p:nvSpPr>
        <p:spPr>
          <a:xfrm>
            <a:off x="4166426" y="2883515"/>
            <a:ext cx="3003621" cy="51816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166426" y="2883515"/>
            <a:ext cx="7207" cy="51816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4224098" y="2975054"/>
            <a:ext cx="29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Gradient Boosting</a:t>
            </a:r>
            <a:endParaRPr b="0" i="0" sz="1600" u="none" cap="none" strike="noStrike"/>
          </a:p>
        </p:txBody>
      </p:sp>
      <p:sp>
        <p:nvSpPr>
          <p:cNvPr id="264" name="Google Shape;264;p9"/>
          <p:cNvSpPr/>
          <p:nvPr/>
        </p:nvSpPr>
        <p:spPr>
          <a:xfrm>
            <a:off x="4224098" y="3158132"/>
            <a:ext cx="292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Sequential error correction for high accuracy</a:t>
            </a:r>
            <a:endParaRPr b="0" i="0" sz="1600" u="none" cap="none" strike="noStrike"/>
          </a:p>
        </p:txBody>
      </p:sp>
      <p:sp>
        <p:nvSpPr>
          <p:cNvPr id="265" name="Google Shape;265;p9"/>
          <p:cNvSpPr/>
          <p:nvPr/>
        </p:nvSpPr>
        <p:spPr>
          <a:xfrm>
            <a:off x="4053750" y="3683000"/>
            <a:ext cx="3225244" cy="3079750"/>
          </a:xfrm>
          <a:custGeom>
            <a:rect b="b" l="l" r="r" t="t"/>
            <a:pathLst>
              <a:path extrusionOk="0" h="3175000" w="5683250">
                <a:moveTo>
                  <a:pt x="63500" y="0"/>
                </a:moveTo>
                <a:lnTo>
                  <a:pt x="5619750" y="0"/>
                </a:lnTo>
                <a:cubicBezTo>
                  <a:pt x="5654797" y="0"/>
                  <a:pt x="5683250" y="28453"/>
                  <a:pt x="5683250" y="63500"/>
                </a:cubicBezTo>
                <a:lnTo>
                  <a:pt x="5683250" y="3111500"/>
                </a:lnTo>
                <a:cubicBezTo>
                  <a:pt x="5683250" y="3146547"/>
                  <a:pt x="5654797" y="3175000"/>
                  <a:pt x="5619750" y="3175000"/>
                </a:cubicBezTo>
                <a:lnTo>
                  <a:pt x="63500" y="3175000"/>
                </a:lnTo>
                <a:cubicBezTo>
                  <a:pt x="28453" y="3175000"/>
                  <a:pt x="0" y="3146547"/>
                  <a:pt x="0" y="311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161889" y="3905250"/>
            <a:ext cx="112614" cy="158750"/>
          </a:xfrm>
          <a:custGeom>
            <a:rect b="b" l="l" r="r" t="t"/>
            <a:pathLst>
              <a:path extrusionOk="0" h="158750" w="198438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4308322" y="3873500"/>
            <a:ext cx="29085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Clustering &amp; Segmentation</a:t>
            </a:r>
            <a:endParaRPr b="0" i="0" sz="1600" u="none" cap="none" strike="noStrike"/>
          </a:p>
        </p:txBody>
      </p:sp>
      <p:sp>
        <p:nvSpPr>
          <p:cNvPr id="268" name="Google Shape;268;p9"/>
          <p:cNvSpPr/>
          <p:nvPr/>
        </p:nvSpPr>
        <p:spPr>
          <a:xfrm>
            <a:off x="4165493" y="4222750"/>
            <a:ext cx="3003621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4165493" y="4222750"/>
            <a:ext cx="7207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4223165" y="4318000"/>
            <a:ext cx="2928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RFM Analysis</a:t>
            </a:r>
            <a:endParaRPr b="0" i="0" sz="1600" u="none" cap="none" strike="noStrike"/>
          </a:p>
        </p:txBody>
      </p:sp>
      <p:sp>
        <p:nvSpPr>
          <p:cNvPr id="271" name="Google Shape;271;p9"/>
          <p:cNvSpPr/>
          <p:nvPr/>
        </p:nvSpPr>
        <p:spPr>
          <a:xfrm>
            <a:off x="4223165" y="4508500"/>
            <a:ext cx="2924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Recency, Frequency, Monetary scoring</a:t>
            </a:r>
            <a:endParaRPr b="0" i="0" sz="1600" u="none" cap="none" strike="noStrike"/>
          </a:p>
        </p:txBody>
      </p:sp>
      <p:sp>
        <p:nvSpPr>
          <p:cNvPr id="272" name="Google Shape;272;p9"/>
          <p:cNvSpPr/>
          <p:nvPr/>
        </p:nvSpPr>
        <p:spPr>
          <a:xfrm>
            <a:off x="4165493" y="4857750"/>
            <a:ext cx="3003621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4165493" y="4857750"/>
            <a:ext cx="7207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4223165" y="4953000"/>
            <a:ext cx="2928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K-Means</a:t>
            </a:r>
            <a:endParaRPr b="0" i="0" sz="1600" u="none" cap="none" strike="noStrike"/>
          </a:p>
        </p:txBody>
      </p:sp>
      <p:sp>
        <p:nvSpPr>
          <p:cNvPr id="275" name="Google Shape;275;p9"/>
          <p:cNvSpPr/>
          <p:nvPr/>
        </p:nvSpPr>
        <p:spPr>
          <a:xfrm>
            <a:off x="4223165" y="5143500"/>
            <a:ext cx="2924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Partitioning with elbow method for optimal k</a:t>
            </a:r>
            <a:endParaRPr b="0" i="0" sz="1600" u="none" cap="none" strike="noStrike"/>
          </a:p>
        </p:txBody>
      </p:sp>
      <p:sp>
        <p:nvSpPr>
          <p:cNvPr id="276" name="Google Shape;276;p9"/>
          <p:cNvSpPr/>
          <p:nvPr/>
        </p:nvSpPr>
        <p:spPr>
          <a:xfrm>
            <a:off x="4165493" y="5492750"/>
            <a:ext cx="3003621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4165493" y="5492750"/>
            <a:ext cx="7207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4223165" y="5588000"/>
            <a:ext cx="2928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PCA</a:t>
            </a:r>
            <a:endParaRPr b="0" i="0" sz="1600" u="none" cap="none" strike="noStrike"/>
          </a:p>
        </p:txBody>
      </p:sp>
      <p:sp>
        <p:nvSpPr>
          <p:cNvPr id="279" name="Google Shape;279;p9"/>
          <p:cNvSpPr/>
          <p:nvPr/>
        </p:nvSpPr>
        <p:spPr>
          <a:xfrm>
            <a:off x="4223165" y="5778500"/>
            <a:ext cx="2924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Dimensionality reduction for visualization</a:t>
            </a:r>
            <a:endParaRPr b="0" i="0" sz="1600" u="none" cap="none" strike="noStrike"/>
          </a:p>
        </p:txBody>
      </p:sp>
      <p:sp>
        <p:nvSpPr>
          <p:cNvPr id="280" name="Google Shape;280;p9"/>
          <p:cNvSpPr/>
          <p:nvPr/>
        </p:nvSpPr>
        <p:spPr>
          <a:xfrm>
            <a:off x="4165493" y="6127750"/>
            <a:ext cx="3003621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4165493" y="6127750"/>
            <a:ext cx="7207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223165" y="6223000"/>
            <a:ext cx="2928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DBSCAN</a:t>
            </a:r>
            <a:endParaRPr b="0" i="0" sz="1600" u="none" cap="none" strike="noStrike"/>
          </a:p>
        </p:txBody>
      </p:sp>
      <p:sp>
        <p:nvSpPr>
          <p:cNvPr id="283" name="Google Shape;283;p9"/>
          <p:cNvSpPr/>
          <p:nvPr/>
        </p:nvSpPr>
        <p:spPr>
          <a:xfrm>
            <a:off x="4223165" y="6413500"/>
            <a:ext cx="2924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Density-based clustering for outlier detection</a:t>
            </a:r>
            <a:endParaRPr b="0" i="0" sz="1600" u="none" cap="none" strike="noStrike"/>
          </a:p>
        </p:txBody>
      </p:sp>
      <p:sp>
        <p:nvSpPr>
          <p:cNvPr id="284" name="Google Shape;284;p9"/>
          <p:cNvSpPr/>
          <p:nvPr/>
        </p:nvSpPr>
        <p:spPr>
          <a:xfrm>
            <a:off x="317500" y="4449598"/>
            <a:ext cx="3452574" cy="2346960"/>
          </a:xfrm>
          <a:custGeom>
            <a:rect b="b" l="l" r="r" t="t"/>
            <a:pathLst>
              <a:path extrusionOk="0" h="2444750" w="5683250">
                <a:moveTo>
                  <a:pt x="63500" y="0"/>
                </a:moveTo>
                <a:lnTo>
                  <a:pt x="5619750" y="0"/>
                </a:lnTo>
                <a:cubicBezTo>
                  <a:pt x="5654797" y="0"/>
                  <a:pt x="5683250" y="21909"/>
                  <a:pt x="5683250" y="48895"/>
                </a:cubicBezTo>
                <a:lnTo>
                  <a:pt x="5683250" y="2395855"/>
                </a:lnTo>
                <a:cubicBezTo>
                  <a:pt x="5683250" y="2422841"/>
                  <a:pt x="5654797" y="2444750"/>
                  <a:pt x="5619750" y="2444750"/>
                </a:cubicBezTo>
                <a:lnTo>
                  <a:pt x="63500" y="2444750"/>
                </a:lnTo>
                <a:cubicBezTo>
                  <a:pt x="28453" y="2444750"/>
                  <a:pt x="0" y="2422841"/>
                  <a:pt x="0" y="2395855"/>
                </a:cubicBezTo>
                <a:lnTo>
                  <a:pt x="0" y="48895"/>
                </a:lnTo>
                <a:cubicBezTo>
                  <a:pt x="0" y="21909"/>
                  <a:pt x="28453" y="0"/>
                  <a:pt x="635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508000" y="4574048"/>
            <a:ext cx="198438" cy="158750"/>
          </a:xfrm>
          <a:custGeom>
            <a:rect b="b" l="l" r="r" t="t"/>
            <a:pathLst>
              <a:path extrusionOk="0" h="158750" w="198438">
                <a:moveTo>
                  <a:pt x="7441" y="-4961"/>
                </a:moveTo>
                <a:cubicBezTo>
                  <a:pt x="3318" y="-4961"/>
                  <a:pt x="0" y="-1643"/>
                  <a:pt x="0" y="2480"/>
                </a:cubicBezTo>
                <a:cubicBezTo>
                  <a:pt x="0" y="6604"/>
                  <a:pt x="3318" y="9922"/>
                  <a:pt x="7441" y="9922"/>
                </a:cubicBezTo>
                <a:lnTo>
                  <a:pt x="21487" y="9922"/>
                </a:lnTo>
                <a:cubicBezTo>
                  <a:pt x="22696" y="9922"/>
                  <a:pt x="23719" y="10790"/>
                  <a:pt x="23937" y="11968"/>
                </a:cubicBezTo>
                <a:lnTo>
                  <a:pt x="40091" y="100738"/>
                </a:lnTo>
                <a:cubicBezTo>
                  <a:pt x="42013" y="111342"/>
                  <a:pt x="51253" y="119063"/>
                  <a:pt x="62043" y="119063"/>
                </a:cubicBezTo>
                <a:lnTo>
                  <a:pt x="141387" y="119062"/>
                </a:lnTo>
                <a:cubicBezTo>
                  <a:pt x="145510" y="119062"/>
                  <a:pt x="148828" y="115745"/>
                  <a:pt x="148828" y="111621"/>
                </a:cubicBezTo>
                <a:cubicBezTo>
                  <a:pt x="148828" y="107497"/>
                  <a:pt x="145510" y="104180"/>
                  <a:pt x="141387" y="104180"/>
                </a:cubicBezTo>
                <a:lnTo>
                  <a:pt x="62043" y="104180"/>
                </a:lnTo>
                <a:cubicBezTo>
                  <a:pt x="58446" y="104180"/>
                  <a:pt x="55376" y="101606"/>
                  <a:pt x="54725" y="98072"/>
                </a:cubicBezTo>
                <a:lnTo>
                  <a:pt x="53144" y="89297"/>
                </a:lnTo>
                <a:lnTo>
                  <a:pt x="147278" y="89297"/>
                </a:lnTo>
                <a:cubicBezTo>
                  <a:pt x="156828" y="89297"/>
                  <a:pt x="165013" y="82507"/>
                  <a:pt x="166781" y="73112"/>
                </a:cubicBezTo>
                <a:lnTo>
                  <a:pt x="176392" y="21673"/>
                </a:lnTo>
                <a:cubicBezTo>
                  <a:pt x="177540" y="15565"/>
                  <a:pt x="172858" y="9922"/>
                  <a:pt x="166625" y="9922"/>
                </a:cubicBezTo>
                <a:lnTo>
                  <a:pt x="38664" y="9922"/>
                </a:lnTo>
                <a:lnTo>
                  <a:pt x="38540" y="9302"/>
                </a:lnTo>
                <a:cubicBezTo>
                  <a:pt x="37052" y="1054"/>
                  <a:pt x="29859" y="-4961"/>
                  <a:pt x="21456" y="-4961"/>
                </a:cubicBezTo>
                <a:lnTo>
                  <a:pt x="7441" y="-4961"/>
                </a:lnTo>
                <a:close/>
                <a:moveTo>
                  <a:pt x="64492" y="158750"/>
                </a:moveTo>
                <a:cubicBezTo>
                  <a:pt x="72706" y="158750"/>
                  <a:pt x="79375" y="152081"/>
                  <a:pt x="79375" y="143867"/>
                </a:cubicBezTo>
                <a:cubicBezTo>
                  <a:pt x="79375" y="135653"/>
                  <a:pt x="72706" y="128984"/>
                  <a:pt x="64492" y="128984"/>
                </a:cubicBezTo>
                <a:cubicBezTo>
                  <a:pt x="56278" y="128984"/>
                  <a:pt x="49609" y="135653"/>
                  <a:pt x="49609" y="143867"/>
                </a:cubicBezTo>
                <a:cubicBezTo>
                  <a:pt x="49609" y="152081"/>
                  <a:pt x="56278" y="158750"/>
                  <a:pt x="64492" y="158750"/>
                </a:cubicBezTo>
                <a:close/>
                <a:moveTo>
                  <a:pt x="133945" y="158750"/>
                </a:moveTo>
                <a:cubicBezTo>
                  <a:pt x="142159" y="158750"/>
                  <a:pt x="148828" y="152081"/>
                  <a:pt x="148828" y="143867"/>
                </a:cubicBezTo>
                <a:cubicBezTo>
                  <a:pt x="148828" y="135653"/>
                  <a:pt x="142159" y="128984"/>
                  <a:pt x="133945" y="128984"/>
                </a:cubicBezTo>
                <a:cubicBezTo>
                  <a:pt x="125731" y="128984"/>
                  <a:pt x="119062" y="135653"/>
                  <a:pt x="119062" y="143867"/>
                </a:cubicBezTo>
                <a:cubicBezTo>
                  <a:pt x="119062" y="152081"/>
                  <a:pt x="125731" y="158750"/>
                  <a:pt x="133945" y="15875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765972" y="4542298"/>
            <a:ext cx="2292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Market Basket Analysis</a:t>
            </a:r>
            <a:endParaRPr b="0" i="0" sz="1600" u="none" cap="none" strike="noStrike"/>
          </a:p>
        </p:txBody>
      </p:sp>
      <p:sp>
        <p:nvSpPr>
          <p:cNvPr id="287" name="Google Shape;287;p9"/>
          <p:cNvSpPr/>
          <p:nvPr/>
        </p:nvSpPr>
        <p:spPr>
          <a:xfrm>
            <a:off x="514350" y="4891548"/>
            <a:ext cx="2990390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514350" y="4891548"/>
            <a:ext cx="12700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15950" y="4986798"/>
            <a:ext cx="2292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Apriori</a:t>
            </a:r>
            <a:endParaRPr b="0" i="0" sz="1600" u="none" cap="none" strike="noStrike"/>
          </a:p>
        </p:txBody>
      </p:sp>
      <p:sp>
        <p:nvSpPr>
          <p:cNvPr id="290" name="Google Shape;290;p9"/>
          <p:cNvSpPr/>
          <p:nvPr/>
        </p:nvSpPr>
        <p:spPr>
          <a:xfrm>
            <a:off x="615950" y="5177298"/>
            <a:ext cx="2292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Candidate generation for frequent itemsets</a:t>
            </a:r>
            <a:endParaRPr b="0" i="0" sz="1600" u="none" cap="none" strike="noStrike"/>
          </a:p>
        </p:txBody>
      </p:sp>
      <p:sp>
        <p:nvSpPr>
          <p:cNvPr id="291" name="Google Shape;291;p9"/>
          <p:cNvSpPr/>
          <p:nvPr/>
        </p:nvSpPr>
        <p:spPr>
          <a:xfrm>
            <a:off x="514350" y="5526548"/>
            <a:ext cx="2990390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14350" y="5526548"/>
            <a:ext cx="12700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615950" y="5621798"/>
            <a:ext cx="195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FP-Growth</a:t>
            </a:r>
            <a:endParaRPr b="0" i="0" sz="1600" u="none" cap="none" strike="noStrike"/>
          </a:p>
        </p:txBody>
      </p:sp>
      <p:sp>
        <p:nvSpPr>
          <p:cNvPr id="294" name="Google Shape;294;p9"/>
          <p:cNvSpPr/>
          <p:nvPr/>
        </p:nvSpPr>
        <p:spPr>
          <a:xfrm>
            <a:off x="615950" y="5812298"/>
            <a:ext cx="19545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Frequent pattern tree for efficiency</a:t>
            </a:r>
            <a:endParaRPr b="0" i="0" sz="1600" u="none" cap="none" strike="noStrike"/>
          </a:p>
        </p:txBody>
      </p:sp>
      <p:sp>
        <p:nvSpPr>
          <p:cNvPr id="295" name="Google Shape;295;p9"/>
          <p:cNvSpPr/>
          <p:nvPr/>
        </p:nvSpPr>
        <p:spPr>
          <a:xfrm>
            <a:off x="514350" y="6161548"/>
            <a:ext cx="2990390" cy="539750"/>
          </a:xfrm>
          <a:custGeom>
            <a:rect b="b" l="l" r="r" t="t"/>
            <a:pathLst>
              <a:path extrusionOk="0" h="539750" w="5292725">
                <a:moveTo>
                  <a:pt x="12700" y="0"/>
                </a:moveTo>
                <a:lnTo>
                  <a:pt x="5260977" y="0"/>
                </a:lnTo>
                <a:cubicBezTo>
                  <a:pt x="5278511" y="0"/>
                  <a:pt x="5292725" y="14214"/>
                  <a:pt x="5292725" y="31748"/>
                </a:cubicBezTo>
                <a:lnTo>
                  <a:pt x="5292725" y="508002"/>
                </a:lnTo>
                <a:cubicBezTo>
                  <a:pt x="5292725" y="525536"/>
                  <a:pt x="5278511" y="539750"/>
                  <a:pt x="5260977" y="539750"/>
                </a:cubicBez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514350" y="6161548"/>
            <a:ext cx="12700" cy="539750"/>
          </a:xfrm>
          <a:custGeom>
            <a:rect b="b" l="l" r="r" t="t"/>
            <a:pathLst>
              <a:path extrusionOk="0" h="539750" w="12700">
                <a:moveTo>
                  <a:pt x="12700" y="0"/>
                </a:moveTo>
                <a:lnTo>
                  <a:pt x="12700" y="0"/>
                </a:lnTo>
                <a:lnTo>
                  <a:pt x="12700" y="539750"/>
                </a:lnTo>
                <a:lnTo>
                  <a:pt x="12700" y="539750"/>
                </a:lnTo>
                <a:cubicBezTo>
                  <a:pt x="5691" y="539750"/>
                  <a:pt x="0" y="534059"/>
                  <a:pt x="0" y="52705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615950" y="6256798"/>
            <a:ext cx="201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Eclat</a:t>
            </a:r>
            <a:endParaRPr b="0" i="0" sz="1600" u="none" cap="none" strike="noStrike"/>
          </a:p>
        </p:txBody>
      </p:sp>
      <p:sp>
        <p:nvSpPr>
          <p:cNvPr id="298" name="Google Shape;298;p9"/>
          <p:cNvSpPr/>
          <p:nvPr/>
        </p:nvSpPr>
        <p:spPr>
          <a:xfrm>
            <a:off x="615950" y="6447298"/>
            <a:ext cx="207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Vertical data format for fast intersection</a:t>
            </a:r>
            <a:endParaRPr b="0" i="0" sz="1600" u="none" cap="none" strike="noStrike"/>
          </a:p>
        </p:txBody>
      </p:sp>
      <p:pic>
        <p:nvPicPr>
          <p:cNvPr id="299" name="Google Shape;2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0199" y="-7943"/>
            <a:ext cx="4791074" cy="2182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4075" y="2185751"/>
            <a:ext cx="4791076" cy="2224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0200" y="4379731"/>
            <a:ext cx="4694800" cy="244945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9"/>
          <p:cNvSpPr/>
          <p:nvPr/>
        </p:nvSpPr>
        <p:spPr>
          <a:xfrm>
            <a:off x="7711500" y="4542300"/>
            <a:ext cx="8985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ARIMA / SARIMA</a:t>
            </a:r>
            <a:endParaRPr b="0" i="0" sz="12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PERFORMANCE METRICS</a:t>
            </a:r>
            <a:endParaRPr b="0" i="0" sz="1600" u="none" cap="none" strike="noStrike"/>
          </a:p>
        </p:txBody>
      </p:sp>
      <p:sp>
        <p:nvSpPr>
          <p:cNvPr id="309" name="Google Shape;309;p10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Results and Model Evaluation</a:t>
            </a:r>
            <a:endParaRPr b="0" i="0" sz="1600" u="none" cap="none" strike="noStrike"/>
          </a:p>
        </p:txBody>
      </p:sp>
      <p:sp>
        <p:nvSpPr>
          <p:cNvPr id="310" name="Google Shape;310;p10"/>
          <p:cNvSpPr/>
          <p:nvPr/>
        </p:nvSpPr>
        <p:spPr>
          <a:xfrm>
            <a:off x="381000" y="1275150"/>
            <a:ext cx="3967544" cy="2671763"/>
          </a:xfrm>
          <a:custGeom>
            <a:rect b="b" l="l" r="r" t="t"/>
            <a:pathLst>
              <a:path extrusionOk="0" h="2514600" w="6724650">
                <a:moveTo>
                  <a:pt x="76192" y="0"/>
                </a:moveTo>
                <a:lnTo>
                  <a:pt x="6648458" y="0"/>
                </a:lnTo>
                <a:cubicBezTo>
                  <a:pt x="6690538" y="0"/>
                  <a:pt x="6724650" y="34112"/>
                  <a:pt x="6724650" y="76192"/>
                </a:cubicBezTo>
                <a:lnTo>
                  <a:pt x="6724650" y="2438408"/>
                </a:lnTo>
                <a:cubicBezTo>
                  <a:pt x="6724650" y="2480488"/>
                  <a:pt x="6690538" y="2514600"/>
                  <a:pt x="6648458" y="2514600"/>
                </a:cubicBezTo>
                <a:lnTo>
                  <a:pt x="76192" y="2514600"/>
                </a:lnTo>
                <a:cubicBezTo>
                  <a:pt x="34112" y="2514600"/>
                  <a:pt x="0" y="2480488"/>
                  <a:pt x="0" y="24384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571500" y="1344894"/>
            <a:ext cx="267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Time Series Forecasting Results</a:t>
            </a:r>
            <a:endParaRPr b="0" i="0" sz="1600" u="none" cap="none" strike="noStrike"/>
          </a:p>
        </p:txBody>
      </p:sp>
      <p:graphicFrame>
        <p:nvGraphicFramePr>
          <p:cNvPr id="312" name="Google Shape;312;p10"/>
          <p:cNvGraphicFramePr/>
          <p:nvPr/>
        </p:nvGraphicFramePr>
        <p:xfrm>
          <a:off x="571500" y="17124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{ECC4401B-2E1D-4094-A6F9-0003E7E70CC2}</a:tableStyleId>
              </a:tblPr>
              <a:tblGrid>
                <a:gridCol w="1062075"/>
                <a:gridCol w="1018725"/>
                <a:gridCol w="982600"/>
                <a:gridCol w="708050"/>
              </a:tblGrid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Model</a:t>
                      </a:r>
                      <a:endParaRPr sz="1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RMSE</a:t>
                      </a:r>
                      <a:endParaRPr sz="1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MAE</a:t>
                      </a:r>
                      <a:endParaRPr sz="1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Rank</a:t>
                      </a:r>
                      <a:endParaRPr sz="1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SARIMA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29633.04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15723.29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4th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LSTM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839.4357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383.5089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2nd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XGBoost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807.95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398.41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1st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Prophet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1671.70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884.35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3rd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13" name="Google Shape;313;p10"/>
          <p:cNvSpPr/>
          <p:nvPr/>
        </p:nvSpPr>
        <p:spPr>
          <a:xfrm>
            <a:off x="7338972" y="1251583"/>
            <a:ext cx="3967544" cy="1962174"/>
          </a:xfrm>
          <a:custGeom>
            <a:rect b="b" l="l" r="r" t="t"/>
            <a:pathLst>
              <a:path extrusionOk="0" h="2162175" w="6724650">
                <a:moveTo>
                  <a:pt x="76195" y="0"/>
                </a:moveTo>
                <a:lnTo>
                  <a:pt x="6648455" y="0"/>
                </a:lnTo>
                <a:cubicBezTo>
                  <a:pt x="6690536" y="0"/>
                  <a:pt x="6724650" y="34114"/>
                  <a:pt x="6724650" y="76195"/>
                </a:cubicBezTo>
                <a:lnTo>
                  <a:pt x="6724650" y="2085980"/>
                </a:lnTo>
                <a:cubicBezTo>
                  <a:pt x="6724650" y="2128061"/>
                  <a:pt x="6690536" y="2162175"/>
                  <a:pt x="6648455" y="2162175"/>
                </a:cubicBezTo>
                <a:lnTo>
                  <a:pt x="76195" y="2162175"/>
                </a:lnTo>
                <a:cubicBezTo>
                  <a:pt x="34114" y="2162175"/>
                  <a:pt x="0" y="2128061"/>
                  <a:pt x="0" y="208598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7529477" y="1307883"/>
            <a:ext cx="2890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Regression Results</a:t>
            </a:r>
            <a:endParaRPr b="0" i="0" sz="1600" u="none" cap="none" strike="noStrike"/>
          </a:p>
        </p:txBody>
      </p:sp>
      <p:graphicFrame>
        <p:nvGraphicFramePr>
          <p:cNvPr id="315" name="Google Shape;315;p10"/>
          <p:cNvGraphicFramePr/>
          <p:nvPr/>
        </p:nvGraphicFramePr>
        <p:xfrm>
          <a:off x="7529463" y="16740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{ECC4401B-2E1D-4094-A6F9-0003E7E70CC2}</a:tableStyleId>
              </a:tblPr>
              <a:tblGrid>
                <a:gridCol w="1537550"/>
                <a:gridCol w="517950"/>
                <a:gridCol w="528850"/>
                <a:gridCol w="534325"/>
                <a:gridCol w="507050"/>
              </a:tblGrid>
              <a:tr h="3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Model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R²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RMSE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MAE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Rank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Gradient Boosting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0.8145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799.85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416.82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2nd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0066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Random Forest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0.8213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785.11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387.82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1st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Linear Regression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0.7558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917.72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563.06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66666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3rd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16" name="Google Shape;316;p10"/>
          <p:cNvSpPr/>
          <p:nvPr/>
        </p:nvSpPr>
        <p:spPr>
          <a:xfrm>
            <a:off x="4692850" y="3322325"/>
            <a:ext cx="6558439" cy="627573"/>
          </a:xfrm>
          <a:custGeom>
            <a:rect b="b" l="l" r="r" t="t"/>
            <a:pathLst>
              <a:path extrusionOk="0" h="1096197" w="4476750">
                <a:moveTo>
                  <a:pt x="76190" y="0"/>
                </a:moveTo>
                <a:lnTo>
                  <a:pt x="4400560" y="0"/>
                </a:lnTo>
                <a:cubicBezTo>
                  <a:pt x="4442610" y="0"/>
                  <a:pt x="4476750" y="19073"/>
                  <a:pt x="4476750" y="42565"/>
                </a:cubicBezTo>
                <a:lnTo>
                  <a:pt x="4476750" y="1053631"/>
                </a:lnTo>
                <a:cubicBezTo>
                  <a:pt x="4476750" y="1077124"/>
                  <a:pt x="4442610" y="1096197"/>
                  <a:pt x="4400560" y="1096197"/>
                </a:cubicBezTo>
                <a:lnTo>
                  <a:pt x="76190" y="1096197"/>
                </a:lnTo>
                <a:cubicBezTo>
                  <a:pt x="34140" y="1096197"/>
                  <a:pt x="0" y="1077124"/>
                  <a:pt x="0" y="1053631"/>
                </a:cubicBezTo>
                <a:lnTo>
                  <a:pt x="0" y="42565"/>
                </a:lnTo>
                <a:cubicBezTo>
                  <a:pt x="0" y="19057"/>
                  <a:pt x="34112" y="0"/>
                  <a:pt x="7619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4786300" y="3353686"/>
            <a:ext cx="497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Clustering Performance</a:t>
            </a:r>
            <a:endParaRPr b="0" i="0" sz="1600" u="none" cap="none" strike="noStrike"/>
          </a:p>
        </p:txBody>
      </p:sp>
      <p:sp>
        <p:nvSpPr>
          <p:cNvPr id="318" name="Google Shape;318;p10"/>
          <p:cNvSpPr/>
          <p:nvPr/>
        </p:nvSpPr>
        <p:spPr>
          <a:xfrm>
            <a:off x="4783900" y="3708372"/>
            <a:ext cx="714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K-Means</a:t>
            </a:r>
            <a:endParaRPr b="0" i="0" sz="1600" u="none" cap="none" strike="noStrike"/>
          </a:p>
        </p:txBody>
      </p:sp>
      <p:sp>
        <p:nvSpPr>
          <p:cNvPr id="319" name="Google Shape;319;p10"/>
          <p:cNvSpPr/>
          <p:nvPr/>
        </p:nvSpPr>
        <p:spPr>
          <a:xfrm>
            <a:off x="5435503" y="3708372"/>
            <a:ext cx="1167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Silhouette: 0.36</a:t>
            </a:r>
            <a:endParaRPr b="0" i="0" sz="1600" u="none" cap="none" strike="noStrike"/>
          </a:p>
        </p:txBody>
      </p:sp>
      <p:sp>
        <p:nvSpPr>
          <p:cNvPr id="320" name="Google Shape;320;p10"/>
          <p:cNvSpPr/>
          <p:nvPr/>
        </p:nvSpPr>
        <p:spPr>
          <a:xfrm>
            <a:off x="4629758" y="1251583"/>
            <a:ext cx="2484596" cy="1962150"/>
          </a:xfrm>
          <a:custGeom>
            <a:rect b="b" l="l" r="r" t="t"/>
            <a:pathLst>
              <a:path extrusionOk="0" h="1962150" w="4476750">
                <a:moveTo>
                  <a:pt x="76190" y="0"/>
                </a:moveTo>
                <a:lnTo>
                  <a:pt x="4400560" y="0"/>
                </a:lnTo>
                <a:cubicBezTo>
                  <a:pt x="4442610" y="0"/>
                  <a:pt x="4476750" y="34140"/>
                  <a:pt x="4476750" y="76190"/>
                </a:cubicBezTo>
                <a:lnTo>
                  <a:pt x="4476750" y="1885960"/>
                </a:lnTo>
                <a:cubicBezTo>
                  <a:pt x="4476750" y="1928010"/>
                  <a:pt x="4442610" y="1962150"/>
                  <a:pt x="4400560" y="1962150"/>
                </a:cubicBezTo>
                <a:lnTo>
                  <a:pt x="76190" y="1962150"/>
                </a:lnTo>
                <a:cubicBezTo>
                  <a:pt x="34140" y="1962150"/>
                  <a:pt x="0" y="1928010"/>
                  <a:pt x="0" y="1885960"/>
                </a:cubicBezTo>
                <a:lnTo>
                  <a:pt x="0" y="76190"/>
                </a:lnTo>
                <a:cubicBezTo>
                  <a:pt x="0" y="34112"/>
                  <a:pt x="34112" y="0"/>
                  <a:pt x="7619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4786296" y="1442083"/>
            <a:ext cx="220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Market Basket Analysis Time</a:t>
            </a:r>
            <a:endParaRPr b="0" i="0" sz="1600" u="none" cap="none" strike="noStrike"/>
          </a:p>
        </p:txBody>
      </p:sp>
      <p:sp>
        <p:nvSpPr>
          <p:cNvPr id="322" name="Google Shape;322;p10"/>
          <p:cNvSpPr/>
          <p:nvPr/>
        </p:nvSpPr>
        <p:spPr>
          <a:xfrm>
            <a:off x="4846593" y="1823083"/>
            <a:ext cx="426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Eclat</a:t>
            </a:r>
            <a:endParaRPr b="0" i="0" sz="1600" u="none" cap="none" strike="noStrike"/>
          </a:p>
        </p:txBody>
      </p:sp>
      <p:sp>
        <p:nvSpPr>
          <p:cNvPr id="323" name="Google Shape;323;p10"/>
          <p:cNvSpPr/>
          <p:nvPr/>
        </p:nvSpPr>
        <p:spPr>
          <a:xfrm>
            <a:off x="6429037" y="1823083"/>
            <a:ext cx="51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6.649s</a:t>
            </a:r>
            <a:endParaRPr b="0" i="0" sz="1600" u="none" cap="none" strike="noStrike"/>
          </a:p>
        </p:txBody>
      </p:sp>
      <p:sp>
        <p:nvSpPr>
          <p:cNvPr id="324" name="Google Shape;324;p10"/>
          <p:cNvSpPr/>
          <p:nvPr/>
        </p:nvSpPr>
        <p:spPr>
          <a:xfrm>
            <a:off x="4846592" y="2261258"/>
            <a:ext cx="80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FP-Growth</a:t>
            </a:r>
            <a:endParaRPr b="0" i="0" sz="1600" u="none" cap="none" strike="noStrike"/>
          </a:p>
        </p:txBody>
      </p:sp>
      <p:sp>
        <p:nvSpPr>
          <p:cNvPr id="325" name="Google Shape;325;p10"/>
          <p:cNvSpPr/>
          <p:nvPr/>
        </p:nvSpPr>
        <p:spPr>
          <a:xfrm>
            <a:off x="6428936" y="2261258"/>
            <a:ext cx="5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2.73s</a:t>
            </a:r>
            <a:endParaRPr b="0" i="0" sz="1600" u="none" cap="none" strike="noStrike"/>
          </a:p>
        </p:txBody>
      </p:sp>
      <p:sp>
        <p:nvSpPr>
          <p:cNvPr id="326" name="Google Shape;326;p10"/>
          <p:cNvSpPr/>
          <p:nvPr/>
        </p:nvSpPr>
        <p:spPr>
          <a:xfrm>
            <a:off x="4846595" y="2699408"/>
            <a:ext cx="588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Apriori</a:t>
            </a:r>
            <a:endParaRPr b="0" i="0" sz="1600" u="none" cap="none" strike="noStrike"/>
          </a:p>
        </p:txBody>
      </p:sp>
      <p:sp>
        <p:nvSpPr>
          <p:cNvPr id="327" name="Google Shape;327;p10"/>
          <p:cNvSpPr/>
          <p:nvPr/>
        </p:nvSpPr>
        <p:spPr>
          <a:xfrm>
            <a:off x="6419787" y="2669383"/>
            <a:ext cx="51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123.12s</a:t>
            </a:r>
            <a:endParaRPr b="0" i="0" sz="1600" u="none" cap="none" strike="noStrike"/>
          </a:p>
        </p:txBody>
      </p:sp>
      <p:pic>
        <p:nvPicPr>
          <p:cNvPr id="328" name="Google Shape;32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74" y="4393515"/>
            <a:ext cx="5308457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1700" y="4386250"/>
            <a:ext cx="5308488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6691150" y="3704750"/>
            <a:ext cx="1965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Davies Boulden Index</a:t>
            </a:r>
            <a:r>
              <a:rPr b="1" i="0" lang="en-US" sz="105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: 0.</a:t>
            </a:r>
            <a:r>
              <a:rPr b="1" lang="en-US" sz="1050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9099</a:t>
            </a:r>
            <a:endParaRPr b="0" i="0" sz="1600" u="none" cap="none" strike="noStrike"/>
          </a:p>
        </p:txBody>
      </p:sp>
      <p:sp>
        <p:nvSpPr>
          <p:cNvPr id="331" name="Google Shape;331;p10"/>
          <p:cNvSpPr/>
          <p:nvPr/>
        </p:nvSpPr>
        <p:spPr>
          <a:xfrm>
            <a:off x="8744197" y="3704750"/>
            <a:ext cx="2411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Calinski-Harbasz Index</a:t>
            </a:r>
            <a:r>
              <a:rPr b="1" i="0" lang="en-US" sz="105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:</a:t>
            </a:r>
            <a:r>
              <a:rPr b="1" lang="en-US" sz="1050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 3638.23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3938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800" y="4090984"/>
            <a:ext cx="3085787" cy="246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5262" y="4090984"/>
            <a:ext cx="4946918" cy="246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4575" y="4137074"/>
            <a:ext cx="3530293" cy="24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200" y="342925"/>
            <a:ext cx="5417000" cy="33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5075" y="2277200"/>
            <a:ext cx="5081576" cy="458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57250" cy="434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4125" y="2358625"/>
            <a:ext cx="4060650" cy="4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2425" y="289325"/>
            <a:ext cx="5650850" cy="28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8012" y="4156975"/>
            <a:ext cx="2979675" cy="215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3"/>
          <p:cNvSpPr/>
          <p:nvPr/>
        </p:nvSpPr>
        <p:spPr>
          <a:xfrm>
            <a:off x="4854000" y="3936550"/>
            <a:ext cx="8985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LSTM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"/>
          <p:cNvSpPr/>
          <p:nvPr/>
        </p:nvSpPr>
        <p:spPr>
          <a:xfrm>
            <a:off x="320420" y="320420"/>
            <a:ext cx="11615243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BENCHMARKING</a:t>
            </a:r>
            <a:endParaRPr b="0" i="0" sz="1600" u="none" cap="none" strike="noStrike"/>
          </a:p>
        </p:txBody>
      </p:sp>
      <p:sp>
        <p:nvSpPr>
          <p:cNvPr id="364" name="Google Shape;364;p14"/>
          <p:cNvSpPr/>
          <p:nvPr/>
        </p:nvSpPr>
        <p:spPr>
          <a:xfrm>
            <a:off x="320420" y="576757"/>
            <a:ext cx="11743411" cy="384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8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Comparison with existing works</a:t>
            </a:r>
            <a:endParaRPr b="0" i="0" sz="1600" u="none" cap="none" strike="noStrike"/>
          </a:p>
        </p:txBody>
      </p:sp>
      <p:sp>
        <p:nvSpPr>
          <p:cNvPr id="365" name="Google Shape;365;p14"/>
          <p:cNvSpPr/>
          <p:nvPr/>
        </p:nvSpPr>
        <p:spPr>
          <a:xfrm>
            <a:off x="336442" y="1153514"/>
            <a:ext cx="5663432" cy="2755616"/>
          </a:xfrm>
          <a:custGeom>
            <a:rect b="b" l="l" r="r" t="t"/>
            <a:pathLst>
              <a:path extrusionOk="0" h="2755616" w="5663432">
                <a:moveTo>
                  <a:pt x="32042" y="0"/>
                </a:moveTo>
                <a:lnTo>
                  <a:pt x="5599337" y="0"/>
                </a:lnTo>
                <a:cubicBezTo>
                  <a:pt x="5634736" y="0"/>
                  <a:pt x="5663432" y="28697"/>
                  <a:pt x="5663432" y="64096"/>
                </a:cubicBezTo>
                <a:lnTo>
                  <a:pt x="5663432" y="2691521"/>
                </a:lnTo>
                <a:cubicBezTo>
                  <a:pt x="5663432" y="2726920"/>
                  <a:pt x="5634736" y="2755616"/>
                  <a:pt x="5599337" y="2755616"/>
                </a:cubicBezTo>
                <a:lnTo>
                  <a:pt x="32042" y="2755616"/>
                </a:lnTo>
                <a:cubicBezTo>
                  <a:pt x="14346" y="2755616"/>
                  <a:pt x="0" y="2741271"/>
                  <a:pt x="0" y="272357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336442" y="1153514"/>
            <a:ext cx="32042" cy="2755616"/>
          </a:xfrm>
          <a:custGeom>
            <a:rect b="b" l="l" r="r" t="t"/>
            <a:pathLst>
              <a:path extrusionOk="0" h="2755616" w="32042">
                <a:moveTo>
                  <a:pt x="32042" y="0"/>
                </a:moveTo>
                <a:lnTo>
                  <a:pt x="32042" y="0"/>
                </a:lnTo>
                <a:lnTo>
                  <a:pt x="32042" y="2755616"/>
                </a:lnTo>
                <a:lnTo>
                  <a:pt x="32042" y="2755616"/>
                </a:lnTo>
                <a:cubicBezTo>
                  <a:pt x="14346" y="2755616"/>
                  <a:pt x="0" y="2741271"/>
                  <a:pt x="0" y="272357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564741" y="1377808"/>
            <a:ext cx="160210" cy="160210"/>
          </a:xfrm>
          <a:custGeom>
            <a:rect b="b" l="l" r="r" t="t"/>
            <a:pathLst>
              <a:path extrusionOk="0" h="160210" w="160210">
                <a:moveTo>
                  <a:pt x="20026" y="20026"/>
                </a:moveTo>
                <a:cubicBezTo>
                  <a:pt x="20026" y="14488"/>
                  <a:pt x="15552" y="10013"/>
                  <a:pt x="10013" y="10013"/>
                </a:cubicBezTo>
                <a:cubicBezTo>
                  <a:pt x="4475" y="10013"/>
                  <a:pt x="0" y="14488"/>
                  <a:pt x="0" y="20026"/>
                </a:cubicBezTo>
                <a:lnTo>
                  <a:pt x="0" y="125164"/>
                </a:lnTo>
                <a:cubicBezTo>
                  <a:pt x="0" y="138995"/>
                  <a:pt x="11202" y="150197"/>
                  <a:pt x="25033" y="150197"/>
                </a:cubicBezTo>
                <a:lnTo>
                  <a:pt x="150197" y="150197"/>
                </a:lnTo>
                <a:cubicBezTo>
                  <a:pt x="155736" y="150197"/>
                  <a:pt x="160210" y="145722"/>
                  <a:pt x="160210" y="140184"/>
                </a:cubicBezTo>
                <a:cubicBezTo>
                  <a:pt x="160210" y="134645"/>
                  <a:pt x="155736" y="130171"/>
                  <a:pt x="150197" y="130171"/>
                </a:cubicBezTo>
                <a:lnTo>
                  <a:pt x="25033" y="130171"/>
                </a:lnTo>
                <a:cubicBezTo>
                  <a:pt x="22279" y="130171"/>
                  <a:pt x="20026" y="127918"/>
                  <a:pt x="20026" y="125164"/>
                </a:cubicBezTo>
                <a:lnTo>
                  <a:pt x="20026" y="20026"/>
                </a:lnTo>
                <a:close/>
                <a:moveTo>
                  <a:pt x="147256" y="47124"/>
                </a:moveTo>
                <a:cubicBezTo>
                  <a:pt x="151167" y="43213"/>
                  <a:pt x="151167" y="36861"/>
                  <a:pt x="147256" y="32949"/>
                </a:cubicBezTo>
                <a:cubicBezTo>
                  <a:pt x="143344" y="29038"/>
                  <a:pt x="136992" y="29038"/>
                  <a:pt x="133081" y="32949"/>
                </a:cubicBezTo>
                <a:lnTo>
                  <a:pt x="100131" y="65930"/>
                </a:lnTo>
                <a:lnTo>
                  <a:pt x="82170" y="48000"/>
                </a:lnTo>
                <a:cubicBezTo>
                  <a:pt x="78259" y="44089"/>
                  <a:pt x="71907" y="44089"/>
                  <a:pt x="67995" y="48000"/>
                </a:cubicBezTo>
                <a:lnTo>
                  <a:pt x="37956" y="78040"/>
                </a:lnTo>
                <a:cubicBezTo>
                  <a:pt x="34045" y="81951"/>
                  <a:pt x="34045" y="88303"/>
                  <a:pt x="37956" y="92215"/>
                </a:cubicBezTo>
                <a:cubicBezTo>
                  <a:pt x="41867" y="96126"/>
                  <a:pt x="48220" y="96126"/>
                  <a:pt x="52131" y="92215"/>
                </a:cubicBezTo>
                <a:lnTo>
                  <a:pt x="75099" y="69247"/>
                </a:lnTo>
                <a:lnTo>
                  <a:pt x="93060" y="87208"/>
                </a:lnTo>
                <a:cubicBezTo>
                  <a:pt x="96971" y="91120"/>
                  <a:pt x="103323" y="91120"/>
                  <a:pt x="107234" y="87208"/>
                </a:cubicBezTo>
                <a:lnTo>
                  <a:pt x="147287" y="47156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805609" y="1345766"/>
            <a:ext cx="5082118" cy="224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Time Series </a:t>
            </a:r>
            <a:r>
              <a:rPr b="1" lang="en-US" sz="1262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Forecasting</a:t>
            </a:r>
            <a:endParaRPr b="0" i="0" sz="1600" u="none" cap="none" strike="noStrike"/>
          </a:p>
        </p:txBody>
      </p:sp>
      <p:sp>
        <p:nvSpPr>
          <p:cNvPr id="369" name="Google Shape;369;p14"/>
          <p:cNvSpPr/>
          <p:nvPr/>
        </p:nvSpPr>
        <p:spPr>
          <a:xfrm>
            <a:off x="544715" y="1698229"/>
            <a:ext cx="5262907" cy="961261"/>
          </a:xfrm>
          <a:custGeom>
            <a:rect b="b" l="l" r="r" t="t"/>
            <a:pathLst>
              <a:path extrusionOk="0" h="961261" w="5262907">
                <a:moveTo>
                  <a:pt x="64087" y="0"/>
                </a:moveTo>
                <a:lnTo>
                  <a:pt x="5198819" y="0"/>
                </a:lnTo>
                <a:cubicBezTo>
                  <a:pt x="5234214" y="0"/>
                  <a:pt x="5262907" y="28693"/>
                  <a:pt x="5262907" y="64087"/>
                </a:cubicBezTo>
                <a:lnTo>
                  <a:pt x="5262907" y="897174"/>
                </a:lnTo>
                <a:cubicBezTo>
                  <a:pt x="5262907" y="932569"/>
                  <a:pt x="5234214" y="961261"/>
                  <a:pt x="5198819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672883" y="1826397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Reference: Fattah et al. (</a:t>
            </a:r>
            <a:r>
              <a:rPr b="1" lang="en-US" sz="1009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Traditional </a:t>
            </a:r>
            <a:r>
              <a:rPr b="1" i="0" lang="en-US" sz="1009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 Forecasting)</a:t>
            </a:r>
            <a:endParaRPr b="0" i="0" sz="1600" u="none" cap="none" strike="noStrike"/>
          </a:p>
        </p:txBody>
      </p:sp>
      <p:sp>
        <p:nvSpPr>
          <p:cNvPr id="371" name="Google Shape;371;p14"/>
          <p:cNvSpPr/>
          <p:nvPr/>
        </p:nvSpPr>
        <p:spPr>
          <a:xfrm>
            <a:off x="672883" y="2082733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Findings: ARIMA robust for seasonal patterns</a:t>
            </a:r>
            <a:endParaRPr b="0" i="0" sz="1600" u="none" cap="none" strike="noStrike"/>
          </a:p>
        </p:txBody>
      </p:sp>
      <p:sp>
        <p:nvSpPr>
          <p:cNvPr id="372" name="Google Shape;372;p14"/>
          <p:cNvSpPr/>
          <p:nvPr/>
        </p:nvSpPr>
        <p:spPr>
          <a:xfrm>
            <a:off x="672883" y="2339070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Our Result: </a:t>
            </a:r>
            <a:r>
              <a:rPr b="1" lang="en-US" sz="1009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SARIMA performed well, but was outperformed by machine learning models</a:t>
            </a:r>
            <a:endParaRPr b="0" i="0" sz="1600" u="none" cap="none" strike="noStrike"/>
          </a:p>
        </p:txBody>
      </p:sp>
      <p:sp>
        <p:nvSpPr>
          <p:cNvPr id="373" name="Google Shape;373;p14"/>
          <p:cNvSpPr/>
          <p:nvPr/>
        </p:nvSpPr>
        <p:spPr>
          <a:xfrm>
            <a:off x="544715" y="2755616"/>
            <a:ext cx="5262907" cy="961261"/>
          </a:xfrm>
          <a:custGeom>
            <a:rect b="b" l="l" r="r" t="t"/>
            <a:pathLst>
              <a:path extrusionOk="0" h="961261" w="5262907">
                <a:moveTo>
                  <a:pt x="64087" y="0"/>
                </a:moveTo>
                <a:lnTo>
                  <a:pt x="5198819" y="0"/>
                </a:lnTo>
                <a:cubicBezTo>
                  <a:pt x="5234214" y="0"/>
                  <a:pt x="5262907" y="28693"/>
                  <a:pt x="5262907" y="64087"/>
                </a:cubicBezTo>
                <a:lnTo>
                  <a:pt x="5262907" y="897174"/>
                </a:lnTo>
                <a:cubicBezTo>
                  <a:pt x="5262907" y="932569"/>
                  <a:pt x="5234214" y="961261"/>
                  <a:pt x="5198819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672883" y="2883784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Reference: Siami-Namini et al. (LSTM Study)</a:t>
            </a:r>
            <a:endParaRPr b="0" i="0" sz="1600" u="none" cap="none" strike="noStrike"/>
          </a:p>
        </p:txBody>
      </p:sp>
      <p:sp>
        <p:nvSpPr>
          <p:cNvPr id="375" name="Google Shape;375;p14"/>
          <p:cNvSpPr/>
          <p:nvPr/>
        </p:nvSpPr>
        <p:spPr>
          <a:xfrm>
            <a:off x="672883" y="3140121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Findings: LSTM reduces errors by 84-87%</a:t>
            </a:r>
            <a:endParaRPr b="0" i="0" sz="1600" u="none" cap="none" strike="noStrike"/>
          </a:p>
        </p:txBody>
      </p:sp>
      <p:sp>
        <p:nvSpPr>
          <p:cNvPr id="376" name="Google Shape;376;p14"/>
          <p:cNvSpPr/>
          <p:nvPr/>
        </p:nvSpPr>
        <p:spPr>
          <a:xfrm>
            <a:off x="672883" y="3396457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Our Result: </a:t>
            </a:r>
            <a:r>
              <a:rPr b="1" lang="en-US" sz="1009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xgboost perform well with MAE of 398 and RMSE of 892. </a:t>
            </a: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endParaRPr b="0" i="0" sz="1600" u="none" cap="none" strike="noStrike"/>
          </a:p>
        </p:txBody>
      </p:sp>
      <p:sp>
        <p:nvSpPr>
          <p:cNvPr id="377" name="Google Shape;377;p14"/>
          <p:cNvSpPr/>
          <p:nvPr/>
        </p:nvSpPr>
        <p:spPr>
          <a:xfrm>
            <a:off x="6207246" y="1153514"/>
            <a:ext cx="5663432" cy="2755616"/>
          </a:xfrm>
          <a:custGeom>
            <a:rect b="b" l="l" r="r" t="t"/>
            <a:pathLst>
              <a:path extrusionOk="0" h="2755616" w="5663432">
                <a:moveTo>
                  <a:pt x="32042" y="0"/>
                </a:moveTo>
                <a:lnTo>
                  <a:pt x="5599337" y="0"/>
                </a:lnTo>
                <a:cubicBezTo>
                  <a:pt x="5634736" y="0"/>
                  <a:pt x="5663432" y="28697"/>
                  <a:pt x="5663432" y="64096"/>
                </a:cubicBezTo>
                <a:lnTo>
                  <a:pt x="5663432" y="2691521"/>
                </a:lnTo>
                <a:cubicBezTo>
                  <a:pt x="5663432" y="2726920"/>
                  <a:pt x="5634736" y="2755616"/>
                  <a:pt x="5599337" y="2755616"/>
                </a:cubicBezTo>
                <a:lnTo>
                  <a:pt x="32042" y="2755616"/>
                </a:lnTo>
                <a:cubicBezTo>
                  <a:pt x="14346" y="2755616"/>
                  <a:pt x="0" y="2741271"/>
                  <a:pt x="0" y="272357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6207246" y="1153514"/>
            <a:ext cx="32042" cy="2755616"/>
          </a:xfrm>
          <a:custGeom>
            <a:rect b="b" l="l" r="r" t="t"/>
            <a:pathLst>
              <a:path extrusionOk="0" h="2755616" w="32042">
                <a:moveTo>
                  <a:pt x="32042" y="0"/>
                </a:moveTo>
                <a:lnTo>
                  <a:pt x="32042" y="0"/>
                </a:lnTo>
                <a:lnTo>
                  <a:pt x="32042" y="2755616"/>
                </a:lnTo>
                <a:lnTo>
                  <a:pt x="32042" y="2755616"/>
                </a:lnTo>
                <a:cubicBezTo>
                  <a:pt x="14346" y="2755616"/>
                  <a:pt x="0" y="2741271"/>
                  <a:pt x="0" y="272357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6435546" y="1377808"/>
            <a:ext cx="160210" cy="160210"/>
          </a:xfrm>
          <a:custGeom>
            <a:rect b="b" l="l" r="r" t="t"/>
            <a:pathLst>
              <a:path extrusionOk="0" h="160210" w="160210">
                <a:moveTo>
                  <a:pt x="10013" y="10013"/>
                </a:moveTo>
                <a:cubicBezTo>
                  <a:pt x="15552" y="10013"/>
                  <a:pt x="20026" y="14488"/>
                  <a:pt x="20026" y="20026"/>
                </a:cubicBezTo>
                <a:lnTo>
                  <a:pt x="20026" y="125164"/>
                </a:lnTo>
                <a:cubicBezTo>
                  <a:pt x="20026" y="127918"/>
                  <a:pt x="22279" y="130171"/>
                  <a:pt x="25033" y="130171"/>
                </a:cubicBezTo>
                <a:lnTo>
                  <a:pt x="150197" y="130171"/>
                </a:lnTo>
                <a:cubicBezTo>
                  <a:pt x="155736" y="130171"/>
                  <a:pt x="160210" y="134645"/>
                  <a:pt x="160210" y="140184"/>
                </a:cubicBezTo>
                <a:cubicBezTo>
                  <a:pt x="160210" y="145722"/>
                  <a:pt x="155736" y="150197"/>
                  <a:pt x="150197" y="150197"/>
                </a:cubicBezTo>
                <a:lnTo>
                  <a:pt x="25033" y="150197"/>
                </a:lnTo>
                <a:cubicBezTo>
                  <a:pt x="11202" y="150197"/>
                  <a:pt x="0" y="138995"/>
                  <a:pt x="0" y="125164"/>
                </a:cubicBezTo>
                <a:lnTo>
                  <a:pt x="0" y="20026"/>
                </a:lnTo>
                <a:cubicBezTo>
                  <a:pt x="0" y="14488"/>
                  <a:pt x="4475" y="10013"/>
                  <a:pt x="10013" y="10013"/>
                </a:cubicBezTo>
                <a:close/>
                <a:moveTo>
                  <a:pt x="40053" y="30039"/>
                </a:moveTo>
                <a:cubicBezTo>
                  <a:pt x="40053" y="24501"/>
                  <a:pt x="44527" y="20026"/>
                  <a:pt x="50066" y="20026"/>
                </a:cubicBezTo>
                <a:lnTo>
                  <a:pt x="110145" y="20026"/>
                </a:lnTo>
                <a:cubicBezTo>
                  <a:pt x="115683" y="20026"/>
                  <a:pt x="120158" y="24501"/>
                  <a:pt x="120158" y="30039"/>
                </a:cubicBezTo>
                <a:cubicBezTo>
                  <a:pt x="120158" y="35578"/>
                  <a:pt x="115683" y="40053"/>
                  <a:pt x="110145" y="40053"/>
                </a:cubicBezTo>
                <a:lnTo>
                  <a:pt x="50066" y="40053"/>
                </a:lnTo>
                <a:cubicBezTo>
                  <a:pt x="44527" y="40053"/>
                  <a:pt x="40053" y="35578"/>
                  <a:pt x="40053" y="30039"/>
                </a:cubicBezTo>
                <a:close/>
                <a:moveTo>
                  <a:pt x="50066" y="55072"/>
                </a:moveTo>
                <a:lnTo>
                  <a:pt x="90118" y="55072"/>
                </a:lnTo>
                <a:cubicBezTo>
                  <a:pt x="95657" y="55072"/>
                  <a:pt x="100131" y="59547"/>
                  <a:pt x="100131" y="65085"/>
                </a:cubicBezTo>
                <a:cubicBezTo>
                  <a:pt x="100131" y="70624"/>
                  <a:pt x="95657" y="75099"/>
                  <a:pt x="90118" y="75099"/>
                </a:cubicBezTo>
                <a:lnTo>
                  <a:pt x="50066" y="75099"/>
                </a:lnTo>
                <a:cubicBezTo>
                  <a:pt x="44527" y="75099"/>
                  <a:pt x="40053" y="70624"/>
                  <a:pt x="40053" y="65085"/>
                </a:cubicBezTo>
                <a:cubicBezTo>
                  <a:pt x="40053" y="59547"/>
                  <a:pt x="44527" y="55072"/>
                  <a:pt x="50066" y="55072"/>
                </a:cubicBezTo>
                <a:close/>
                <a:moveTo>
                  <a:pt x="50066" y="90118"/>
                </a:moveTo>
                <a:lnTo>
                  <a:pt x="130171" y="90118"/>
                </a:lnTo>
                <a:cubicBezTo>
                  <a:pt x="135709" y="90118"/>
                  <a:pt x="140184" y="94593"/>
                  <a:pt x="140184" y="100131"/>
                </a:cubicBezTo>
                <a:cubicBezTo>
                  <a:pt x="140184" y="105670"/>
                  <a:pt x="135709" y="110145"/>
                  <a:pt x="130171" y="110145"/>
                </a:cubicBezTo>
                <a:lnTo>
                  <a:pt x="50066" y="110145"/>
                </a:lnTo>
                <a:cubicBezTo>
                  <a:pt x="44527" y="110145"/>
                  <a:pt x="40053" y="105670"/>
                  <a:pt x="40053" y="100131"/>
                </a:cubicBezTo>
                <a:cubicBezTo>
                  <a:pt x="40053" y="94593"/>
                  <a:pt x="44527" y="90118"/>
                  <a:pt x="50066" y="90118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6676414" y="1345766"/>
            <a:ext cx="5082118" cy="224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Regression </a:t>
            </a:r>
            <a:r>
              <a:rPr b="1" lang="en-US" sz="1262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Modelling</a:t>
            </a:r>
            <a:endParaRPr b="0" i="0" sz="1600" u="none" cap="none" strike="noStrike"/>
          </a:p>
        </p:txBody>
      </p:sp>
      <p:sp>
        <p:nvSpPr>
          <p:cNvPr id="381" name="Google Shape;381;p14"/>
          <p:cNvSpPr/>
          <p:nvPr/>
        </p:nvSpPr>
        <p:spPr>
          <a:xfrm>
            <a:off x="6415519" y="1698229"/>
            <a:ext cx="5262907" cy="961261"/>
          </a:xfrm>
          <a:custGeom>
            <a:rect b="b" l="l" r="r" t="t"/>
            <a:pathLst>
              <a:path extrusionOk="0" h="961261" w="5262907">
                <a:moveTo>
                  <a:pt x="64087" y="0"/>
                </a:moveTo>
                <a:lnTo>
                  <a:pt x="5198819" y="0"/>
                </a:lnTo>
                <a:cubicBezTo>
                  <a:pt x="5234214" y="0"/>
                  <a:pt x="5262907" y="28693"/>
                  <a:pt x="5262907" y="64087"/>
                </a:cubicBezTo>
                <a:lnTo>
                  <a:pt x="5262907" y="897174"/>
                </a:lnTo>
                <a:cubicBezTo>
                  <a:pt x="5262907" y="932569"/>
                  <a:pt x="5234214" y="961261"/>
                  <a:pt x="5198819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6543688" y="1826397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Reference: Stockholm Housing Study</a:t>
            </a:r>
            <a:endParaRPr b="0" i="0" sz="1600" u="none" cap="none" strike="noStrike"/>
          </a:p>
        </p:txBody>
      </p:sp>
      <p:sp>
        <p:nvSpPr>
          <p:cNvPr id="383" name="Google Shape;383;p14"/>
          <p:cNvSpPr/>
          <p:nvPr/>
        </p:nvSpPr>
        <p:spPr>
          <a:xfrm>
            <a:off x="6543688" y="2082733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Findings: XGBoost achieves R² = 0.919</a:t>
            </a:r>
            <a:endParaRPr b="0" i="0" sz="1600" u="none" cap="none" strike="noStrike"/>
          </a:p>
        </p:txBody>
      </p:sp>
      <p:sp>
        <p:nvSpPr>
          <p:cNvPr id="384" name="Google Shape;384;p14"/>
          <p:cNvSpPr/>
          <p:nvPr/>
        </p:nvSpPr>
        <p:spPr>
          <a:xfrm>
            <a:off x="6543688" y="2339070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Our Result: Gradient Boosting R² = 0.</a:t>
            </a:r>
            <a:r>
              <a:rPr b="1" lang="en-US" sz="1009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8145</a:t>
            </a: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, RF = 0.</a:t>
            </a:r>
            <a:r>
              <a:rPr b="1" lang="en-US" sz="1009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8213.</a:t>
            </a:r>
            <a:endParaRPr b="0" i="0" sz="1600" u="none" cap="none" strike="noStrike"/>
          </a:p>
        </p:txBody>
      </p:sp>
      <p:sp>
        <p:nvSpPr>
          <p:cNvPr id="385" name="Google Shape;385;p14"/>
          <p:cNvSpPr/>
          <p:nvPr/>
        </p:nvSpPr>
        <p:spPr>
          <a:xfrm>
            <a:off x="6415519" y="2755616"/>
            <a:ext cx="5262907" cy="961261"/>
          </a:xfrm>
          <a:custGeom>
            <a:rect b="b" l="l" r="r" t="t"/>
            <a:pathLst>
              <a:path extrusionOk="0" h="961261" w="5262907">
                <a:moveTo>
                  <a:pt x="64087" y="0"/>
                </a:moveTo>
                <a:lnTo>
                  <a:pt x="5198819" y="0"/>
                </a:lnTo>
                <a:cubicBezTo>
                  <a:pt x="5234214" y="0"/>
                  <a:pt x="5262907" y="28693"/>
                  <a:pt x="5262907" y="64087"/>
                </a:cubicBezTo>
                <a:lnTo>
                  <a:pt x="5262907" y="897174"/>
                </a:lnTo>
                <a:cubicBezTo>
                  <a:pt x="5262907" y="932569"/>
                  <a:pt x="5234214" y="961261"/>
                  <a:pt x="5198819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6543688" y="2883784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Reference: COVID-19 Mortality Prediction</a:t>
            </a:r>
            <a:endParaRPr b="0" i="0" sz="1600" u="none" cap="none" strike="noStrike"/>
          </a:p>
        </p:txBody>
      </p:sp>
      <p:sp>
        <p:nvSpPr>
          <p:cNvPr id="387" name="Google Shape;387;p14"/>
          <p:cNvSpPr/>
          <p:nvPr/>
        </p:nvSpPr>
        <p:spPr>
          <a:xfrm>
            <a:off x="6543688" y="3140121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Findings: Random Forest R² = 0.983</a:t>
            </a:r>
            <a:endParaRPr b="0" i="0" sz="1600" u="none" cap="none" strike="noStrike"/>
          </a:p>
        </p:txBody>
      </p:sp>
      <p:sp>
        <p:nvSpPr>
          <p:cNvPr id="388" name="Google Shape;388;p14"/>
          <p:cNvSpPr/>
          <p:nvPr/>
        </p:nvSpPr>
        <p:spPr>
          <a:xfrm>
            <a:off x="6543688" y="3396457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Our Result: Tree models consistently outperform linear</a:t>
            </a:r>
            <a:endParaRPr b="0" i="0" sz="1600" u="none" cap="none" strike="noStrike"/>
          </a:p>
        </p:txBody>
      </p:sp>
      <p:sp>
        <p:nvSpPr>
          <p:cNvPr id="389" name="Google Shape;389;p14"/>
          <p:cNvSpPr/>
          <p:nvPr/>
        </p:nvSpPr>
        <p:spPr>
          <a:xfrm>
            <a:off x="336442" y="4101382"/>
            <a:ext cx="5663432" cy="2755616"/>
          </a:xfrm>
          <a:custGeom>
            <a:rect b="b" l="l" r="r" t="t"/>
            <a:pathLst>
              <a:path extrusionOk="0" h="2755616" w="5663432">
                <a:moveTo>
                  <a:pt x="32042" y="0"/>
                </a:moveTo>
                <a:lnTo>
                  <a:pt x="5599337" y="0"/>
                </a:lnTo>
                <a:cubicBezTo>
                  <a:pt x="5634736" y="0"/>
                  <a:pt x="5663432" y="28697"/>
                  <a:pt x="5663432" y="64096"/>
                </a:cubicBezTo>
                <a:lnTo>
                  <a:pt x="5663432" y="2691521"/>
                </a:lnTo>
                <a:cubicBezTo>
                  <a:pt x="5663432" y="2726920"/>
                  <a:pt x="5634736" y="2755616"/>
                  <a:pt x="5599337" y="2755616"/>
                </a:cubicBezTo>
                <a:lnTo>
                  <a:pt x="32042" y="2755616"/>
                </a:lnTo>
                <a:cubicBezTo>
                  <a:pt x="14346" y="2755616"/>
                  <a:pt x="0" y="2741271"/>
                  <a:pt x="0" y="272357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336442" y="4101382"/>
            <a:ext cx="32042" cy="2755616"/>
          </a:xfrm>
          <a:custGeom>
            <a:rect b="b" l="l" r="r" t="t"/>
            <a:pathLst>
              <a:path extrusionOk="0" h="2755616" w="32042">
                <a:moveTo>
                  <a:pt x="32042" y="0"/>
                </a:moveTo>
                <a:lnTo>
                  <a:pt x="32042" y="0"/>
                </a:lnTo>
                <a:lnTo>
                  <a:pt x="32042" y="2755616"/>
                </a:lnTo>
                <a:lnTo>
                  <a:pt x="32042" y="2755616"/>
                </a:lnTo>
                <a:cubicBezTo>
                  <a:pt x="14346" y="2755616"/>
                  <a:pt x="0" y="2741271"/>
                  <a:pt x="0" y="272357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544715" y="4325677"/>
            <a:ext cx="200263" cy="160210"/>
          </a:xfrm>
          <a:custGeom>
            <a:rect b="b" l="l" r="r" t="t"/>
            <a:pathLst>
              <a:path extrusionOk="0" h="160210" w="200263">
                <a:moveTo>
                  <a:pt x="100131" y="5007"/>
                </a:moveTo>
                <a:cubicBezTo>
                  <a:pt x="118092" y="5007"/>
                  <a:pt x="132674" y="19588"/>
                  <a:pt x="132674" y="37549"/>
                </a:cubicBezTo>
                <a:cubicBezTo>
                  <a:pt x="132674" y="55510"/>
                  <a:pt x="118092" y="70092"/>
                  <a:pt x="100131" y="70092"/>
                </a:cubicBezTo>
                <a:cubicBezTo>
                  <a:pt x="82171" y="70092"/>
                  <a:pt x="67589" y="55510"/>
                  <a:pt x="67589" y="37549"/>
                </a:cubicBezTo>
                <a:cubicBezTo>
                  <a:pt x="67589" y="19588"/>
                  <a:pt x="82171" y="5007"/>
                  <a:pt x="100131" y="5007"/>
                </a:cubicBezTo>
                <a:close/>
                <a:moveTo>
                  <a:pt x="30039" y="27536"/>
                </a:moveTo>
                <a:cubicBezTo>
                  <a:pt x="42474" y="27536"/>
                  <a:pt x="52569" y="37631"/>
                  <a:pt x="52569" y="50066"/>
                </a:cubicBezTo>
                <a:cubicBezTo>
                  <a:pt x="52569" y="62500"/>
                  <a:pt x="42474" y="72595"/>
                  <a:pt x="30039" y="72595"/>
                </a:cubicBezTo>
                <a:cubicBezTo>
                  <a:pt x="17605" y="72595"/>
                  <a:pt x="7510" y="62500"/>
                  <a:pt x="7510" y="50066"/>
                </a:cubicBezTo>
                <a:cubicBezTo>
                  <a:pt x="7510" y="37631"/>
                  <a:pt x="17605" y="27536"/>
                  <a:pt x="30039" y="27536"/>
                </a:cubicBezTo>
                <a:close/>
                <a:moveTo>
                  <a:pt x="0" y="130171"/>
                </a:moveTo>
                <a:cubicBezTo>
                  <a:pt x="0" y="108048"/>
                  <a:pt x="17930" y="90118"/>
                  <a:pt x="40053" y="90118"/>
                </a:cubicBezTo>
                <a:cubicBezTo>
                  <a:pt x="44058" y="90118"/>
                  <a:pt x="47938" y="90713"/>
                  <a:pt x="51599" y="91808"/>
                </a:cubicBezTo>
                <a:cubicBezTo>
                  <a:pt x="41304" y="103323"/>
                  <a:pt x="35046" y="118531"/>
                  <a:pt x="35046" y="135177"/>
                </a:cubicBezTo>
                <a:lnTo>
                  <a:pt x="35046" y="140184"/>
                </a:lnTo>
                <a:cubicBezTo>
                  <a:pt x="35046" y="143751"/>
                  <a:pt x="35797" y="147131"/>
                  <a:pt x="37142" y="150197"/>
                </a:cubicBezTo>
                <a:lnTo>
                  <a:pt x="10013" y="150197"/>
                </a:lnTo>
                <a:cubicBezTo>
                  <a:pt x="4475" y="150197"/>
                  <a:pt x="0" y="145722"/>
                  <a:pt x="0" y="140184"/>
                </a:cubicBezTo>
                <a:lnTo>
                  <a:pt x="0" y="130171"/>
                </a:lnTo>
                <a:close/>
                <a:moveTo>
                  <a:pt x="163120" y="150197"/>
                </a:moveTo>
                <a:cubicBezTo>
                  <a:pt x="164466" y="147131"/>
                  <a:pt x="165217" y="143751"/>
                  <a:pt x="165217" y="140184"/>
                </a:cubicBezTo>
                <a:lnTo>
                  <a:pt x="165217" y="135177"/>
                </a:lnTo>
                <a:cubicBezTo>
                  <a:pt x="165217" y="118531"/>
                  <a:pt x="158959" y="103323"/>
                  <a:pt x="148664" y="91808"/>
                </a:cubicBezTo>
                <a:cubicBezTo>
                  <a:pt x="152325" y="90713"/>
                  <a:pt x="156205" y="90118"/>
                  <a:pt x="160210" y="90118"/>
                </a:cubicBezTo>
                <a:cubicBezTo>
                  <a:pt x="182333" y="90118"/>
                  <a:pt x="200263" y="108048"/>
                  <a:pt x="200263" y="130171"/>
                </a:cubicBezTo>
                <a:lnTo>
                  <a:pt x="200263" y="140184"/>
                </a:lnTo>
                <a:cubicBezTo>
                  <a:pt x="200263" y="145722"/>
                  <a:pt x="195788" y="150197"/>
                  <a:pt x="190250" y="150197"/>
                </a:cubicBezTo>
                <a:lnTo>
                  <a:pt x="163120" y="150197"/>
                </a:lnTo>
                <a:close/>
                <a:moveTo>
                  <a:pt x="147694" y="50066"/>
                </a:moveTo>
                <a:cubicBezTo>
                  <a:pt x="147694" y="37631"/>
                  <a:pt x="157789" y="27536"/>
                  <a:pt x="170223" y="27536"/>
                </a:cubicBezTo>
                <a:cubicBezTo>
                  <a:pt x="182658" y="27536"/>
                  <a:pt x="192753" y="37631"/>
                  <a:pt x="192753" y="50066"/>
                </a:cubicBezTo>
                <a:cubicBezTo>
                  <a:pt x="192753" y="62500"/>
                  <a:pt x="182658" y="72595"/>
                  <a:pt x="170223" y="72595"/>
                </a:cubicBezTo>
                <a:cubicBezTo>
                  <a:pt x="157789" y="72595"/>
                  <a:pt x="147694" y="62500"/>
                  <a:pt x="147694" y="50066"/>
                </a:cubicBezTo>
                <a:close/>
                <a:moveTo>
                  <a:pt x="50066" y="135177"/>
                </a:moveTo>
                <a:cubicBezTo>
                  <a:pt x="50066" y="107516"/>
                  <a:pt x="72470" y="85112"/>
                  <a:pt x="100131" y="85112"/>
                </a:cubicBezTo>
                <a:cubicBezTo>
                  <a:pt x="127793" y="85112"/>
                  <a:pt x="150197" y="107516"/>
                  <a:pt x="150197" y="135177"/>
                </a:cubicBezTo>
                <a:lnTo>
                  <a:pt x="150197" y="140184"/>
                </a:lnTo>
                <a:cubicBezTo>
                  <a:pt x="150197" y="145722"/>
                  <a:pt x="145722" y="150197"/>
                  <a:pt x="140184" y="150197"/>
                </a:cubicBezTo>
                <a:lnTo>
                  <a:pt x="60079" y="150197"/>
                </a:lnTo>
                <a:cubicBezTo>
                  <a:pt x="54540" y="150197"/>
                  <a:pt x="50066" y="145722"/>
                  <a:pt x="50066" y="140184"/>
                </a:cubicBezTo>
                <a:lnTo>
                  <a:pt x="50066" y="135177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805609" y="4293635"/>
            <a:ext cx="5082118" cy="224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Clustering </a:t>
            </a:r>
            <a:r>
              <a:rPr b="1" lang="en-US" sz="1262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or Segementation</a:t>
            </a:r>
            <a:endParaRPr b="0" i="0" sz="1600" u="none" cap="none" strike="noStrike"/>
          </a:p>
        </p:txBody>
      </p:sp>
      <p:sp>
        <p:nvSpPr>
          <p:cNvPr id="393" name="Google Shape;393;p14"/>
          <p:cNvSpPr/>
          <p:nvPr/>
        </p:nvSpPr>
        <p:spPr>
          <a:xfrm>
            <a:off x="544715" y="4646097"/>
            <a:ext cx="5262907" cy="961261"/>
          </a:xfrm>
          <a:custGeom>
            <a:rect b="b" l="l" r="r" t="t"/>
            <a:pathLst>
              <a:path extrusionOk="0" h="961261" w="5262907">
                <a:moveTo>
                  <a:pt x="64087" y="0"/>
                </a:moveTo>
                <a:lnTo>
                  <a:pt x="5198819" y="0"/>
                </a:lnTo>
                <a:cubicBezTo>
                  <a:pt x="5234214" y="0"/>
                  <a:pt x="5262907" y="28693"/>
                  <a:pt x="5262907" y="64087"/>
                </a:cubicBezTo>
                <a:lnTo>
                  <a:pt x="5262907" y="897174"/>
                </a:lnTo>
                <a:cubicBezTo>
                  <a:pt x="5262907" y="932569"/>
                  <a:pt x="5234214" y="961261"/>
                  <a:pt x="5198819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672883" y="4774265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Reference: RFM + K-Means Studies</a:t>
            </a:r>
            <a:endParaRPr b="0" i="0" sz="1600" u="none" cap="none" strike="noStrike"/>
          </a:p>
        </p:txBody>
      </p:sp>
      <p:sp>
        <p:nvSpPr>
          <p:cNvPr id="395" name="Google Shape;395;p14"/>
          <p:cNvSpPr/>
          <p:nvPr/>
        </p:nvSpPr>
        <p:spPr>
          <a:xfrm>
            <a:off x="672883" y="5030602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Findings: 4 distinct segments identified</a:t>
            </a:r>
            <a:endParaRPr b="0" i="0" sz="1600" u="none" cap="none" strike="noStrike"/>
          </a:p>
        </p:txBody>
      </p:sp>
      <p:sp>
        <p:nvSpPr>
          <p:cNvPr id="396" name="Google Shape;396;p14"/>
          <p:cNvSpPr/>
          <p:nvPr/>
        </p:nvSpPr>
        <p:spPr>
          <a:xfrm>
            <a:off x="672883" y="5286938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Our Result: High-value, disengaged, big spenders, moderate</a:t>
            </a:r>
            <a:r>
              <a:rPr b="1" lang="en-US" sz="1009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600" u="none" cap="none" strike="noStrike"/>
          </a:p>
        </p:txBody>
      </p:sp>
      <p:sp>
        <p:nvSpPr>
          <p:cNvPr id="397" name="Google Shape;397;p14"/>
          <p:cNvSpPr/>
          <p:nvPr/>
        </p:nvSpPr>
        <p:spPr>
          <a:xfrm>
            <a:off x="544715" y="5703485"/>
            <a:ext cx="5262907" cy="961261"/>
          </a:xfrm>
          <a:custGeom>
            <a:rect b="b" l="l" r="r" t="t"/>
            <a:pathLst>
              <a:path extrusionOk="0" h="961261" w="5262907">
                <a:moveTo>
                  <a:pt x="64087" y="0"/>
                </a:moveTo>
                <a:lnTo>
                  <a:pt x="5198819" y="0"/>
                </a:lnTo>
                <a:cubicBezTo>
                  <a:pt x="5234214" y="0"/>
                  <a:pt x="5262907" y="28693"/>
                  <a:pt x="5262907" y="64087"/>
                </a:cubicBezTo>
                <a:lnTo>
                  <a:pt x="5262907" y="897174"/>
                </a:lnTo>
                <a:cubicBezTo>
                  <a:pt x="5262907" y="932569"/>
                  <a:pt x="5234214" y="961261"/>
                  <a:pt x="5198819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672883" y="5831653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Reference: DBSCAN Outlier Detection</a:t>
            </a:r>
            <a:endParaRPr b="0" i="0" sz="1600" u="none" cap="none" strike="noStrike"/>
          </a:p>
        </p:txBody>
      </p:sp>
      <p:sp>
        <p:nvSpPr>
          <p:cNvPr id="399" name="Google Shape;399;p14"/>
          <p:cNvSpPr/>
          <p:nvPr/>
        </p:nvSpPr>
        <p:spPr>
          <a:xfrm>
            <a:off x="672883" y="6087989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Findings: 2% outliers flagged for review</a:t>
            </a:r>
            <a:endParaRPr b="0" i="0" sz="1600" u="none" cap="none" strike="noStrike"/>
          </a:p>
        </p:txBody>
      </p:sp>
      <p:sp>
        <p:nvSpPr>
          <p:cNvPr id="400" name="Google Shape;400;p14"/>
          <p:cNvSpPr/>
          <p:nvPr/>
        </p:nvSpPr>
        <p:spPr>
          <a:xfrm>
            <a:off x="672883" y="6344326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Our Result: Consistent outlier identification ✓</a:t>
            </a:r>
            <a:endParaRPr b="0" i="0" sz="1600" u="none" cap="none" strike="noStrike"/>
          </a:p>
        </p:txBody>
      </p:sp>
      <p:sp>
        <p:nvSpPr>
          <p:cNvPr id="401" name="Google Shape;401;p14"/>
          <p:cNvSpPr/>
          <p:nvPr/>
        </p:nvSpPr>
        <p:spPr>
          <a:xfrm>
            <a:off x="6207246" y="4101382"/>
            <a:ext cx="5663432" cy="2755616"/>
          </a:xfrm>
          <a:custGeom>
            <a:rect b="b" l="l" r="r" t="t"/>
            <a:pathLst>
              <a:path extrusionOk="0" h="2755616" w="5663432">
                <a:moveTo>
                  <a:pt x="32042" y="0"/>
                </a:moveTo>
                <a:lnTo>
                  <a:pt x="5599337" y="0"/>
                </a:lnTo>
                <a:cubicBezTo>
                  <a:pt x="5634736" y="0"/>
                  <a:pt x="5663432" y="28697"/>
                  <a:pt x="5663432" y="64096"/>
                </a:cubicBezTo>
                <a:lnTo>
                  <a:pt x="5663432" y="2691521"/>
                </a:lnTo>
                <a:cubicBezTo>
                  <a:pt x="5663432" y="2726920"/>
                  <a:pt x="5634736" y="2755616"/>
                  <a:pt x="5599337" y="2755616"/>
                </a:cubicBezTo>
                <a:lnTo>
                  <a:pt x="32042" y="2755616"/>
                </a:lnTo>
                <a:cubicBezTo>
                  <a:pt x="14346" y="2755616"/>
                  <a:pt x="0" y="2741271"/>
                  <a:pt x="0" y="272357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6207246" y="4101382"/>
            <a:ext cx="32042" cy="2755616"/>
          </a:xfrm>
          <a:custGeom>
            <a:rect b="b" l="l" r="r" t="t"/>
            <a:pathLst>
              <a:path extrusionOk="0" h="2755616" w="32042">
                <a:moveTo>
                  <a:pt x="32042" y="0"/>
                </a:moveTo>
                <a:lnTo>
                  <a:pt x="32042" y="0"/>
                </a:lnTo>
                <a:lnTo>
                  <a:pt x="32042" y="2755616"/>
                </a:lnTo>
                <a:lnTo>
                  <a:pt x="32042" y="2755616"/>
                </a:lnTo>
                <a:cubicBezTo>
                  <a:pt x="14346" y="2755616"/>
                  <a:pt x="0" y="2741271"/>
                  <a:pt x="0" y="2723574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6415519" y="4325677"/>
            <a:ext cx="200263" cy="160210"/>
          </a:xfrm>
          <a:custGeom>
            <a:rect b="b" l="l" r="r" t="t"/>
            <a:pathLst>
              <a:path extrusionOk="0" h="160210" w="200263">
                <a:moveTo>
                  <a:pt x="7510" y="-5007"/>
                </a:moveTo>
                <a:cubicBezTo>
                  <a:pt x="3348" y="-5007"/>
                  <a:pt x="0" y="-1658"/>
                  <a:pt x="0" y="2503"/>
                </a:cubicBezTo>
                <a:cubicBezTo>
                  <a:pt x="0" y="6665"/>
                  <a:pt x="3348" y="10013"/>
                  <a:pt x="7510" y="10013"/>
                </a:cubicBezTo>
                <a:lnTo>
                  <a:pt x="21685" y="10013"/>
                </a:lnTo>
                <a:cubicBezTo>
                  <a:pt x="22905" y="10013"/>
                  <a:pt x="23938" y="10889"/>
                  <a:pt x="24157" y="12078"/>
                </a:cubicBezTo>
                <a:lnTo>
                  <a:pt x="40459" y="101665"/>
                </a:lnTo>
                <a:cubicBezTo>
                  <a:pt x="42399" y="112366"/>
                  <a:pt x="51724" y="120158"/>
                  <a:pt x="62613" y="120158"/>
                </a:cubicBezTo>
                <a:lnTo>
                  <a:pt x="142687" y="120158"/>
                </a:lnTo>
                <a:cubicBezTo>
                  <a:pt x="146849" y="120158"/>
                  <a:pt x="150197" y="116810"/>
                  <a:pt x="150197" y="112648"/>
                </a:cubicBezTo>
                <a:cubicBezTo>
                  <a:pt x="150197" y="108486"/>
                  <a:pt x="146849" y="105138"/>
                  <a:pt x="142687" y="105138"/>
                </a:cubicBezTo>
                <a:lnTo>
                  <a:pt x="62613" y="105138"/>
                </a:lnTo>
                <a:cubicBezTo>
                  <a:pt x="58984" y="105138"/>
                  <a:pt x="55886" y="102541"/>
                  <a:pt x="55229" y="98974"/>
                </a:cubicBezTo>
                <a:lnTo>
                  <a:pt x="53633" y="90118"/>
                </a:lnTo>
                <a:lnTo>
                  <a:pt x="148633" y="90118"/>
                </a:lnTo>
                <a:cubicBezTo>
                  <a:pt x="158270" y="90118"/>
                  <a:pt x="166531" y="83266"/>
                  <a:pt x="168315" y="73784"/>
                </a:cubicBezTo>
                <a:lnTo>
                  <a:pt x="178015" y="21872"/>
                </a:lnTo>
                <a:cubicBezTo>
                  <a:pt x="179173" y="15708"/>
                  <a:pt x="174448" y="10013"/>
                  <a:pt x="168158" y="10013"/>
                </a:cubicBezTo>
                <a:lnTo>
                  <a:pt x="39020" y="10013"/>
                </a:lnTo>
                <a:lnTo>
                  <a:pt x="38895" y="9387"/>
                </a:lnTo>
                <a:cubicBezTo>
                  <a:pt x="37393" y="1064"/>
                  <a:pt x="30133" y="-5007"/>
                  <a:pt x="21653" y="-5007"/>
                </a:cubicBezTo>
                <a:lnTo>
                  <a:pt x="7510" y="-5007"/>
                </a:lnTo>
                <a:close/>
                <a:moveTo>
                  <a:pt x="65085" y="160210"/>
                </a:moveTo>
                <a:cubicBezTo>
                  <a:pt x="73375" y="160210"/>
                  <a:pt x="80105" y="153480"/>
                  <a:pt x="80105" y="145191"/>
                </a:cubicBezTo>
                <a:cubicBezTo>
                  <a:pt x="80105" y="136901"/>
                  <a:pt x="73375" y="130171"/>
                  <a:pt x="65085" y="130171"/>
                </a:cubicBezTo>
                <a:cubicBezTo>
                  <a:pt x="56796" y="130171"/>
                  <a:pt x="50066" y="136901"/>
                  <a:pt x="50066" y="145191"/>
                </a:cubicBezTo>
                <a:cubicBezTo>
                  <a:pt x="50066" y="153480"/>
                  <a:pt x="56796" y="160210"/>
                  <a:pt x="65085" y="160210"/>
                </a:cubicBezTo>
                <a:close/>
                <a:moveTo>
                  <a:pt x="135177" y="160210"/>
                </a:moveTo>
                <a:cubicBezTo>
                  <a:pt x="143467" y="160210"/>
                  <a:pt x="150197" y="153480"/>
                  <a:pt x="150197" y="145191"/>
                </a:cubicBezTo>
                <a:cubicBezTo>
                  <a:pt x="150197" y="136901"/>
                  <a:pt x="143467" y="130171"/>
                  <a:pt x="135177" y="130171"/>
                </a:cubicBezTo>
                <a:cubicBezTo>
                  <a:pt x="126888" y="130171"/>
                  <a:pt x="120158" y="136901"/>
                  <a:pt x="120158" y="145191"/>
                </a:cubicBezTo>
                <a:cubicBezTo>
                  <a:pt x="120158" y="153480"/>
                  <a:pt x="126888" y="160210"/>
                  <a:pt x="135177" y="16021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6676414" y="4293635"/>
            <a:ext cx="5082118" cy="224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2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Market Basket </a:t>
            </a:r>
            <a:r>
              <a:rPr b="1" lang="en-US" sz="1262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Analysis</a:t>
            </a:r>
            <a:endParaRPr b="0" i="0" sz="1600" u="none" cap="none" strike="noStrike"/>
          </a:p>
        </p:txBody>
      </p:sp>
      <p:sp>
        <p:nvSpPr>
          <p:cNvPr id="405" name="Google Shape;405;p14"/>
          <p:cNvSpPr/>
          <p:nvPr/>
        </p:nvSpPr>
        <p:spPr>
          <a:xfrm>
            <a:off x="6415519" y="4646097"/>
            <a:ext cx="5262907" cy="961261"/>
          </a:xfrm>
          <a:custGeom>
            <a:rect b="b" l="l" r="r" t="t"/>
            <a:pathLst>
              <a:path extrusionOk="0" h="961261" w="5262907">
                <a:moveTo>
                  <a:pt x="64087" y="0"/>
                </a:moveTo>
                <a:lnTo>
                  <a:pt x="5198819" y="0"/>
                </a:lnTo>
                <a:cubicBezTo>
                  <a:pt x="5234214" y="0"/>
                  <a:pt x="5262907" y="28693"/>
                  <a:pt x="5262907" y="64087"/>
                </a:cubicBezTo>
                <a:lnTo>
                  <a:pt x="5262907" y="897174"/>
                </a:lnTo>
                <a:cubicBezTo>
                  <a:pt x="5262907" y="932569"/>
                  <a:pt x="5234214" y="961261"/>
                  <a:pt x="5198819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6543688" y="4774265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Reference: Supermarket X Study (2021)</a:t>
            </a:r>
            <a:endParaRPr b="0" i="0" sz="1600" u="none" cap="none" strike="noStrike"/>
          </a:p>
        </p:txBody>
      </p:sp>
      <p:sp>
        <p:nvSpPr>
          <p:cNvPr id="407" name="Google Shape;407;p14"/>
          <p:cNvSpPr/>
          <p:nvPr/>
        </p:nvSpPr>
        <p:spPr>
          <a:xfrm>
            <a:off x="6543688" y="5030602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Findings: Eclat fastest (0.788s), Apriori slowest</a:t>
            </a:r>
            <a:endParaRPr b="0" i="0" sz="1600" u="none" cap="none" strike="noStrike"/>
          </a:p>
        </p:txBody>
      </p:sp>
      <p:sp>
        <p:nvSpPr>
          <p:cNvPr id="408" name="Google Shape;408;p14"/>
          <p:cNvSpPr/>
          <p:nvPr/>
        </p:nvSpPr>
        <p:spPr>
          <a:xfrm>
            <a:off x="6543688" y="5286938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Our Result: Eclat 50% faster than FP-Growth</a:t>
            </a:r>
            <a:r>
              <a:rPr b="1" lang="en-US" sz="1009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600" u="none" cap="none" strike="noStrike"/>
          </a:p>
        </p:txBody>
      </p:sp>
      <p:sp>
        <p:nvSpPr>
          <p:cNvPr id="409" name="Google Shape;409;p14"/>
          <p:cNvSpPr/>
          <p:nvPr/>
        </p:nvSpPr>
        <p:spPr>
          <a:xfrm>
            <a:off x="6415519" y="5703485"/>
            <a:ext cx="5262907" cy="961261"/>
          </a:xfrm>
          <a:custGeom>
            <a:rect b="b" l="l" r="r" t="t"/>
            <a:pathLst>
              <a:path extrusionOk="0" h="961261" w="5262907">
                <a:moveTo>
                  <a:pt x="64087" y="0"/>
                </a:moveTo>
                <a:lnTo>
                  <a:pt x="5198819" y="0"/>
                </a:lnTo>
                <a:cubicBezTo>
                  <a:pt x="5234214" y="0"/>
                  <a:pt x="5262907" y="28693"/>
                  <a:pt x="5262907" y="64087"/>
                </a:cubicBezTo>
                <a:lnTo>
                  <a:pt x="5262907" y="897174"/>
                </a:lnTo>
                <a:cubicBezTo>
                  <a:pt x="5262907" y="932569"/>
                  <a:pt x="5234214" y="961261"/>
                  <a:pt x="5198819" y="961261"/>
                </a:cubicBezTo>
                <a:lnTo>
                  <a:pt x="64087" y="961261"/>
                </a:lnTo>
                <a:cubicBezTo>
                  <a:pt x="28693" y="961261"/>
                  <a:pt x="0" y="932569"/>
                  <a:pt x="0" y="897174"/>
                </a:cubicBezTo>
                <a:lnTo>
                  <a:pt x="0" y="64087"/>
                </a:lnTo>
                <a:cubicBezTo>
                  <a:pt x="0" y="28693"/>
                  <a:pt x="28693" y="0"/>
                  <a:pt x="640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6543688" y="5831653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Reference: Association Rule Mining</a:t>
            </a:r>
            <a:endParaRPr b="0" i="0" sz="1600" u="none" cap="none" strike="noStrike"/>
          </a:p>
        </p:txBody>
      </p:sp>
      <p:sp>
        <p:nvSpPr>
          <p:cNvPr id="411" name="Google Shape;411;p14"/>
          <p:cNvSpPr/>
          <p:nvPr/>
        </p:nvSpPr>
        <p:spPr>
          <a:xfrm>
            <a:off x="6543688" y="6087989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9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Findings: 1% support yields strong rules</a:t>
            </a:r>
            <a:endParaRPr b="0" i="0" sz="1600" u="none" cap="none" strike="noStrike"/>
          </a:p>
        </p:txBody>
      </p:sp>
      <p:sp>
        <p:nvSpPr>
          <p:cNvPr id="412" name="Google Shape;412;p14"/>
          <p:cNvSpPr/>
          <p:nvPr/>
        </p:nvSpPr>
        <p:spPr>
          <a:xfrm>
            <a:off x="6543688" y="6344326"/>
            <a:ext cx="5070654" cy="19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Our Result: </a:t>
            </a:r>
            <a:r>
              <a:rPr b="1" lang="en-US" sz="1009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Regency Tea Plate</a:t>
            </a:r>
            <a:r>
              <a:rPr b="1" i="0" lang="en-US" sz="1009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 dominate associations ✓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5"/>
          <p:cNvSpPr/>
          <p:nvPr/>
        </p:nvSpPr>
        <p:spPr>
          <a:xfrm>
            <a:off x="374850" y="374850"/>
            <a:ext cx="1151727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REFLECTION</a:t>
            </a:r>
            <a:endParaRPr b="0" i="0" sz="1600" u="none" cap="none" strike="noStrike"/>
          </a:p>
        </p:txBody>
      </p:sp>
      <p:sp>
        <p:nvSpPr>
          <p:cNvPr id="419" name="Google Shape;419;p15"/>
          <p:cNvSpPr/>
          <p:nvPr/>
        </p:nvSpPr>
        <p:spPr>
          <a:xfrm>
            <a:off x="374850" y="674730"/>
            <a:ext cx="11667210" cy="44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42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Challenges, Limitations &amp; Future Work</a:t>
            </a:r>
            <a:endParaRPr b="0" i="0" sz="1600" u="none" cap="none" strike="noStrike"/>
          </a:p>
        </p:txBody>
      </p:sp>
      <p:sp>
        <p:nvSpPr>
          <p:cNvPr id="420" name="Google Shape;420;p15"/>
          <p:cNvSpPr/>
          <p:nvPr/>
        </p:nvSpPr>
        <p:spPr>
          <a:xfrm>
            <a:off x="393593" y="1349460"/>
            <a:ext cx="5557153" cy="2249101"/>
          </a:xfrm>
          <a:custGeom>
            <a:rect b="b" l="l" r="r" t="t"/>
            <a:pathLst>
              <a:path extrusionOk="0" h="2249101" w="5557153">
                <a:moveTo>
                  <a:pt x="37485" y="0"/>
                </a:moveTo>
                <a:lnTo>
                  <a:pt x="5482190" y="0"/>
                </a:lnTo>
                <a:cubicBezTo>
                  <a:pt x="5523591" y="0"/>
                  <a:pt x="5557153" y="33562"/>
                  <a:pt x="5557153" y="74963"/>
                </a:cubicBezTo>
                <a:lnTo>
                  <a:pt x="5557153" y="2174138"/>
                </a:lnTo>
                <a:cubicBezTo>
                  <a:pt x="5557153" y="2215539"/>
                  <a:pt x="5523591" y="2249101"/>
                  <a:pt x="5482190" y="2249101"/>
                </a:cubicBezTo>
                <a:lnTo>
                  <a:pt x="37485" y="2249101"/>
                </a:lnTo>
                <a:cubicBezTo>
                  <a:pt x="16783" y="2249101"/>
                  <a:pt x="0" y="2232318"/>
                  <a:pt x="0" y="2211616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393593" y="1349460"/>
            <a:ext cx="37485" cy="2249101"/>
          </a:xfrm>
          <a:custGeom>
            <a:rect b="b" l="l" r="r" t="t"/>
            <a:pathLst>
              <a:path extrusionOk="0" h="2249101" w="37485">
                <a:moveTo>
                  <a:pt x="37485" y="0"/>
                </a:moveTo>
                <a:lnTo>
                  <a:pt x="37485" y="0"/>
                </a:lnTo>
                <a:lnTo>
                  <a:pt x="37485" y="2249101"/>
                </a:lnTo>
                <a:lnTo>
                  <a:pt x="37485" y="2249101"/>
                </a:lnTo>
                <a:cubicBezTo>
                  <a:pt x="16783" y="2249101"/>
                  <a:pt x="0" y="2232318"/>
                  <a:pt x="0" y="2211616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623188" y="1574370"/>
            <a:ext cx="187425" cy="187425"/>
          </a:xfrm>
          <a:custGeom>
            <a:rect b="b" l="l" r="r" t="t"/>
            <a:pathLst>
              <a:path extrusionOk="0" h="187425" w="187425">
                <a:moveTo>
                  <a:pt x="93713" y="0"/>
                </a:moveTo>
                <a:cubicBezTo>
                  <a:pt x="99094" y="0"/>
                  <a:pt x="104036" y="2965"/>
                  <a:pt x="106598" y="7687"/>
                </a:cubicBezTo>
                <a:lnTo>
                  <a:pt x="185668" y="154113"/>
                </a:lnTo>
                <a:cubicBezTo>
                  <a:pt x="188121" y="158652"/>
                  <a:pt x="188011" y="164143"/>
                  <a:pt x="185375" y="168573"/>
                </a:cubicBezTo>
                <a:cubicBezTo>
                  <a:pt x="182739" y="173002"/>
                  <a:pt x="177944" y="175711"/>
                  <a:pt x="172782" y="175711"/>
                </a:cubicBezTo>
                <a:lnTo>
                  <a:pt x="14643" y="175711"/>
                </a:lnTo>
                <a:cubicBezTo>
                  <a:pt x="9481" y="175711"/>
                  <a:pt x="4722" y="173002"/>
                  <a:pt x="2050" y="168573"/>
                </a:cubicBezTo>
                <a:cubicBezTo>
                  <a:pt x="-622" y="164143"/>
                  <a:pt x="-696" y="158652"/>
                  <a:pt x="1757" y="154113"/>
                </a:cubicBezTo>
                <a:lnTo>
                  <a:pt x="80827" y="7687"/>
                </a:lnTo>
                <a:cubicBezTo>
                  <a:pt x="83390" y="2965"/>
                  <a:pt x="88331" y="0"/>
                  <a:pt x="93713" y="0"/>
                </a:cubicBezTo>
                <a:close/>
                <a:moveTo>
                  <a:pt x="93713" y="61499"/>
                </a:moveTo>
                <a:cubicBezTo>
                  <a:pt x="88844" y="61499"/>
                  <a:pt x="84927" y="65416"/>
                  <a:pt x="84927" y="70284"/>
                </a:cubicBezTo>
                <a:lnTo>
                  <a:pt x="84927" y="111284"/>
                </a:lnTo>
                <a:cubicBezTo>
                  <a:pt x="84927" y="116152"/>
                  <a:pt x="88844" y="120069"/>
                  <a:pt x="93713" y="120069"/>
                </a:cubicBezTo>
                <a:cubicBezTo>
                  <a:pt x="98581" y="120069"/>
                  <a:pt x="102498" y="116152"/>
                  <a:pt x="102498" y="111284"/>
                </a:cubicBezTo>
                <a:lnTo>
                  <a:pt x="102498" y="70284"/>
                </a:lnTo>
                <a:cubicBezTo>
                  <a:pt x="102498" y="65416"/>
                  <a:pt x="98581" y="61499"/>
                  <a:pt x="93713" y="61499"/>
                </a:cubicBezTo>
                <a:close/>
                <a:moveTo>
                  <a:pt x="103486" y="140569"/>
                </a:moveTo>
                <a:cubicBezTo>
                  <a:pt x="103709" y="136941"/>
                  <a:pt x="101900" y="133489"/>
                  <a:pt x="98789" y="131608"/>
                </a:cubicBezTo>
                <a:cubicBezTo>
                  <a:pt x="95679" y="129727"/>
                  <a:pt x="91782" y="129727"/>
                  <a:pt x="88672" y="131608"/>
                </a:cubicBezTo>
                <a:cubicBezTo>
                  <a:pt x="85562" y="133489"/>
                  <a:pt x="83753" y="136941"/>
                  <a:pt x="83975" y="140569"/>
                </a:cubicBezTo>
                <a:cubicBezTo>
                  <a:pt x="83753" y="144197"/>
                  <a:pt x="85562" y="147648"/>
                  <a:pt x="88672" y="149530"/>
                </a:cubicBezTo>
                <a:cubicBezTo>
                  <a:pt x="91782" y="151411"/>
                  <a:pt x="95679" y="151411"/>
                  <a:pt x="98789" y="149530"/>
                </a:cubicBezTo>
                <a:cubicBezTo>
                  <a:pt x="101900" y="147648"/>
                  <a:pt x="103709" y="144197"/>
                  <a:pt x="103486" y="140569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917021" y="1536885"/>
            <a:ext cx="4940012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Key Challenges</a:t>
            </a:r>
            <a:endParaRPr b="0" i="0" sz="1600" u="none" cap="none" strike="noStrike"/>
          </a:p>
        </p:txBody>
      </p:sp>
      <p:sp>
        <p:nvSpPr>
          <p:cNvPr id="424" name="Google Shape;424;p15"/>
          <p:cNvSpPr/>
          <p:nvPr/>
        </p:nvSpPr>
        <p:spPr>
          <a:xfrm>
            <a:off x="599760" y="2024191"/>
            <a:ext cx="74970" cy="74970"/>
          </a:xfrm>
          <a:custGeom>
            <a:rect b="b" l="l" r="r" t="t"/>
            <a:pathLst>
              <a:path extrusionOk="0" h="74970" w="74970">
                <a:moveTo>
                  <a:pt x="37485" y="0"/>
                </a:moveTo>
                <a:lnTo>
                  <a:pt x="37485" y="0"/>
                </a:lnTo>
                <a:cubicBezTo>
                  <a:pt x="58187" y="0"/>
                  <a:pt x="74970" y="16783"/>
                  <a:pt x="74970" y="37485"/>
                </a:cubicBezTo>
                <a:lnTo>
                  <a:pt x="74970" y="37485"/>
                </a:lnTo>
                <a:cubicBezTo>
                  <a:pt x="74970" y="58187"/>
                  <a:pt x="58187" y="74970"/>
                  <a:pt x="37485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787185" y="1949221"/>
            <a:ext cx="4610656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Computational Complexity: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LSTM training took </a:t>
            </a:r>
            <a:r>
              <a:rPr lang="en-US" sz="1181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1 hour</a:t>
            </a:r>
            <a:endParaRPr b="0" i="0" sz="1600" u="none" cap="none" strike="noStrike"/>
          </a:p>
        </p:txBody>
      </p:sp>
      <p:sp>
        <p:nvSpPr>
          <p:cNvPr id="426" name="Google Shape;426;p15"/>
          <p:cNvSpPr/>
          <p:nvPr/>
        </p:nvSpPr>
        <p:spPr>
          <a:xfrm>
            <a:off x="599760" y="2361556"/>
            <a:ext cx="74970" cy="74970"/>
          </a:xfrm>
          <a:custGeom>
            <a:rect b="b" l="l" r="r" t="t"/>
            <a:pathLst>
              <a:path extrusionOk="0" h="74970" w="74970">
                <a:moveTo>
                  <a:pt x="37485" y="0"/>
                </a:moveTo>
                <a:lnTo>
                  <a:pt x="37485" y="0"/>
                </a:lnTo>
                <a:cubicBezTo>
                  <a:pt x="58187" y="0"/>
                  <a:pt x="74970" y="16783"/>
                  <a:pt x="74970" y="37485"/>
                </a:cubicBezTo>
                <a:lnTo>
                  <a:pt x="74970" y="37485"/>
                </a:lnTo>
                <a:cubicBezTo>
                  <a:pt x="74970" y="58187"/>
                  <a:pt x="58187" y="74970"/>
                  <a:pt x="37485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787185" y="2286586"/>
            <a:ext cx="5051105" cy="44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Hyperparameter Sensitivity: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XGBoost and Gradient Boosting require extensive tuning</a:t>
            </a:r>
            <a:endParaRPr b="0" i="0" sz="1600" u="none" cap="none" strike="noStrike"/>
          </a:p>
        </p:txBody>
      </p:sp>
      <p:sp>
        <p:nvSpPr>
          <p:cNvPr id="428" name="Google Shape;428;p15"/>
          <p:cNvSpPr/>
          <p:nvPr/>
        </p:nvSpPr>
        <p:spPr>
          <a:xfrm>
            <a:off x="599760" y="2923831"/>
            <a:ext cx="74970" cy="74970"/>
          </a:xfrm>
          <a:custGeom>
            <a:rect b="b" l="l" r="r" t="t"/>
            <a:pathLst>
              <a:path extrusionOk="0" h="74970" w="74970">
                <a:moveTo>
                  <a:pt x="37485" y="0"/>
                </a:moveTo>
                <a:lnTo>
                  <a:pt x="37485" y="0"/>
                </a:lnTo>
                <a:cubicBezTo>
                  <a:pt x="58187" y="0"/>
                  <a:pt x="74970" y="16783"/>
                  <a:pt x="74970" y="37485"/>
                </a:cubicBezTo>
                <a:lnTo>
                  <a:pt x="74970" y="37485"/>
                </a:lnTo>
                <a:cubicBezTo>
                  <a:pt x="74970" y="58187"/>
                  <a:pt x="58187" y="74970"/>
                  <a:pt x="37485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787185" y="2848861"/>
            <a:ext cx="4516944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Clustering Density: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DBSCAN struggles with varying density clusters</a:t>
            </a:r>
            <a:endParaRPr b="0" i="0" sz="1600" u="none" cap="none" strike="noStrike"/>
          </a:p>
        </p:txBody>
      </p:sp>
      <p:sp>
        <p:nvSpPr>
          <p:cNvPr id="430" name="Google Shape;430;p15"/>
          <p:cNvSpPr/>
          <p:nvPr/>
        </p:nvSpPr>
        <p:spPr>
          <a:xfrm>
            <a:off x="599760" y="3261196"/>
            <a:ext cx="74970" cy="74970"/>
          </a:xfrm>
          <a:custGeom>
            <a:rect b="b" l="l" r="r" t="t"/>
            <a:pathLst>
              <a:path extrusionOk="0" h="74970" w="74970">
                <a:moveTo>
                  <a:pt x="37485" y="0"/>
                </a:moveTo>
                <a:lnTo>
                  <a:pt x="37485" y="0"/>
                </a:lnTo>
                <a:cubicBezTo>
                  <a:pt x="58187" y="0"/>
                  <a:pt x="74970" y="16783"/>
                  <a:pt x="74970" y="37485"/>
                </a:cubicBezTo>
                <a:lnTo>
                  <a:pt x="74970" y="37485"/>
                </a:lnTo>
                <a:cubicBezTo>
                  <a:pt x="74970" y="58187"/>
                  <a:pt x="58187" y="74970"/>
                  <a:pt x="37485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787185" y="3186226"/>
            <a:ext cx="4423231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Scalability: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Apriori's computational inefficiency with large datasets</a:t>
            </a:r>
            <a:endParaRPr b="0" i="0" sz="1600" u="none" cap="none" strike="noStrike"/>
          </a:p>
        </p:txBody>
      </p:sp>
      <p:sp>
        <p:nvSpPr>
          <p:cNvPr id="432" name="Google Shape;432;p15"/>
          <p:cNvSpPr/>
          <p:nvPr/>
        </p:nvSpPr>
        <p:spPr>
          <a:xfrm>
            <a:off x="393593" y="3748501"/>
            <a:ext cx="5557153" cy="2249101"/>
          </a:xfrm>
          <a:custGeom>
            <a:rect b="b" l="l" r="r" t="t"/>
            <a:pathLst>
              <a:path extrusionOk="0" h="2249101" w="5557153">
                <a:moveTo>
                  <a:pt x="37485" y="0"/>
                </a:moveTo>
                <a:lnTo>
                  <a:pt x="5482190" y="0"/>
                </a:lnTo>
                <a:cubicBezTo>
                  <a:pt x="5523591" y="0"/>
                  <a:pt x="5557153" y="33562"/>
                  <a:pt x="5557153" y="74963"/>
                </a:cubicBezTo>
                <a:lnTo>
                  <a:pt x="5557153" y="2174138"/>
                </a:lnTo>
                <a:cubicBezTo>
                  <a:pt x="5557153" y="2215539"/>
                  <a:pt x="5523591" y="2249101"/>
                  <a:pt x="5482190" y="2249101"/>
                </a:cubicBezTo>
                <a:lnTo>
                  <a:pt x="37485" y="2249101"/>
                </a:lnTo>
                <a:cubicBezTo>
                  <a:pt x="16783" y="2249101"/>
                  <a:pt x="0" y="2232318"/>
                  <a:pt x="0" y="2211616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393593" y="3748501"/>
            <a:ext cx="37485" cy="2249101"/>
          </a:xfrm>
          <a:custGeom>
            <a:rect b="b" l="l" r="r" t="t"/>
            <a:pathLst>
              <a:path extrusionOk="0" h="2249101" w="37485">
                <a:moveTo>
                  <a:pt x="37485" y="0"/>
                </a:moveTo>
                <a:lnTo>
                  <a:pt x="37485" y="0"/>
                </a:lnTo>
                <a:lnTo>
                  <a:pt x="37485" y="2249101"/>
                </a:lnTo>
                <a:lnTo>
                  <a:pt x="37485" y="2249101"/>
                </a:lnTo>
                <a:cubicBezTo>
                  <a:pt x="16783" y="2249101"/>
                  <a:pt x="0" y="2232318"/>
                  <a:pt x="0" y="2211616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623188" y="3973411"/>
            <a:ext cx="187425" cy="187425"/>
          </a:xfrm>
          <a:custGeom>
            <a:rect b="b" l="l" r="r" t="t"/>
            <a:pathLst>
              <a:path extrusionOk="0" h="187425" w="187425">
                <a:moveTo>
                  <a:pt x="134419" y="151002"/>
                </a:moveTo>
                <a:lnTo>
                  <a:pt x="36423" y="53006"/>
                </a:lnTo>
                <a:cubicBezTo>
                  <a:pt x="28224" y="64501"/>
                  <a:pt x="23428" y="78557"/>
                  <a:pt x="23428" y="93713"/>
                </a:cubicBezTo>
                <a:cubicBezTo>
                  <a:pt x="23428" y="132515"/>
                  <a:pt x="54910" y="163997"/>
                  <a:pt x="93713" y="163997"/>
                </a:cubicBezTo>
                <a:cubicBezTo>
                  <a:pt x="108904" y="163997"/>
                  <a:pt x="122961" y="159201"/>
                  <a:pt x="134419" y="151002"/>
                </a:cubicBezTo>
                <a:close/>
                <a:moveTo>
                  <a:pt x="151002" y="134419"/>
                </a:moveTo>
                <a:cubicBezTo>
                  <a:pt x="159201" y="122924"/>
                  <a:pt x="163997" y="108868"/>
                  <a:pt x="163997" y="93713"/>
                </a:cubicBezTo>
                <a:cubicBezTo>
                  <a:pt x="163997" y="54910"/>
                  <a:pt x="132515" y="23428"/>
                  <a:pt x="93713" y="23428"/>
                </a:cubicBezTo>
                <a:cubicBezTo>
                  <a:pt x="78521" y="23428"/>
                  <a:pt x="64464" y="28224"/>
                  <a:pt x="53006" y="36423"/>
                </a:cubicBezTo>
                <a:lnTo>
                  <a:pt x="151002" y="134419"/>
                </a:lnTo>
                <a:close/>
                <a:moveTo>
                  <a:pt x="0" y="93713"/>
                </a:moveTo>
                <a:cubicBezTo>
                  <a:pt x="0" y="41991"/>
                  <a:pt x="41991" y="0"/>
                  <a:pt x="93713" y="0"/>
                </a:cubicBezTo>
                <a:cubicBezTo>
                  <a:pt x="145434" y="0"/>
                  <a:pt x="187425" y="41991"/>
                  <a:pt x="187425" y="93713"/>
                </a:cubicBezTo>
                <a:cubicBezTo>
                  <a:pt x="187425" y="145434"/>
                  <a:pt x="145434" y="187425"/>
                  <a:pt x="93713" y="187425"/>
                </a:cubicBezTo>
                <a:cubicBezTo>
                  <a:pt x="41991" y="187425"/>
                  <a:pt x="0" y="145434"/>
                  <a:pt x="0" y="93713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917021" y="3935926"/>
            <a:ext cx="4940012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Limitations</a:t>
            </a:r>
            <a:endParaRPr b="0" i="0" sz="1600" u="none" cap="none" strike="noStrike"/>
          </a:p>
        </p:txBody>
      </p:sp>
      <p:sp>
        <p:nvSpPr>
          <p:cNvPr id="436" name="Google Shape;436;p15"/>
          <p:cNvSpPr/>
          <p:nvPr/>
        </p:nvSpPr>
        <p:spPr>
          <a:xfrm>
            <a:off x="599760" y="4423231"/>
            <a:ext cx="74970" cy="74970"/>
          </a:xfrm>
          <a:custGeom>
            <a:rect b="b" l="l" r="r" t="t"/>
            <a:pathLst>
              <a:path extrusionOk="0" h="74970" w="74970">
                <a:moveTo>
                  <a:pt x="37485" y="0"/>
                </a:moveTo>
                <a:lnTo>
                  <a:pt x="37485" y="0"/>
                </a:lnTo>
                <a:cubicBezTo>
                  <a:pt x="58187" y="0"/>
                  <a:pt x="74970" y="16783"/>
                  <a:pt x="74970" y="37485"/>
                </a:cubicBezTo>
                <a:lnTo>
                  <a:pt x="74970" y="37485"/>
                </a:lnTo>
                <a:cubicBezTo>
                  <a:pt x="74970" y="58187"/>
                  <a:pt x="58187" y="74970"/>
                  <a:pt x="37485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787185" y="4348261"/>
            <a:ext cx="3654789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Dataset Size: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Limited records for deep learning models</a:t>
            </a:r>
            <a:endParaRPr b="0" i="0" sz="1600" u="none" cap="none" strike="noStrike"/>
          </a:p>
        </p:txBody>
      </p:sp>
      <p:sp>
        <p:nvSpPr>
          <p:cNvPr id="438" name="Google Shape;438;p15"/>
          <p:cNvSpPr/>
          <p:nvPr/>
        </p:nvSpPr>
        <p:spPr>
          <a:xfrm>
            <a:off x="599760" y="4760596"/>
            <a:ext cx="74970" cy="74970"/>
          </a:xfrm>
          <a:custGeom>
            <a:rect b="b" l="l" r="r" t="t"/>
            <a:pathLst>
              <a:path extrusionOk="0" h="74970" w="74970">
                <a:moveTo>
                  <a:pt x="37485" y="0"/>
                </a:moveTo>
                <a:lnTo>
                  <a:pt x="37485" y="0"/>
                </a:lnTo>
                <a:cubicBezTo>
                  <a:pt x="58187" y="0"/>
                  <a:pt x="74970" y="16783"/>
                  <a:pt x="74970" y="37485"/>
                </a:cubicBezTo>
                <a:lnTo>
                  <a:pt x="74970" y="37485"/>
                </a:lnTo>
                <a:cubicBezTo>
                  <a:pt x="74970" y="58187"/>
                  <a:pt x="58187" y="74970"/>
                  <a:pt x="37485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787185" y="4685626"/>
            <a:ext cx="4179579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Missing Patterns: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Non-random missing values may bias results</a:t>
            </a:r>
            <a:endParaRPr b="0" i="0" sz="1600" u="none" cap="none" strike="noStrike"/>
          </a:p>
        </p:txBody>
      </p:sp>
      <p:sp>
        <p:nvSpPr>
          <p:cNvPr id="440" name="Google Shape;440;p15"/>
          <p:cNvSpPr/>
          <p:nvPr/>
        </p:nvSpPr>
        <p:spPr>
          <a:xfrm>
            <a:off x="599760" y="5097962"/>
            <a:ext cx="74970" cy="74970"/>
          </a:xfrm>
          <a:custGeom>
            <a:rect b="b" l="l" r="r" t="t"/>
            <a:pathLst>
              <a:path extrusionOk="0" h="74970" w="74970">
                <a:moveTo>
                  <a:pt x="37485" y="0"/>
                </a:moveTo>
                <a:lnTo>
                  <a:pt x="37485" y="0"/>
                </a:lnTo>
                <a:cubicBezTo>
                  <a:pt x="58187" y="0"/>
                  <a:pt x="74970" y="16783"/>
                  <a:pt x="74970" y="37485"/>
                </a:cubicBezTo>
                <a:lnTo>
                  <a:pt x="74970" y="37485"/>
                </a:lnTo>
                <a:cubicBezTo>
                  <a:pt x="74970" y="58187"/>
                  <a:pt x="58187" y="74970"/>
                  <a:pt x="37485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787185" y="5022992"/>
            <a:ext cx="4591914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Seasonal Assumptions: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Models assume consistent seasonal patterns</a:t>
            </a:r>
            <a:endParaRPr b="0" i="0" sz="1600" u="none" cap="none" strike="noStrike"/>
          </a:p>
        </p:txBody>
      </p:sp>
      <p:sp>
        <p:nvSpPr>
          <p:cNvPr id="442" name="Google Shape;442;p15"/>
          <p:cNvSpPr/>
          <p:nvPr/>
        </p:nvSpPr>
        <p:spPr>
          <a:xfrm>
            <a:off x="599760" y="5435327"/>
            <a:ext cx="74970" cy="74970"/>
          </a:xfrm>
          <a:custGeom>
            <a:rect b="b" l="l" r="r" t="t"/>
            <a:pathLst>
              <a:path extrusionOk="0" h="74970" w="74970">
                <a:moveTo>
                  <a:pt x="37485" y="0"/>
                </a:moveTo>
                <a:lnTo>
                  <a:pt x="37485" y="0"/>
                </a:lnTo>
                <a:cubicBezTo>
                  <a:pt x="58187" y="0"/>
                  <a:pt x="74970" y="16783"/>
                  <a:pt x="74970" y="37485"/>
                </a:cubicBezTo>
                <a:lnTo>
                  <a:pt x="74970" y="37485"/>
                </a:lnTo>
                <a:cubicBezTo>
                  <a:pt x="74970" y="58187"/>
                  <a:pt x="58187" y="74970"/>
                  <a:pt x="37485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787185" y="5360357"/>
            <a:ext cx="5051105" cy="44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Feature Engineering: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Manual feature selection may miss optimal combinations</a:t>
            </a:r>
            <a:endParaRPr b="0" i="0" sz="1600" u="none" cap="none" strike="noStrike"/>
          </a:p>
        </p:txBody>
      </p:sp>
      <p:sp>
        <p:nvSpPr>
          <p:cNvPr id="444" name="Google Shape;444;p15"/>
          <p:cNvSpPr/>
          <p:nvPr/>
        </p:nvSpPr>
        <p:spPr>
          <a:xfrm>
            <a:off x="6266200" y="1349450"/>
            <a:ext cx="5557153" cy="5413867"/>
          </a:xfrm>
          <a:custGeom>
            <a:rect b="b" l="l" r="r" t="t"/>
            <a:pathLst>
              <a:path extrusionOk="0" h="5510297" w="5557153">
                <a:moveTo>
                  <a:pt x="37485" y="0"/>
                </a:moveTo>
                <a:lnTo>
                  <a:pt x="5482158" y="0"/>
                </a:lnTo>
                <a:cubicBezTo>
                  <a:pt x="5523576" y="0"/>
                  <a:pt x="5557153" y="33576"/>
                  <a:pt x="5557153" y="74995"/>
                </a:cubicBezTo>
                <a:lnTo>
                  <a:pt x="5557153" y="5435302"/>
                </a:lnTo>
                <a:cubicBezTo>
                  <a:pt x="5557153" y="5476720"/>
                  <a:pt x="5523576" y="5510297"/>
                  <a:pt x="5482158" y="5510297"/>
                </a:cubicBezTo>
                <a:lnTo>
                  <a:pt x="37485" y="5510297"/>
                </a:lnTo>
                <a:cubicBezTo>
                  <a:pt x="16783" y="5510297"/>
                  <a:pt x="0" y="5493514"/>
                  <a:pt x="0" y="5472812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6266200" y="1349450"/>
            <a:ext cx="37485" cy="5413867"/>
          </a:xfrm>
          <a:custGeom>
            <a:rect b="b" l="l" r="r" t="t"/>
            <a:pathLst>
              <a:path extrusionOk="0" h="5510297" w="37485">
                <a:moveTo>
                  <a:pt x="37485" y="0"/>
                </a:moveTo>
                <a:lnTo>
                  <a:pt x="37485" y="0"/>
                </a:lnTo>
                <a:lnTo>
                  <a:pt x="37485" y="5510297"/>
                </a:lnTo>
                <a:lnTo>
                  <a:pt x="37485" y="5510297"/>
                </a:lnTo>
                <a:cubicBezTo>
                  <a:pt x="16783" y="5510297"/>
                  <a:pt x="0" y="5493514"/>
                  <a:pt x="0" y="5472812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6495801" y="1574370"/>
            <a:ext cx="187425" cy="187425"/>
          </a:xfrm>
          <a:custGeom>
            <a:rect b="b" l="l" r="r" t="t"/>
            <a:pathLst>
              <a:path extrusionOk="0" h="187425" w="187425">
                <a:moveTo>
                  <a:pt x="46856" y="117141"/>
                </a:moveTo>
                <a:lnTo>
                  <a:pt x="8969" y="117141"/>
                </a:lnTo>
                <a:cubicBezTo>
                  <a:pt x="-146" y="117141"/>
                  <a:pt x="-5747" y="107220"/>
                  <a:pt x="-1062" y="99387"/>
                </a:cubicBezTo>
                <a:lnTo>
                  <a:pt x="18303" y="67100"/>
                </a:lnTo>
                <a:cubicBezTo>
                  <a:pt x="21488" y="61792"/>
                  <a:pt x="27199" y="58570"/>
                  <a:pt x="33385" y="58570"/>
                </a:cubicBezTo>
                <a:lnTo>
                  <a:pt x="68161" y="58570"/>
                </a:lnTo>
                <a:cubicBezTo>
                  <a:pt x="96019" y="11385"/>
                  <a:pt x="137567" y="9005"/>
                  <a:pt x="165351" y="13069"/>
                </a:cubicBezTo>
                <a:cubicBezTo>
                  <a:pt x="170037" y="13764"/>
                  <a:pt x="173698" y="17425"/>
                  <a:pt x="174357" y="22074"/>
                </a:cubicBezTo>
                <a:cubicBezTo>
                  <a:pt x="178420" y="49858"/>
                  <a:pt x="176040" y="91406"/>
                  <a:pt x="128855" y="119264"/>
                </a:cubicBezTo>
                <a:lnTo>
                  <a:pt x="128855" y="154040"/>
                </a:lnTo>
                <a:cubicBezTo>
                  <a:pt x="128855" y="160226"/>
                  <a:pt x="125633" y="165937"/>
                  <a:pt x="120325" y="169122"/>
                </a:cubicBezTo>
                <a:lnTo>
                  <a:pt x="88039" y="188487"/>
                </a:lnTo>
                <a:cubicBezTo>
                  <a:pt x="80241" y="193172"/>
                  <a:pt x="70284" y="187535"/>
                  <a:pt x="70284" y="178456"/>
                </a:cubicBezTo>
                <a:lnTo>
                  <a:pt x="70284" y="140569"/>
                </a:lnTo>
                <a:cubicBezTo>
                  <a:pt x="70284" y="127647"/>
                  <a:pt x="59778" y="117141"/>
                  <a:pt x="46856" y="117141"/>
                </a:cubicBezTo>
                <a:lnTo>
                  <a:pt x="46820" y="117141"/>
                </a:lnTo>
                <a:close/>
                <a:moveTo>
                  <a:pt x="146426" y="58570"/>
                </a:moveTo>
                <a:cubicBezTo>
                  <a:pt x="146426" y="48873"/>
                  <a:pt x="138552" y="40999"/>
                  <a:pt x="128855" y="40999"/>
                </a:cubicBezTo>
                <a:cubicBezTo>
                  <a:pt x="119157" y="40999"/>
                  <a:pt x="111284" y="48873"/>
                  <a:pt x="111284" y="58570"/>
                </a:cubicBezTo>
                <a:cubicBezTo>
                  <a:pt x="111284" y="68268"/>
                  <a:pt x="119157" y="76141"/>
                  <a:pt x="128855" y="76141"/>
                </a:cubicBezTo>
                <a:cubicBezTo>
                  <a:pt x="138552" y="76141"/>
                  <a:pt x="146426" y="68268"/>
                  <a:pt x="146426" y="5857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6789634" y="1536885"/>
            <a:ext cx="4940012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Future Improvements</a:t>
            </a:r>
            <a:endParaRPr b="0" i="0" sz="1600" u="none" cap="none" strike="noStrike"/>
          </a:p>
        </p:txBody>
      </p:sp>
      <p:sp>
        <p:nvSpPr>
          <p:cNvPr id="448" name="Google Shape;448;p15"/>
          <p:cNvSpPr/>
          <p:nvPr/>
        </p:nvSpPr>
        <p:spPr>
          <a:xfrm>
            <a:off x="6472373" y="1949221"/>
            <a:ext cx="5163560" cy="824670"/>
          </a:xfrm>
          <a:custGeom>
            <a:rect b="b" l="l" r="r" t="t"/>
            <a:pathLst>
              <a:path extrusionOk="0" h="824670" w="5163560">
                <a:moveTo>
                  <a:pt x="74971" y="0"/>
                </a:moveTo>
                <a:lnTo>
                  <a:pt x="5088590" y="0"/>
                </a:lnTo>
                <a:cubicBezTo>
                  <a:pt x="5129967" y="0"/>
                  <a:pt x="5163560" y="33593"/>
                  <a:pt x="5163560" y="74971"/>
                </a:cubicBezTo>
                <a:lnTo>
                  <a:pt x="5163560" y="749699"/>
                </a:lnTo>
                <a:cubicBezTo>
                  <a:pt x="5163560" y="791077"/>
                  <a:pt x="5129967" y="824670"/>
                  <a:pt x="5088590" y="824670"/>
                </a:cubicBezTo>
                <a:lnTo>
                  <a:pt x="74971" y="824670"/>
                </a:lnTo>
                <a:cubicBezTo>
                  <a:pt x="33593" y="824670"/>
                  <a:pt x="0" y="791077"/>
                  <a:pt x="0" y="749699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6622313" y="2099161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Hybrid Models</a:t>
            </a:r>
            <a:endParaRPr b="0" i="0" sz="1600" u="none" cap="none" strike="noStrike"/>
          </a:p>
        </p:txBody>
      </p:sp>
      <p:sp>
        <p:nvSpPr>
          <p:cNvPr id="450" name="Google Shape;450;p15"/>
          <p:cNvSpPr/>
          <p:nvPr/>
        </p:nvSpPr>
        <p:spPr>
          <a:xfrm>
            <a:off x="6622313" y="2399041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Combine S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ARIMA </a:t>
            </a: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+ LSTM for better trend and seasonality capture</a:t>
            </a:r>
            <a:endParaRPr b="0" i="0" sz="1600" u="none" cap="none" strike="noStrike"/>
          </a:p>
        </p:txBody>
      </p:sp>
      <p:sp>
        <p:nvSpPr>
          <p:cNvPr id="451" name="Google Shape;451;p15"/>
          <p:cNvSpPr/>
          <p:nvPr/>
        </p:nvSpPr>
        <p:spPr>
          <a:xfrm>
            <a:off x="6472373" y="2923831"/>
            <a:ext cx="5163560" cy="824670"/>
          </a:xfrm>
          <a:custGeom>
            <a:rect b="b" l="l" r="r" t="t"/>
            <a:pathLst>
              <a:path extrusionOk="0" h="824670" w="5163560">
                <a:moveTo>
                  <a:pt x="74971" y="0"/>
                </a:moveTo>
                <a:lnTo>
                  <a:pt x="5088590" y="0"/>
                </a:lnTo>
                <a:cubicBezTo>
                  <a:pt x="5129967" y="0"/>
                  <a:pt x="5163560" y="33593"/>
                  <a:pt x="5163560" y="74971"/>
                </a:cubicBezTo>
                <a:lnTo>
                  <a:pt x="5163560" y="749699"/>
                </a:lnTo>
                <a:cubicBezTo>
                  <a:pt x="5163560" y="791077"/>
                  <a:pt x="5129967" y="824670"/>
                  <a:pt x="5088590" y="824670"/>
                </a:cubicBezTo>
                <a:lnTo>
                  <a:pt x="74971" y="824670"/>
                </a:lnTo>
                <a:cubicBezTo>
                  <a:pt x="33593" y="824670"/>
                  <a:pt x="0" y="791077"/>
                  <a:pt x="0" y="749699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6622313" y="3073771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Deep Learning Regression</a:t>
            </a:r>
            <a:endParaRPr b="0" i="0" sz="1600" u="none" cap="none" strike="noStrike"/>
          </a:p>
        </p:txBody>
      </p:sp>
      <p:sp>
        <p:nvSpPr>
          <p:cNvPr id="453" name="Google Shape;453;p15"/>
          <p:cNvSpPr/>
          <p:nvPr/>
        </p:nvSpPr>
        <p:spPr>
          <a:xfrm>
            <a:off x="6622313" y="3373651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Implement neural networks and ensemble methods for complex patterns</a:t>
            </a:r>
            <a:endParaRPr b="0" i="0" sz="1600" u="none" cap="none" strike="noStrike"/>
          </a:p>
        </p:txBody>
      </p:sp>
      <p:sp>
        <p:nvSpPr>
          <p:cNvPr id="454" name="Google Shape;454;p15"/>
          <p:cNvSpPr/>
          <p:nvPr/>
        </p:nvSpPr>
        <p:spPr>
          <a:xfrm>
            <a:off x="6472373" y="3898441"/>
            <a:ext cx="5163560" cy="824670"/>
          </a:xfrm>
          <a:custGeom>
            <a:rect b="b" l="l" r="r" t="t"/>
            <a:pathLst>
              <a:path extrusionOk="0" h="824670" w="5163560">
                <a:moveTo>
                  <a:pt x="74971" y="0"/>
                </a:moveTo>
                <a:lnTo>
                  <a:pt x="5088590" y="0"/>
                </a:lnTo>
                <a:cubicBezTo>
                  <a:pt x="5129967" y="0"/>
                  <a:pt x="5163560" y="33593"/>
                  <a:pt x="5163560" y="74971"/>
                </a:cubicBezTo>
                <a:lnTo>
                  <a:pt x="5163560" y="749699"/>
                </a:lnTo>
                <a:cubicBezTo>
                  <a:pt x="5163560" y="791077"/>
                  <a:pt x="5129967" y="824670"/>
                  <a:pt x="5088590" y="824670"/>
                </a:cubicBezTo>
                <a:lnTo>
                  <a:pt x="74971" y="824670"/>
                </a:lnTo>
                <a:cubicBezTo>
                  <a:pt x="33593" y="824670"/>
                  <a:pt x="0" y="791077"/>
                  <a:pt x="0" y="749699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6622313" y="4048381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Advanced Clustering</a:t>
            </a:r>
            <a:endParaRPr b="0" i="0" sz="1600" u="none" cap="none" strike="noStrike"/>
          </a:p>
        </p:txBody>
      </p:sp>
      <p:sp>
        <p:nvSpPr>
          <p:cNvPr id="456" name="Google Shape;456;p15"/>
          <p:cNvSpPr/>
          <p:nvPr/>
        </p:nvSpPr>
        <p:spPr>
          <a:xfrm>
            <a:off x="6622313" y="4348261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Explore Gaussian Mixture Models and hierarchical clustering</a:t>
            </a:r>
            <a:endParaRPr b="0" i="0" sz="1600" u="none" cap="none" strike="noStrike"/>
          </a:p>
        </p:txBody>
      </p:sp>
      <p:sp>
        <p:nvSpPr>
          <p:cNvPr id="457" name="Google Shape;457;p15"/>
          <p:cNvSpPr/>
          <p:nvPr/>
        </p:nvSpPr>
        <p:spPr>
          <a:xfrm>
            <a:off x="6472373" y="4873051"/>
            <a:ext cx="5163560" cy="824670"/>
          </a:xfrm>
          <a:custGeom>
            <a:rect b="b" l="l" r="r" t="t"/>
            <a:pathLst>
              <a:path extrusionOk="0" h="824670" w="5163560">
                <a:moveTo>
                  <a:pt x="74971" y="0"/>
                </a:moveTo>
                <a:lnTo>
                  <a:pt x="5088590" y="0"/>
                </a:lnTo>
                <a:cubicBezTo>
                  <a:pt x="5129967" y="0"/>
                  <a:pt x="5163560" y="33593"/>
                  <a:pt x="5163560" y="74971"/>
                </a:cubicBezTo>
                <a:lnTo>
                  <a:pt x="5163560" y="749699"/>
                </a:lnTo>
                <a:cubicBezTo>
                  <a:pt x="5163560" y="791077"/>
                  <a:pt x="5129967" y="824670"/>
                  <a:pt x="5088590" y="824670"/>
                </a:cubicBezTo>
                <a:lnTo>
                  <a:pt x="74971" y="824670"/>
                </a:lnTo>
                <a:cubicBezTo>
                  <a:pt x="33593" y="824670"/>
                  <a:pt x="0" y="791077"/>
                  <a:pt x="0" y="749699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6622313" y="5022992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Parallel Processing</a:t>
            </a:r>
            <a:endParaRPr b="0" i="0" sz="1600" u="none" cap="none" strike="noStrike"/>
          </a:p>
        </p:txBody>
      </p:sp>
      <p:sp>
        <p:nvSpPr>
          <p:cNvPr id="459" name="Google Shape;459;p15"/>
          <p:cNvSpPr/>
          <p:nvPr/>
        </p:nvSpPr>
        <p:spPr>
          <a:xfrm>
            <a:off x="6622313" y="5322872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Implement GPU acceleration and distributed computing for scalability</a:t>
            </a:r>
            <a:endParaRPr b="0" i="0" sz="1600" u="none" cap="none" strike="noStrike"/>
          </a:p>
        </p:txBody>
      </p:sp>
      <p:sp>
        <p:nvSpPr>
          <p:cNvPr id="460" name="Google Shape;460;p15"/>
          <p:cNvSpPr/>
          <p:nvPr/>
        </p:nvSpPr>
        <p:spPr>
          <a:xfrm>
            <a:off x="6472373" y="5847662"/>
            <a:ext cx="5163560" cy="824670"/>
          </a:xfrm>
          <a:custGeom>
            <a:rect b="b" l="l" r="r" t="t"/>
            <a:pathLst>
              <a:path extrusionOk="0" h="824670" w="5163560">
                <a:moveTo>
                  <a:pt x="74971" y="0"/>
                </a:moveTo>
                <a:lnTo>
                  <a:pt x="5088590" y="0"/>
                </a:lnTo>
                <a:cubicBezTo>
                  <a:pt x="5129967" y="0"/>
                  <a:pt x="5163560" y="33593"/>
                  <a:pt x="5163560" y="74971"/>
                </a:cubicBezTo>
                <a:lnTo>
                  <a:pt x="5163560" y="749699"/>
                </a:lnTo>
                <a:cubicBezTo>
                  <a:pt x="5163560" y="791077"/>
                  <a:pt x="5129967" y="824670"/>
                  <a:pt x="5088590" y="824670"/>
                </a:cubicBezTo>
                <a:lnTo>
                  <a:pt x="74971" y="824670"/>
                </a:lnTo>
                <a:cubicBezTo>
                  <a:pt x="33593" y="824670"/>
                  <a:pt x="0" y="791077"/>
                  <a:pt x="0" y="749699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6622313" y="5997602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Real-time Deployment</a:t>
            </a:r>
            <a:endParaRPr b="0" i="0" sz="1600" u="none" cap="none" strike="noStrike"/>
          </a:p>
        </p:txBody>
      </p:sp>
      <p:sp>
        <p:nvSpPr>
          <p:cNvPr id="462" name="Google Shape;462;p15"/>
          <p:cNvSpPr/>
          <p:nvPr/>
        </p:nvSpPr>
        <p:spPr>
          <a:xfrm>
            <a:off x="6622313" y="6297482"/>
            <a:ext cx="49386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Build streaming pipelines for continuous model updates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6"/>
          <p:cNvSpPr/>
          <p:nvPr/>
        </p:nvSpPr>
        <p:spPr>
          <a:xfrm>
            <a:off x="367783" y="367783"/>
            <a:ext cx="1152999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SUMMARY</a:t>
            </a:r>
            <a:endParaRPr b="0" i="0" sz="1600" u="none" cap="none" strike="noStrike"/>
          </a:p>
        </p:txBody>
      </p:sp>
      <p:sp>
        <p:nvSpPr>
          <p:cNvPr id="469" name="Google Shape;469;p16"/>
          <p:cNvSpPr/>
          <p:nvPr/>
        </p:nvSpPr>
        <p:spPr>
          <a:xfrm>
            <a:off x="367783" y="662009"/>
            <a:ext cx="11677104" cy="4413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5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Conclusion and Key Findings</a:t>
            </a:r>
            <a:endParaRPr b="0" i="0" sz="1600" u="none" cap="none" strike="noStrike"/>
          </a:p>
        </p:txBody>
      </p:sp>
      <p:sp>
        <p:nvSpPr>
          <p:cNvPr id="470" name="Google Shape;470;p16"/>
          <p:cNvSpPr/>
          <p:nvPr/>
        </p:nvSpPr>
        <p:spPr>
          <a:xfrm>
            <a:off x="386172" y="1324018"/>
            <a:ext cx="5599493" cy="2133140"/>
          </a:xfrm>
          <a:custGeom>
            <a:rect b="b" l="l" r="r" t="t"/>
            <a:pathLst>
              <a:path extrusionOk="0" h="2133140" w="5599493">
                <a:moveTo>
                  <a:pt x="36778" y="0"/>
                </a:moveTo>
                <a:lnTo>
                  <a:pt x="5525943" y="0"/>
                </a:lnTo>
                <a:cubicBezTo>
                  <a:pt x="5566563" y="0"/>
                  <a:pt x="5599493" y="32930"/>
                  <a:pt x="5599493" y="73551"/>
                </a:cubicBezTo>
                <a:lnTo>
                  <a:pt x="5599493" y="2059590"/>
                </a:lnTo>
                <a:cubicBezTo>
                  <a:pt x="5599493" y="2100211"/>
                  <a:pt x="5566563" y="2133140"/>
                  <a:pt x="5525943" y="2133140"/>
                </a:cubicBezTo>
                <a:lnTo>
                  <a:pt x="36778" y="2133140"/>
                </a:lnTo>
                <a:cubicBezTo>
                  <a:pt x="16466" y="2133140"/>
                  <a:pt x="0" y="2116674"/>
                  <a:pt x="0" y="209636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386172" y="1324018"/>
            <a:ext cx="36778" cy="2133140"/>
          </a:xfrm>
          <a:custGeom>
            <a:rect b="b" l="l" r="r" t="t"/>
            <a:pathLst>
              <a:path extrusionOk="0" h="2133140" w="36778">
                <a:moveTo>
                  <a:pt x="36778" y="0"/>
                </a:moveTo>
                <a:lnTo>
                  <a:pt x="36778" y="0"/>
                </a:lnTo>
                <a:lnTo>
                  <a:pt x="36778" y="2133140"/>
                </a:lnTo>
                <a:lnTo>
                  <a:pt x="36778" y="2133140"/>
                </a:lnTo>
                <a:cubicBezTo>
                  <a:pt x="16466" y="2133140"/>
                  <a:pt x="0" y="2116674"/>
                  <a:pt x="0" y="209636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666606" y="1636521"/>
            <a:ext cx="331005" cy="331005"/>
          </a:xfrm>
          <a:custGeom>
            <a:rect b="b" l="l" r="r" t="t"/>
            <a:pathLst>
              <a:path extrusionOk="0" h="331005" w="331005">
                <a:moveTo>
                  <a:pt x="41376" y="41376"/>
                </a:moveTo>
                <a:cubicBezTo>
                  <a:pt x="41376" y="29933"/>
                  <a:pt x="32131" y="20688"/>
                  <a:pt x="20688" y="20688"/>
                </a:cubicBezTo>
                <a:cubicBezTo>
                  <a:pt x="9245" y="20688"/>
                  <a:pt x="0" y="29933"/>
                  <a:pt x="0" y="41376"/>
                </a:cubicBezTo>
                <a:lnTo>
                  <a:pt x="0" y="258597"/>
                </a:lnTo>
                <a:cubicBezTo>
                  <a:pt x="0" y="287172"/>
                  <a:pt x="23144" y="310317"/>
                  <a:pt x="51719" y="310317"/>
                </a:cubicBezTo>
                <a:lnTo>
                  <a:pt x="310317" y="310317"/>
                </a:lnTo>
                <a:cubicBezTo>
                  <a:pt x="321760" y="310317"/>
                  <a:pt x="331005" y="301072"/>
                  <a:pt x="331005" y="289629"/>
                </a:cubicBezTo>
                <a:cubicBezTo>
                  <a:pt x="331005" y="278186"/>
                  <a:pt x="321760" y="268941"/>
                  <a:pt x="310317" y="268941"/>
                </a:cubicBezTo>
                <a:lnTo>
                  <a:pt x="51719" y="268941"/>
                </a:lnTo>
                <a:cubicBezTo>
                  <a:pt x="46030" y="268941"/>
                  <a:pt x="41376" y="264286"/>
                  <a:pt x="41376" y="258597"/>
                </a:cubicBezTo>
                <a:lnTo>
                  <a:pt x="41376" y="41376"/>
                </a:lnTo>
                <a:close/>
                <a:moveTo>
                  <a:pt x="304240" y="97362"/>
                </a:moveTo>
                <a:cubicBezTo>
                  <a:pt x="312321" y="89281"/>
                  <a:pt x="312321" y="76157"/>
                  <a:pt x="304240" y="68076"/>
                </a:cubicBezTo>
                <a:cubicBezTo>
                  <a:pt x="296159" y="59995"/>
                  <a:pt x="283035" y="59995"/>
                  <a:pt x="274954" y="68076"/>
                </a:cubicBezTo>
                <a:lnTo>
                  <a:pt x="206878" y="136216"/>
                </a:lnTo>
                <a:lnTo>
                  <a:pt x="169769" y="99172"/>
                </a:lnTo>
                <a:cubicBezTo>
                  <a:pt x="161688" y="91091"/>
                  <a:pt x="148564" y="91091"/>
                  <a:pt x="140483" y="99172"/>
                </a:cubicBezTo>
                <a:lnTo>
                  <a:pt x="78420" y="161235"/>
                </a:lnTo>
                <a:cubicBezTo>
                  <a:pt x="70338" y="169317"/>
                  <a:pt x="70338" y="182440"/>
                  <a:pt x="78420" y="190522"/>
                </a:cubicBezTo>
                <a:cubicBezTo>
                  <a:pt x="86501" y="198603"/>
                  <a:pt x="99625" y="198603"/>
                  <a:pt x="107706" y="190522"/>
                </a:cubicBezTo>
                <a:lnTo>
                  <a:pt x="155158" y="143069"/>
                </a:lnTo>
                <a:lnTo>
                  <a:pt x="192267" y="180178"/>
                </a:lnTo>
                <a:cubicBezTo>
                  <a:pt x="200348" y="188259"/>
                  <a:pt x="213472" y="188259"/>
                  <a:pt x="221553" y="180178"/>
                </a:cubicBezTo>
                <a:lnTo>
                  <a:pt x="304304" y="97427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1186100" y="1544688"/>
            <a:ext cx="2454950" cy="294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8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Time Series Forecasting</a:t>
            </a:r>
            <a:endParaRPr b="0" i="0" sz="1600" u="none" cap="none" strike="noStrike"/>
          </a:p>
        </p:txBody>
      </p:sp>
      <p:sp>
        <p:nvSpPr>
          <p:cNvPr id="474" name="Google Shape;474;p16"/>
          <p:cNvSpPr/>
          <p:nvPr/>
        </p:nvSpPr>
        <p:spPr>
          <a:xfrm>
            <a:off x="1186100" y="1838802"/>
            <a:ext cx="2418172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XGBoost Emerges as Winner</a:t>
            </a:r>
            <a:endParaRPr b="0" i="0" sz="1600" u="none" cap="none" strike="noStrike"/>
          </a:p>
        </p:txBody>
      </p:sp>
      <p:sp>
        <p:nvSpPr>
          <p:cNvPr id="475" name="Google Shape;475;p16"/>
          <p:cNvSpPr/>
          <p:nvPr/>
        </p:nvSpPr>
        <p:spPr>
          <a:xfrm>
            <a:off x="625231" y="2206585"/>
            <a:ext cx="5213321" cy="4413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Key Finding: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 XGBoost consistently outperforms in 75% of cases with clear seasonality</a:t>
            </a:r>
            <a:endParaRPr b="0" i="0" sz="1600" u="none" cap="none" strike="noStrike"/>
          </a:p>
        </p:txBody>
      </p:sp>
      <p:sp>
        <p:nvSpPr>
          <p:cNvPr id="476" name="Google Shape;476;p16"/>
          <p:cNvSpPr/>
          <p:nvPr/>
        </p:nvSpPr>
        <p:spPr>
          <a:xfrm>
            <a:off x="625231" y="2721481"/>
            <a:ext cx="52133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Insight: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LSTM strong for nonlinear patterns but computationally expensive</a:t>
            </a:r>
            <a:endParaRPr b="0" i="0" sz="1600" u="none" cap="none" strike="noStrike"/>
          </a:p>
        </p:txBody>
      </p:sp>
      <p:sp>
        <p:nvSpPr>
          <p:cNvPr id="477" name="Google Shape;477;p16"/>
          <p:cNvSpPr/>
          <p:nvPr/>
        </p:nvSpPr>
        <p:spPr>
          <a:xfrm>
            <a:off x="625231" y="3015707"/>
            <a:ext cx="52133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Recommendation: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Start with SARIMA baseline, upgrade to XGBoost if needed</a:t>
            </a:r>
            <a:endParaRPr b="0" i="0" sz="1600" u="none" cap="none" strike="noStrike"/>
          </a:p>
        </p:txBody>
      </p:sp>
      <p:sp>
        <p:nvSpPr>
          <p:cNvPr id="478" name="Google Shape;478;p16"/>
          <p:cNvSpPr/>
          <p:nvPr/>
        </p:nvSpPr>
        <p:spPr>
          <a:xfrm>
            <a:off x="6225644" y="1324018"/>
            <a:ext cx="5599493" cy="2133140"/>
          </a:xfrm>
          <a:custGeom>
            <a:rect b="b" l="l" r="r" t="t"/>
            <a:pathLst>
              <a:path extrusionOk="0" h="2133140" w="5599493">
                <a:moveTo>
                  <a:pt x="36778" y="0"/>
                </a:moveTo>
                <a:lnTo>
                  <a:pt x="5525943" y="0"/>
                </a:lnTo>
                <a:cubicBezTo>
                  <a:pt x="5566563" y="0"/>
                  <a:pt x="5599493" y="32930"/>
                  <a:pt x="5599493" y="73551"/>
                </a:cubicBezTo>
                <a:lnTo>
                  <a:pt x="5599493" y="2059590"/>
                </a:lnTo>
                <a:cubicBezTo>
                  <a:pt x="5599493" y="2100211"/>
                  <a:pt x="5566563" y="2133140"/>
                  <a:pt x="5525943" y="2133140"/>
                </a:cubicBezTo>
                <a:lnTo>
                  <a:pt x="36778" y="2133140"/>
                </a:lnTo>
                <a:cubicBezTo>
                  <a:pt x="16466" y="2133140"/>
                  <a:pt x="0" y="2116674"/>
                  <a:pt x="0" y="209636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6225644" y="1324018"/>
            <a:ext cx="36778" cy="2133140"/>
          </a:xfrm>
          <a:custGeom>
            <a:rect b="b" l="l" r="r" t="t"/>
            <a:pathLst>
              <a:path extrusionOk="0" h="2133140" w="36778">
                <a:moveTo>
                  <a:pt x="36778" y="0"/>
                </a:moveTo>
                <a:lnTo>
                  <a:pt x="36778" y="0"/>
                </a:lnTo>
                <a:lnTo>
                  <a:pt x="36778" y="2133140"/>
                </a:lnTo>
                <a:lnTo>
                  <a:pt x="36778" y="2133140"/>
                </a:lnTo>
                <a:cubicBezTo>
                  <a:pt x="16466" y="2133140"/>
                  <a:pt x="0" y="2116674"/>
                  <a:pt x="0" y="209636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6506078" y="1636521"/>
            <a:ext cx="331005" cy="331005"/>
          </a:xfrm>
          <a:custGeom>
            <a:rect b="b" l="l" r="r" t="t"/>
            <a:pathLst>
              <a:path extrusionOk="0" h="331005" w="331005">
                <a:moveTo>
                  <a:pt x="20688" y="20688"/>
                </a:moveTo>
                <a:cubicBezTo>
                  <a:pt x="32131" y="20688"/>
                  <a:pt x="41376" y="29933"/>
                  <a:pt x="41376" y="41376"/>
                </a:cubicBezTo>
                <a:lnTo>
                  <a:pt x="41376" y="258597"/>
                </a:lnTo>
                <a:cubicBezTo>
                  <a:pt x="41376" y="264286"/>
                  <a:pt x="46030" y="268941"/>
                  <a:pt x="51719" y="268941"/>
                </a:cubicBezTo>
                <a:lnTo>
                  <a:pt x="310317" y="268941"/>
                </a:lnTo>
                <a:cubicBezTo>
                  <a:pt x="321760" y="268941"/>
                  <a:pt x="331005" y="278186"/>
                  <a:pt x="331005" y="289629"/>
                </a:cubicBezTo>
                <a:cubicBezTo>
                  <a:pt x="331005" y="301072"/>
                  <a:pt x="321760" y="310317"/>
                  <a:pt x="310317" y="310317"/>
                </a:cubicBezTo>
                <a:lnTo>
                  <a:pt x="51719" y="310317"/>
                </a:lnTo>
                <a:cubicBezTo>
                  <a:pt x="23144" y="310317"/>
                  <a:pt x="0" y="287172"/>
                  <a:pt x="0" y="258597"/>
                </a:cubicBezTo>
                <a:lnTo>
                  <a:pt x="0" y="41376"/>
                </a:lnTo>
                <a:cubicBezTo>
                  <a:pt x="0" y="29933"/>
                  <a:pt x="9245" y="20688"/>
                  <a:pt x="20688" y="20688"/>
                </a:cubicBezTo>
                <a:close/>
                <a:moveTo>
                  <a:pt x="82751" y="62063"/>
                </a:moveTo>
                <a:cubicBezTo>
                  <a:pt x="82751" y="50620"/>
                  <a:pt x="91996" y="41376"/>
                  <a:pt x="103439" y="41376"/>
                </a:cubicBezTo>
                <a:lnTo>
                  <a:pt x="227566" y="41376"/>
                </a:lnTo>
                <a:cubicBezTo>
                  <a:pt x="239009" y="41376"/>
                  <a:pt x="248253" y="50620"/>
                  <a:pt x="248253" y="62063"/>
                </a:cubicBezTo>
                <a:cubicBezTo>
                  <a:pt x="248253" y="73506"/>
                  <a:pt x="239009" y="82751"/>
                  <a:pt x="227566" y="82751"/>
                </a:cubicBezTo>
                <a:lnTo>
                  <a:pt x="103439" y="82751"/>
                </a:lnTo>
                <a:cubicBezTo>
                  <a:pt x="91996" y="82751"/>
                  <a:pt x="82751" y="73506"/>
                  <a:pt x="82751" y="62063"/>
                </a:cubicBezTo>
                <a:close/>
                <a:moveTo>
                  <a:pt x="103439" y="113783"/>
                </a:moveTo>
                <a:lnTo>
                  <a:pt x="186190" y="113783"/>
                </a:lnTo>
                <a:cubicBezTo>
                  <a:pt x="197633" y="113783"/>
                  <a:pt x="206878" y="123028"/>
                  <a:pt x="206878" y="134471"/>
                </a:cubicBezTo>
                <a:cubicBezTo>
                  <a:pt x="206878" y="145914"/>
                  <a:pt x="197633" y="155158"/>
                  <a:pt x="186190" y="155158"/>
                </a:cubicBezTo>
                <a:lnTo>
                  <a:pt x="103439" y="155158"/>
                </a:lnTo>
                <a:cubicBezTo>
                  <a:pt x="91996" y="155158"/>
                  <a:pt x="82751" y="145914"/>
                  <a:pt x="82751" y="134471"/>
                </a:cubicBezTo>
                <a:cubicBezTo>
                  <a:pt x="82751" y="123028"/>
                  <a:pt x="91996" y="113783"/>
                  <a:pt x="103439" y="113783"/>
                </a:cubicBezTo>
                <a:close/>
                <a:moveTo>
                  <a:pt x="103439" y="186190"/>
                </a:moveTo>
                <a:lnTo>
                  <a:pt x="268941" y="186190"/>
                </a:lnTo>
                <a:cubicBezTo>
                  <a:pt x="280384" y="186190"/>
                  <a:pt x="289629" y="195435"/>
                  <a:pt x="289629" y="206878"/>
                </a:cubicBezTo>
                <a:cubicBezTo>
                  <a:pt x="289629" y="218321"/>
                  <a:pt x="280384" y="227566"/>
                  <a:pt x="268941" y="227566"/>
                </a:cubicBezTo>
                <a:lnTo>
                  <a:pt x="103439" y="227566"/>
                </a:lnTo>
                <a:cubicBezTo>
                  <a:pt x="91996" y="227566"/>
                  <a:pt x="82751" y="218321"/>
                  <a:pt x="82751" y="206878"/>
                </a:cubicBezTo>
                <a:cubicBezTo>
                  <a:pt x="82751" y="195435"/>
                  <a:pt x="91996" y="186190"/>
                  <a:pt x="103439" y="18619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7025571" y="1544688"/>
            <a:ext cx="2059584" cy="294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8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Regression Analysis</a:t>
            </a:r>
            <a:endParaRPr b="0" i="0" sz="1600" u="none" cap="none" strike="noStrike"/>
          </a:p>
        </p:txBody>
      </p:sp>
      <p:sp>
        <p:nvSpPr>
          <p:cNvPr id="482" name="Google Shape;482;p16"/>
          <p:cNvSpPr/>
          <p:nvPr/>
        </p:nvSpPr>
        <p:spPr>
          <a:xfrm>
            <a:off x="7025571" y="1838802"/>
            <a:ext cx="2022805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Tree-Based Models Dominate</a:t>
            </a:r>
            <a:endParaRPr b="0" i="0" sz="1600" u="none" cap="none" strike="noStrike"/>
          </a:p>
        </p:txBody>
      </p:sp>
      <p:sp>
        <p:nvSpPr>
          <p:cNvPr id="483" name="Google Shape;483;p16"/>
          <p:cNvSpPr/>
          <p:nvPr/>
        </p:nvSpPr>
        <p:spPr>
          <a:xfrm>
            <a:off x="6464703" y="2206585"/>
            <a:ext cx="52133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Key Finding: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lang="en-US" sz="1158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Random Forest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achieves R² = 0.</a:t>
            </a:r>
            <a:r>
              <a:rPr lang="en-US" sz="1158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8145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, lowest errors</a:t>
            </a:r>
            <a:endParaRPr b="0" i="0" sz="1600" u="none" cap="none" strike="noStrike"/>
          </a:p>
        </p:txBody>
      </p:sp>
      <p:sp>
        <p:nvSpPr>
          <p:cNvPr id="484" name="Google Shape;484;p16"/>
          <p:cNvSpPr/>
          <p:nvPr/>
        </p:nvSpPr>
        <p:spPr>
          <a:xfrm>
            <a:off x="6464703" y="2500811"/>
            <a:ext cx="52133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Insight: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lang="en-US" sz="1158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Gradient Boosting 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close second (R² = 0.8213)</a:t>
            </a:r>
            <a:endParaRPr b="0" i="0" sz="1600" u="none" cap="none" strike="noStrike"/>
          </a:p>
        </p:txBody>
      </p:sp>
      <p:sp>
        <p:nvSpPr>
          <p:cNvPr id="485" name="Google Shape;485;p16"/>
          <p:cNvSpPr/>
          <p:nvPr/>
        </p:nvSpPr>
        <p:spPr>
          <a:xfrm>
            <a:off x="6464703" y="2795037"/>
            <a:ext cx="52133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Recommendation: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Use ensemble methods for complex regression tasks</a:t>
            </a:r>
            <a:endParaRPr b="0" i="0" sz="1600" u="none" cap="none" strike="noStrike"/>
          </a:p>
        </p:txBody>
      </p:sp>
      <p:sp>
        <p:nvSpPr>
          <p:cNvPr id="486" name="Google Shape;486;p16"/>
          <p:cNvSpPr/>
          <p:nvPr/>
        </p:nvSpPr>
        <p:spPr>
          <a:xfrm>
            <a:off x="386172" y="3677716"/>
            <a:ext cx="5599493" cy="2133140"/>
          </a:xfrm>
          <a:custGeom>
            <a:rect b="b" l="l" r="r" t="t"/>
            <a:pathLst>
              <a:path extrusionOk="0" h="2133140" w="5599493">
                <a:moveTo>
                  <a:pt x="36778" y="0"/>
                </a:moveTo>
                <a:lnTo>
                  <a:pt x="5525943" y="0"/>
                </a:lnTo>
                <a:cubicBezTo>
                  <a:pt x="5566563" y="0"/>
                  <a:pt x="5599493" y="32930"/>
                  <a:pt x="5599493" y="73551"/>
                </a:cubicBezTo>
                <a:lnTo>
                  <a:pt x="5599493" y="2059590"/>
                </a:lnTo>
                <a:cubicBezTo>
                  <a:pt x="5599493" y="2100211"/>
                  <a:pt x="5566563" y="2133140"/>
                  <a:pt x="5525943" y="2133140"/>
                </a:cubicBezTo>
                <a:lnTo>
                  <a:pt x="36778" y="2133140"/>
                </a:lnTo>
                <a:cubicBezTo>
                  <a:pt x="16466" y="2133140"/>
                  <a:pt x="0" y="2116674"/>
                  <a:pt x="0" y="209636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386172" y="3677716"/>
            <a:ext cx="36778" cy="2133140"/>
          </a:xfrm>
          <a:custGeom>
            <a:rect b="b" l="l" r="r" t="t"/>
            <a:pathLst>
              <a:path extrusionOk="0" h="2133140" w="36778">
                <a:moveTo>
                  <a:pt x="36778" y="0"/>
                </a:moveTo>
                <a:lnTo>
                  <a:pt x="36778" y="0"/>
                </a:lnTo>
                <a:lnTo>
                  <a:pt x="36778" y="2133140"/>
                </a:lnTo>
                <a:lnTo>
                  <a:pt x="36778" y="2133140"/>
                </a:lnTo>
                <a:cubicBezTo>
                  <a:pt x="16466" y="2133140"/>
                  <a:pt x="0" y="2116674"/>
                  <a:pt x="0" y="209636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625231" y="3990214"/>
            <a:ext cx="413756" cy="331005"/>
          </a:xfrm>
          <a:custGeom>
            <a:rect b="b" l="l" r="r" t="t"/>
            <a:pathLst>
              <a:path extrusionOk="0" h="331005" w="413756">
                <a:moveTo>
                  <a:pt x="206878" y="10344"/>
                </a:moveTo>
                <a:cubicBezTo>
                  <a:pt x="243986" y="10344"/>
                  <a:pt x="274113" y="40471"/>
                  <a:pt x="274113" y="77579"/>
                </a:cubicBezTo>
                <a:cubicBezTo>
                  <a:pt x="274113" y="114687"/>
                  <a:pt x="243986" y="144814"/>
                  <a:pt x="206878" y="144814"/>
                </a:cubicBezTo>
                <a:cubicBezTo>
                  <a:pt x="169770" y="144814"/>
                  <a:pt x="139643" y="114687"/>
                  <a:pt x="139643" y="77579"/>
                </a:cubicBezTo>
                <a:cubicBezTo>
                  <a:pt x="139643" y="40471"/>
                  <a:pt x="169770" y="10344"/>
                  <a:pt x="206878" y="10344"/>
                </a:cubicBezTo>
                <a:close/>
                <a:moveTo>
                  <a:pt x="62063" y="56891"/>
                </a:moveTo>
                <a:cubicBezTo>
                  <a:pt x="87754" y="56891"/>
                  <a:pt x="108611" y="77749"/>
                  <a:pt x="108611" y="103439"/>
                </a:cubicBezTo>
                <a:cubicBezTo>
                  <a:pt x="108611" y="129129"/>
                  <a:pt x="87754" y="149986"/>
                  <a:pt x="62063" y="149986"/>
                </a:cubicBezTo>
                <a:cubicBezTo>
                  <a:pt x="36373" y="149986"/>
                  <a:pt x="15516" y="129129"/>
                  <a:pt x="15516" y="103439"/>
                </a:cubicBezTo>
                <a:cubicBezTo>
                  <a:pt x="15516" y="77749"/>
                  <a:pt x="36373" y="56891"/>
                  <a:pt x="62063" y="56891"/>
                </a:cubicBezTo>
                <a:close/>
                <a:moveTo>
                  <a:pt x="0" y="268941"/>
                </a:moveTo>
                <a:cubicBezTo>
                  <a:pt x="0" y="223234"/>
                  <a:pt x="37044" y="186190"/>
                  <a:pt x="82751" y="186190"/>
                </a:cubicBezTo>
                <a:cubicBezTo>
                  <a:pt x="91026" y="186190"/>
                  <a:pt x="99043" y="187418"/>
                  <a:pt x="106607" y="189681"/>
                </a:cubicBezTo>
                <a:cubicBezTo>
                  <a:pt x="85337" y="213472"/>
                  <a:pt x="72407" y="244892"/>
                  <a:pt x="72407" y="279285"/>
                </a:cubicBezTo>
                <a:lnTo>
                  <a:pt x="72407" y="289629"/>
                </a:lnTo>
                <a:cubicBezTo>
                  <a:pt x="72407" y="296999"/>
                  <a:pt x="73959" y="303981"/>
                  <a:pt x="76739" y="310317"/>
                </a:cubicBezTo>
                <a:lnTo>
                  <a:pt x="20688" y="310317"/>
                </a:lnTo>
                <a:cubicBezTo>
                  <a:pt x="9245" y="310317"/>
                  <a:pt x="0" y="301072"/>
                  <a:pt x="0" y="289629"/>
                </a:cubicBezTo>
                <a:lnTo>
                  <a:pt x="0" y="268941"/>
                </a:lnTo>
                <a:close/>
                <a:moveTo>
                  <a:pt x="337017" y="310317"/>
                </a:moveTo>
                <a:cubicBezTo>
                  <a:pt x="339797" y="303981"/>
                  <a:pt x="341348" y="296999"/>
                  <a:pt x="341348" y="289629"/>
                </a:cubicBezTo>
                <a:lnTo>
                  <a:pt x="341348" y="279285"/>
                </a:lnTo>
                <a:cubicBezTo>
                  <a:pt x="341348" y="244892"/>
                  <a:pt x="328419" y="213472"/>
                  <a:pt x="307149" y="189681"/>
                </a:cubicBezTo>
                <a:cubicBezTo>
                  <a:pt x="314713" y="187418"/>
                  <a:pt x="322729" y="186190"/>
                  <a:pt x="331005" y="186190"/>
                </a:cubicBezTo>
                <a:cubicBezTo>
                  <a:pt x="376712" y="186190"/>
                  <a:pt x="413756" y="223234"/>
                  <a:pt x="413756" y="268941"/>
                </a:cubicBezTo>
                <a:lnTo>
                  <a:pt x="413756" y="289629"/>
                </a:lnTo>
                <a:cubicBezTo>
                  <a:pt x="413756" y="301072"/>
                  <a:pt x="404511" y="310317"/>
                  <a:pt x="393068" y="310317"/>
                </a:cubicBezTo>
                <a:lnTo>
                  <a:pt x="337017" y="310317"/>
                </a:lnTo>
                <a:close/>
                <a:moveTo>
                  <a:pt x="305145" y="103439"/>
                </a:moveTo>
                <a:cubicBezTo>
                  <a:pt x="305145" y="77749"/>
                  <a:pt x="326002" y="56891"/>
                  <a:pt x="351692" y="56891"/>
                </a:cubicBezTo>
                <a:cubicBezTo>
                  <a:pt x="377383" y="56891"/>
                  <a:pt x="398240" y="77749"/>
                  <a:pt x="398240" y="103439"/>
                </a:cubicBezTo>
                <a:cubicBezTo>
                  <a:pt x="398240" y="129129"/>
                  <a:pt x="377383" y="149986"/>
                  <a:pt x="351692" y="149986"/>
                </a:cubicBezTo>
                <a:cubicBezTo>
                  <a:pt x="326002" y="149986"/>
                  <a:pt x="305145" y="129129"/>
                  <a:pt x="305145" y="103439"/>
                </a:cubicBezTo>
                <a:close/>
                <a:moveTo>
                  <a:pt x="103439" y="279285"/>
                </a:moveTo>
                <a:cubicBezTo>
                  <a:pt x="103439" y="222135"/>
                  <a:pt x="149728" y="175846"/>
                  <a:pt x="206878" y="175846"/>
                </a:cubicBezTo>
                <a:cubicBezTo>
                  <a:pt x="264028" y="175846"/>
                  <a:pt x="310317" y="222135"/>
                  <a:pt x="310317" y="279285"/>
                </a:cubicBezTo>
                <a:lnTo>
                  <a:pt x="310317" y="289629"/>
                </a:lnTo>
                <a:cubicBezTo>
                  <a:pt x="310317" y="301072"/>
                  <a:pt x="301072" y="310317"/>
                  <a:pt x="289629" y="310317"/>
                </a:cubicBezTo>
                <a:lnTo>
                  <a:pt x="124127" y="310317"/>
                </a:lnTo>
                <a:cubicBezTo>
                  <a:pt x="112684" y="310317"/>
                  <a:pt x="103439" y="301072"/>
                  <a:pt x="103439" y="289629"/>
                </a:cubicBezTo>
                <a:lnTo>
                  <a:pt x="103439" y="279285"/>
                </a:ln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1186100" y="3898385"/>
            <a:ext cx="2482534" cy="294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8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Customer Segmentation</a:t>
            </a:r>
            <a:endParaRPr b="0" i="0" sz="1600" u="none" cap="none" strike="noStrike"/>
          </a:p>
        </p:txBody>
      </p:sp>
      <p:sp>
        <p:nvSpPr>
          <p:cNvPr id="490" name="Google Shape;490;p16"/>
          <p:cNvSpPr/>
          <p:nvPr/>
        </p:nvSpPr>
        <p:spPr>
          <a:xfrm>
            <a:off x="1186100" y="4192495"/>
            <a:ext cx="2445756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K-Means + RFM Effective</a:t>
            </a:r>
            <a:endParaRPr b="0" i="0" sz="1600" u="none" cap="none" strike="noStrike"/>
          </a:p>
        </p:txBody>
      </p:sp>
      <p:sp>
        <p:nvSpPr>
          <p:cNvPr id="491" name="Google Shape;491;p16"/>
          <p:cNvSpPr/>
          <p:nvPr/>
        </p:nvSpPr>
        <p:spPr>
          <a:xfrm>
            <a:off x="625231" y="4560278"/>
            <a:ext cx="5213321" cy="4413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Key Finding: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4 distinct segments: high-value, disengaged, big spenders, moderate</a:t>
            </a:r>
            <a:endParaRPr b="0" i="0" sz="1600" u="none" cap="none" strike="noStrike"/>
          </a:p>
        </p:txBody>
      </p:sp>
      <p:sp>
        <p:nvSpPr>
          <p:cNvPr id="492" name="Google Shape;492;p16"/>
          <p:cNvSpPr/>
          <p:nvPr/>
        </p:nvSpPr>
        <p:spPr>
          <a:xfrm>
            <a:off x="625231" y="5075174"/>
            <a:ext cx="52133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Insight: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Income and age are key demographic differentiators</a:t>
            </a:r>
            <a:endParaRPr b="0" i="0" sz="1600" u="none" cap="none" strike="noStrike"/>
          </a:p>
        </p:txBody>
      </p:sp>
      <p:sp>
        <p:nvSpPr>
          <p:cNvPr id="493" name="Google Shape;493;p16"/>
          <p:cNvSpPr/>
          <p:nvPr/>
        </p:nvSpPr>
        <p:spPr>
          <a:xfrm>
            <a:off x="625231" y="5369400"/>
            <a:ext cx="52133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Recommendation: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Target high-value with upsell, at-risk with win-back</a:t>
            </a:r>
            <a:endParaRPr b="0" i="0" sz="1600" u="none" cap="none" strike="noStrike"/>
          </a:p>
        </p:txBody>
      </p:sp>
      <p:sp>
        <p:nvSpPr>
          <p:cNvPr id="494" name="Google Shape;494;p16"/>
          <p:cNvSpPr/>
          <p:nvPr/>
        </p:nvSpPr>
        <p:spPr>
          <a:xfrm>
            <a:off x="6225644" y="3677716"/>
            <a:ext cx="5599493" cy="2133140"/>
          </a:xfrm>
          <a:custGeom>
            <a:rect b="b" l="l" r="r" t="t"/>
            <a:pathLst>
              <a:path extrusionOk="0" h="2133140" w="5599493">
                <a:moveTo>
                  <a:pt x="36778" y="0"/>
                </a:moveTo>
                <a:lnTo>
                  <a:pt x="5525943" y="0"/>
                </a:lnTo>
                <a:cubicBezTo>
                  <a:pt x="5566563" y="0"/>
                  <a:pt x="5599493" y="32930"/>
                  <a:pt x="5599493" y="73551"/>
                </a:cubicBezTo>
                <a:lnTo>
                  <a:pt x="5599493" y="2059590"/>
                </a:lnTo>
                <a:cubicBezTo>
                  <a:pt x="5599493" y="2100211"/>
                  <a:pt x="5566563" y="2133140"/>
                  <a:pt x="5525943" y="2133140"/>
                </a:cubicBezTo>
                <a:lnTo>
                  <a:pt x="36778" y="2133140"/>
                </a:lnTo>
                <a:cubicBezTo>
                  <a:pt x="16466" y="2133140"/>
                  <a:pt x="0" y="2116674"/>
                  <a:pt x="0" y="209636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6225644" y="3677716"/>
            <a:ext cx="36778" cy="2133140"/>
          </a:xfrm>
          <a:custGeom>
            <a:rect b="b" l="l" r="r" t="t"/>
            <a:pathLst>
              <a:path extrusionOk="0" h="2133140" w="36778">
                <a:moveTo>
                  <a:pt x="36778" y="0"/>
                </a:moveTo>
                <a:lnTo>
                  <a:pt x="36778" y="0"/>
                </a:lnTo>
                <a:lnTo>
                  <a:pt x="36778" y="2133140"/>
                </a:lnTo>
                <a:lnTo>
                  <a:pt x="36778" y="2133140"/>
                </a:lnTo>
                <a:cubicBezTo>
                  <a:pt x="16466" y="2133140"/>
                  <a:pt x="0" y="2116674"/>
                  <a:pt x="0" y="209636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6"/>
          <p:cNvSpPr/>
          <p:nvPr/>
        </p:nvSpPr>
        <p:spPr>
          <a:xfrm>
            <a:off x="6464703" y="3990214"/>
            <a:ext cx="413756" cy="331005"/>
          </a:xfrm>
          <a:custGeom>
            <a:rect b="b" l="l" r="r" t="t"/>
            <a:pathLst>
              <a:path extrusionOk="0" h="331005" w="413756">
                <a:moveTo>
                  <a:pt x="15516" y="-10344"/>
                </a:moveTo>
                <a:cubicBezTo>
                  <a:pt x="6917" y="-10344"/>
                  <a:pt x="0" y="-3426"/>
                  <a:pt x="0" y="5172"/>
                </a:cubicBezTo>
                <a:cubicBezTo>
                  <a:pt x="0" y="13770"/>
                  <a:pt x="6917" y="20688"/>
                  <a:pt x="15516" y="20688"/>
                </a:cubicBezTo>
                <a:lnTo>
                  <a:pt x="44802" y="20688"/>
                </a:lnTo>
                <a:cubicBezTo>
                  <a:pt x="47323" y="20688"/>
                  <a:pt x="49457" y="22498"/>
                  <a:pt x="49909" y="24955"/>
                </a:cubicBezTo>
                <a:lnTo>
                  <a:pt x="83592" y="210046"/>
                </a:lnTo>
                <a:cubicBezTo>
                  <a:pt x="87600" y="232156"/>
                  <a:pt x="106865" y="248253"/>
                  <a:pt x="129363" y="248253"/>
                </a:cubicBezTo>
                <a:lnTo>
                  <a:pt x="294801" y="248253"/>
                </a:lnTo>
                <a:cubicBezTo>
                  <a:pt x="303399" y="248253"/>
                  <a:pt x="310317" y="241336"/>
                  <a:pt x="310317" y="232738"/>
                </a:cubicBezTo>
                <a:cubicBezTo>
                  <a:pt x="310317" y="224139"/>
                  <a:pt x="303399" y="217222"/>
                  <a:pt x="294801" y="217222"/>
                </a:cubicBezTo>
                <a:lnTo>
                  <a:pt x="129363" y="217222"/>
                </a:lnTo>
                <a:cubicBezTo>
                  <a:pt x="121864" y="217222"/>
                  <a:pt x="115464" y="211856"/>
                  <a:pt x="114106" y="204486"/>
                </a:cubicBezTo>
                <a:lnTo>
                  <a:pt x="110809" y="186190"/>
                </a:lnTo>
                <a:lnTo>
                  <a:pt x="307084" y="186190"/>
                </a:lnTo>
                <a:cubicBezTo>
                  <a:pt x="326996" y="186190"/>
                  <a:pt x="344064" y="172032"/>
                  <a:pt x="347749" y="152443"/>
                </a:cubicBezTo>
                <a:lnTo>
                  <a:pt x="367790" y="45190"/>
                </a:lnTo>
                <a:cubicBezTo>
                  <a:pt x="370182" y="32454"/>
                  <a:pt x="360420" y="20688"/>
                  <a:pt x="347425" y="20688"/>
                </a:cubicBezTo>
                <a:lnTo>
                  <a:pt x="80618" y="20688"/>
                </a:lnTo>
                <a:lnTo>
                  <a:pt x="80359" y="19395"/>
                </a:lnTo>
                <a:cubicBezTo>
                  <a:pt x="77256" y="2198"/>
                  <a:pt x="62257" y="-10344"/>
                  <a:pt x="44737" y="-10344"/>
                </a:cubicBezTo>
                <a:lnTo>
                  <a:pt x="15516" y="-10344"/>
                </a:lnTo>
                <a:close/>
                <a:moveTo>
                  <a:pt x="134471" y="331005"/>
                </a:moveTo>
                <a:cubicBezTo>
                  <a:pt x="151597" y="331005"/>
                  <a:pt x="165502" y="317100"/>
                  <a:pt x="165502" y="299973"/>
                </a:cubicBezTo>
                <a:cubicBezTo>
                  <a:pt x="165502" y="282846"/>
                  <a:pt x="151597" y="268941"/>
                  <a:pt x="134471" y="268941"/>
                </a:cubicBezTo>
                <a:cubicBezTo>
                  <a:pt x="117344" y="268941"/>
                  <a:pt x="103439" y="282846"/>
                  <a:pt x="103439" y="299973"/>
                </a:cubicBezTo>
                <a:cubicBezTo>
                  <a:pt x="103439" y="317100"/>
                  <a:pt x="117344" y="331005"/>
                  <a:pt x="134471" y="331005"/>
                </a:cubicBezTo>
                <a:close/>
                <a:moveTo>
                  <a:pt x="279285" y="331005"/>
                </a:moveTo>
                <a:cubicBezTo>
                  <a:pt x="296412" y="331005"/>
                  <a:pt x="310317" y="317100"/>
                  <a:pt x="310317" y="299973"/>
                </a:cubicBezTo>
                <a:cubicBezTo>
                  <a:pt x="310317" y="282846"/>
                  <a:pt x="296412" y="268941"/>
                  <a:pt x="279285" y="268941"/>
                </a:cubicBezTo>
                <a:cubicBezTo>
                  <a:pt x="262158" y="268941"/>
                  <a:pt x="248253" y="282846"/>
                  <a:pt x="248253" y="299973"/>
                </a:cubicBezTo>
                <a:cubicBezTo>
                  <a:pt x="248253" y="317100"/>
                  <a:pt x="262158" y="331005"/>
                  <a:pt x="279285" y="331005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7025571" y="3898385"/>
            <a:ext cx="2372199" cy="294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8" u="none" cap="none" strike="noStrike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Market Basket Analysis</a:t>
            </a:r>
            <a:endParaRPr b="0" i="0" sz="1600" u="none" cap="none" strike="noStrike"/>
          </a:p>
        </p:txBody>
      </p:sp>
      <p:sp>
        <p:nvSpPr>
          <p:cNvPr id="498" name="Google Shape;498;p16"/>
          <p:cNvSpPr/>
          <p:nvPr/>
        </p:nvSpPr>
        <p:spPr>
          <a:xfrm>
            <a:off x="7025571" y="4192495"/>
            <a:ext cx="23354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Eclat Most Efficient</a:t>
            </a:r>
            <a:endParaRPr b="0" i="0" sz="1600" u="none" cap="none" strike="noStrike"/>
          </a:p>
        </p:txBody>
      </p:sp>
      <p:sp>
        <p:nvSpPr>
          <p:cNvPr id="499" name="Google Shape;499;p16"/>
          <p:cNvSpPr/>
          <p:nvPr/>
        </p:nvSpPr>
        <p:spPr>
          <a:xfrm>
            <a:off x="6464703" y="4560278"/>
            <a:ext cx="52133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Key Finding: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Eclat 50% better than FP-Growth, 50x faster than Apriori</a:t>
            </a:r>
            <a:endParaRPr b="0" i="0" sz="1600" u="none" cap="none" strike="noStrike"/>
          </a:p>
        </p:txBody>
      </p:sp>
      <p:sp>
        <p:nvSpPr>
          <p:cNvPr id="500" name="Google Shape;500;p16"/>
          <p:cNvSpPr/>
          <p:nvPr/>
        </p:nvSpPr>
        <p:spPr>
          <a:xfrm>
            <a:off x="6464703" y="4854504"/>
            <a:ext cx="5213321" cy="220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Insight: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lang="en-US" sz="1158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Regency tea plate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dominate associations with multiple combinations</a:t>
            </a:r>
            <a:endParaRPr b="0" i="0" sz="1600" u="none" cap="none" strike="noStrike"/>
          </a:p>
        </p:txBody>
      </p:sp>
      <p:sp>
        <p:nvSpPr>
          <p:cNvPr id="501" name="Google Shape;501;p16"/>
          <p:cNvSpPr/>
          <p:nvPr/>
        </p:nvSpPr>
        <p:spPr>
          <a:xfrm>
            <a:off x="6464703" y="5148730"/>
            <a:ext cx="5213321" cy="4413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8" u="none" cap="none" strike="noStrike">
                <a:solidFill>
                  <a:srgbClr val="1A1A1A"/>
                </a:solidFill>
                <a:latin typeface="Liter"/>
                <a:ea typeface="Liter"/>
                <a:cs typeface="Liter"/>
                <a:sym typeface="Liter"/>
              </a:rPr>
              <a:t>Recommendation:</a:t>
            </a:r>
            <a:r>
              <a:rPr b="0" i="0" lang="en-US" sz="1158" u="none" cap="none" strike="noStrike">
                <a:solidFill>
                  <a:srgbClr val="666666"/>
                </a:solidFill>
                <a:latin typeface="Liter"/>
                <a:ea typeface="Liter"/>
                <a:cs typeface="Liter"/>
                <a:sym typeface="Liter"/>
              </a:rPr>
              <a:t> Use Eclat for large datasets, FP-Growth for balanced approach</a:t>
            </a:r>
            <a:endParaRPr b="0" i="0" sz="1600" u="none" cap="none" strike="noStrike"/>
          </a:p>
        </p:txBody>
      </p:sp>
      <p:sp>
        <p:nvSpPr>
          <p:cNvPr id="502" name="Google Shape;502;p16"/>
          <p:cNvSpPr/>
          <p:nvPr/>
        </p:nvSpPr>
        <p:spPr>
          <a:xfrm>
            <a:off x="371461" y="6035087"/>
            <a:ext cx="11454595" cy="816478"/>
          </a:xfrm>
          <a:custGeom>
            <a:rect b="b" l="l" r="r" t="t"/>
            <a:pathLst>
              <a:path extrusionOk="0" h="816478" w="11454595">
                <a:moveTo>
                  <a:pt x="73556" y="0"/>
                </a:moveTo>
                <a:lnTo>
                  <a:pt x="11381039" y="0"/>
                </a:lnTo>
                <a:cubicBezTo>
                  <a:pt x="11421663" y="0"/>
                  <a:pt x="11454595" y="32932"/>
                  <a:pt x="11454595" y="73556"/>
                </a:cubicBezTo>
                <a:lnTo>
                  <a:pt x="11454595" y="742921"/>
                </a:lnTo>
                <a:cubicBezTo>
                  <a:pt x="11454595" y="783545"/>
                  <a:pt x="11421663" y="816478"/>
                  <a:pt x="11381039" y="816478"/>
                </a:cubicBezTo>
                <a:lnTo>
                  <a:pt x="73556" y="816478"/>
                </a:lnTo>
                <a:cubicBezTo>
                  <a:pt x="32932" y="816478"/>
                  <a:pt x="0" y="783545"/>
                  <a:pt x="0" y="742921"/>
                </a:cubicBezTo>
                <a:lnTo>
                  <a:pt x="0" y="73556"/>
                </a:lnTo>
                <a:cubicBezTo>
                  <a:pt x="0" y="32960"/>
                  <a:pt x="32960" y="0"/>
                  <a:pt x="73556" y="0"/>
                </a:cubicBezTo>
                <a:close/>
              </a:path>
            </a:pathLst>
          </a:custGeom>
          <a:solidFill>
            <a:srgbClr val="0066CC"/>
          </a:solidFill>
          <a:ln cap="flat" cmpd="sng" w="101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480876" y="6185876"/>
            <a:ext cx="11235765" cy="514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Overall Insight:</a:t>
            </a:r>
            <a:r>
              <a:rPr b="0" i="0" lang="en-US" sz="1303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 Model selection should align with data characteristics. Simpler models (SARIMA, Linear Regression) provide strong baselines, while complex models (LSTM, Gradient Boosting) offer marginal gains at higher computational cost.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